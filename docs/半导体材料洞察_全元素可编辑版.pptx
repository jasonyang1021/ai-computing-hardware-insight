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6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7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16212b9a542e7" /><Relationship Type="http://schemas.openxmlformats.org/officeDocument/2006/relationships/extended-properties" Target="/docProps/app.xml" Id="R55ac53a69e884a33" /><Relationship Type="http://schemas.openxmlformats.org/officeDocument/2006/relationships/officeDocument" Target="/ppt/presentation.xml" Id="Re1f71282fa8b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10e7c74724082"/>
  </p:sldMasterIdLst>
  <p:notesMasterIdLst>
    <p:notesMasterId xmlns:r="http://schemas.openxmlformats.org/officeDocument/2006/relationships" r:id="Re3bf9f45f52a4f8b"/>
  </p:notesMasterIdLst>
  <p:sldIdLst>
    <p:sldId xmlns:r="http://schemas.openxmlformats.org/officeDocument/2006/relationships" id="256" r:id="Rad1af125de2b4a64"/>
    <p:sldId xmlns:r="http://schemas.openxmlformats.org/officeDocument/2006/relationships" id="257" r:id="R02819a1756774f86"/>
    <p:sldId xmlns:r="http://schemas.openxmlformats.org/officeDocument/2006/relationships" id="258" r:id="Reb5498ee272e4745"/>
    <p:sldId xmlns:r="http://schemas.openxmlformats.org/officeDocument/2006/relationships" id="259" r:id="R8ef7cf0b465d4c4c"/>
    <p:sldId xmlns:r="http://schemas.openxmlformats.org/officeDocument/2006/relationships" id="260" r:id="R6b434149ccbe499e"/>
    <p:sldId xmlns:r="http://schemas.openxmlformats.org/officeDocument/2006/relationships" id="261" r:id="Rd040514b6f854094"/>
    <p:sldId xmlns:r="http://schemas.openxmlformats.org/officeDocument/2006/relationships" id="262" r:id="Red0ac79cde5848aa"/>
    <p:sldId xmlns:r="http://schemas.openxmlformats.org/officeDocument/2006/relationships" id="263" r:id="R5627fc57494e44d2"/>
    <p:sldId xmlns:r="http://schemas.openxmlformats.org/officeDocument/2006/relationships" id="264" r:id="R7baf98c1f5d4418c"/>
    <p:sldId xmlns:r="http://schemas.openxmlformats.org/officeDocument/2006/relationships" id="265" r:id="R4114f60a465f474d"/>
    <p:sldId xmlns:r="http://schemas.openxmlformats.org/officeDocument/2006/relationships" id="266" r:id="R49915022d5b84be1"/>
    <p:sldId xmlns:r="http://schemas.openxmlformats.org/officeDocument/2006/relationships" id="267" r:id="R5917e25eecaa42c8"/>
    <p:sldId xmlns:r="http://schemas.openxmlformats.org/officeDocument/2006/relationships" id="268" r:id="Rb6d8678a1d0745a3"/>
    <p:sldId xmlns:r="http://schemas.openxmlformats.org/officeDocument/2006/relationships" id="269" r:id="Rf80fdec8e682425f"/>
    <p:sldId xmlns:r="http://schemas.openxmlformats.org/officeDocument/2006/relationships" id="270" r:id="Re1cc61d4a47445bb"/>
    <p:sldId xmlns:r="http://schemas.openxmlformats.org/officeDocument/2006/relationships" id="271" r:id="Rbd3a5acad6364101"/>
    <p:sldId xmlns:r="http://schemas.openxmlformats.org/officeDocument/2006/relationships" id="272" r:id="Rbbb003668a7d4d71"/>
    <p:sldId xmlns:r="http://schemas.openxmlformats.org/officeDocument/2006/relationships" id="273" r:id="Rbb7d88fe5690411e"/>
    <p:sldId xmlns:r="http://schemas.openxmlformats.org/officeDocument/2006/relationships" id="274" r:id="R980a143777d84d8a"/>
    <p:sldId xmlns:r="http://schemas.openxmlformats.org/officeDocument/2006/relationships" id="275" r:id="R443ca3ad28b84e66"/>
    <p:sldId xmlns:r="http://schemas.openxmlformats.org/officeDocument/2006/relationships" id="276" r:id="Rad4688143ed94405"/>
    <p:sldId xmlns:r="http://schemas.openxmlformats.org/officeDocument/2006/relationships" id="277" r:id="Rfb5f3ddb543846aa"/>
    <p:sldId xmlns:r="http://schemas.openxmlformats.org/officeDocument/2006/relationships" id="278" r:id="Rfefaa4d9a2164793"/>
    <p:sldId xmlns:r="http://schemas.openxmlformats.org/officeDocument/2006/relationships" id="279" r:id="Rac6fd5caf8994272"/>
    <p:sldId xmlns:r="http://schemas.openxmlformats.org/officeDocument/2006/relationships" id="280" r:id="R86c02d507ffd4356"/>
    <p:sldId xmlns:r="http://schemas.openxmlformats.org/officeDocument/2006/relationships" id="281" r:id="R1fa0d182b87149f4"/>
    <p:sldId xmlns:r="http://schemas.openxmlformats.org/officeDocument/2006/relationships" id="282" r:id="R22ebd960e94948b4"/>
    <p:sldId xmlns:r="http://schemas.openxmlformats.org/officeDocument/2006/relationships" id="283" r:id="R3c0a33dd3beb44ab"/>
    <p:sldId xmlns:r="http://schemas.openxmlformats.org/officeDocument/2006/relationships" id="284" r:id="R496719a3742340d3"/>
    <p:sldId xmlns:r="http://schemas.openxmlformats.org/officeDocument/2006/relationships" id="285" r:id="Rbe3ef25c54df4797"/>
    <p:sldId xmlns:r="http://schemas.openxmlformats.org/officeDocument/2006/relationships" id="286" r:id="Rb00d473cbc084f4a"/>
    <p:sldId xmlns:r="http://schemas.openxmlformats.org/officeDocument/2006/relationships" id="287" r:id="Rb81af7c6c728461b"/>
    <p:sldId xmlns:r="http://schemas.openxmlformats.org/officeDocument/2006/relationships" id="288" r:id="Rf4ff2bb595014996"/>
    <p:sldId xmlns:r="http://schemas.openxmlformats.org/officeDocument/2006/relationships" id="289" r:id="Red5651551642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359dd5c964d33" /><Relationship Type="http://schemas.openxmlformats.org/officeDocument/2006/relationships/slideMaster" Target="/ppt/slideMasters/slideMaster1.xml" Id="R28910e7c74724082" /><Relationship Type="http://schemas.openxmlformats.org/officeDocument/2006/relationships/notesMaster" Target="/ppt/notesMasters/notesMaster1.xml" Id="Re3bf9f45f52a4f8b" /><Relationship Type="http://schemas.openxmlformats.org/officeDocument/2006/relationships/presProps" Target="/ppt/presProps.xml" Id="Rc02b160715564f07" /><Relationship Type="http://schemas.openxmlformats.org/officeDocument/2006/relationships/tableStyles" Target="/ppt/tableStyles.xml" Id="Rd44c505e99a9471f" /><Relationship Type="http://schemas.openxmlformats.org/officeDocument/2006/relationships/slide" Target="/ppt/slides/slide1.xml" Id="Rad1af125de2b4a64" /><Relationship Type="http://schemas.openxmlformats.org/officeDocument/2006/relationships/slide" Target="/ppt/slides/slide2.xml" Id="R02819a1756774f86" /><Relationship Type="http://schemas.openxmlformats.org/officeDocument/2006/relationships/slide" Target="/ppt/slides/slide3.xml" Id="Reb5498ee272e4745" /><Relationship Type="http://schemas.openxmlformats.org/officeDocument/2006/relationships/slide" Target="/ppt/slides/slide4.xml" Id="R8ef7cf0b465d4c4c" /><Relationship Type="http://schemas.openxmlformats.org/officeDocument/2006/relationships/slide" Target="/ppt/slides/slide5.xml" Id="R6b434149ccbe499e" /><Relationship Type="http://schemas.openxmlformats.org/officeDocument/2006/relationships/slide" Target="/ppt/slides/slide6.xml" Id="Rd040514b6f854094" /><Relationship Type="http://schemas.openxmlformats.org/officeDocument/2006/relationships/slide" Target="/ppt/slides/slide7.xml" Id="Red0ac79cde5848aa" /><Relationship Type="http://schemas.openxmlformats.org/officeDocument/2006/relationships/slide" Target="/ppt/slides/slide8.xml" Id="R5627fc57494e44d2" /><Relationship Type="http://schemas.openxmlformats.org/officeDocument/2006/relationships/slide" Target="/ppt/slides/slide9.xml" Id="R7baf98c1f5d4418c" /><Relationship Type="http://schemas.openxmlformats.org/officeDocument/2006/relationships/slide" Target="/ppt/slides/slide10.xml" Id="R4114f60a465f474d" /><Relationship Type="http://schemas.openxmlformats.org/officeDocument/2006/relationships/slide" Target="/ppt/slides/slide11.xml" Id="R49915022d5b84be1" /><Relationship Type="http://schemas.openxmlformats.org/officeDocument/2006/relationships/slide" Target="/ppt/slides/slide12.xml" Id="R5917e25eecaa42c8" /><Relationship Type="http://schemas.openxmlformats.org/officeDocument/2006/relationships/slide" Target="/ppt/slides/slide13.xml" Id="Rb6d8678a1d0745a3" /><Relationship Type="http://schemas.openxmlformats.org/officeDocument/2006/relationships/slide" Target="/ppt/slides/slide14.xml" Id="Rf80fdec8e682425f" /><Relationship Type="http://schemas.openxmlformats.org/officeDocument/2006/relationships/slide" Target="/ppt/slides/slide15.xml" Id="Re1cc61d4a47445bb" /><Relationship Type="http://schemas.openxmlformats.org/officeDocument/2006/relationships/slide" Target="/ppt/slides/slide16.xml" Id="Rbd3a5acad6364101" /><Relationship Type="http://schemas.openxmlformats.org/officeDocument/2006/relationships/slide" Target="/ppt/slides/slide17.xml" Id="Rbbb003668a7d4d71" /><Relationship Type="http://schemas.openxmlformats.org/officeDocument/2006/relationships/slide" Target="/ppt/slides/slide18.xml" Id="Rbb7d88fe5690411e" /><Relationship Type="http://schemas.openxmlformats.org/officeDocument/2006/relationships/slide" Target="/ppt/slides/slide19.xml" Id="R980a143777d84d8a" /><Relationship Type="http://schemas.openxmlformats.org/officeDocument/2006/relationships/slide" Target="/ppt/slides/slide20.xml" Id="R443ca3ad28b84e66" /><Relationship Type="http://schemas.openxmlformats.org/officeDocument/2006/relationships/slide" Target="/ppt/slides/slide21.xml" Id="Rad4688143ed94405" /><Relationship Type="http://schemas.openxmlformats.org/officeDocument/2006/relationships/slide" Target="/ppt/slides/slide22.xml" Id="Rfb5f3ddb543846aa" /><Relationship Type="http://schemas.openxmlformats.org/officeDocument/2006/relationships/slide" Target="/ppt/slides/slide23.xml" Id="Rfefaa4d9a2164793" /><Relationship Type="http://schemas.openxmlformats.org/officeDocument/2006/relationships/slide" Target="/ppt/slides/slide24.xml" Id="Rac6fd5caf8994272" /><Relationship Type="http://schemas.openxmlformats.org/officeDocument/2006/relationships/slide" Target="/ppt/slides/slide25.xml" Id="R86c02d507ffd4356" /><Relationship Type="http://schemas.openxmlformats.org/officeDocument/2006/relationships/slide" Target="/ppt/slides/slide26.xml" Id="R1fa0d182b87149f4" /><Relationship Type="http://schemas.openxmlformats.org/officeDocument/2006/relationships/slide" Target="/ppt/slides/slide27.xml" Id="R22ebd960e94948b4" /><Relationship Type="http://schemas.openxmlformats.org/officeDocument/2006/relationships/slide" Target="/ppt/slides/slide28.xml" Id="R3c0a33dd3beb44ab" /><Relationship Type="http://schemas.openxmlformats.org/officeDocument/2006/relationships/slide" Target="/ppt/slides/slide29.xml" Id="R496719a3742340d3" /><Relationship Type="http://schemas.openxmlformats.org/officeDocument/2006/relationships/slide" Target="/ppt/slides/slide30.xml" Id="Rbe3ef25c54df4797" /><Relationship Type="http://schemas.openxmlformats.org/officeDocument/2006/relationships/slide" Target="/ppt/slides/slide31.xml" Id="Rb00d473cbc084f4a" /><Relationship Type="http://schemas.openxmlformats.org/officeDocument/2006/relationships/slide" Target="/ppt/slides/slide32.xml" Id="Rb81af7c6c728461b" /><Relationship Type="http://schemas.openxmlformats.org/officeDocument/2006/relationships/slide" Target="/ppt/slides/slide33.xml" Id="Rf4ff2bb595014996" /><Relationship Type="http://schemas.openxmlformats.org/officeDocument/2006/relationships/slide" Target="/ppt/slides/slide34.xml" Id="Red5651551642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917ec6757a46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e585079fe04d0c" /><Relationship Type="http://schemas.openxmlformats.org/officeDocument/2006/relationships/notesMaster" Target="/ppt/notesMasters/notesMaster1.xml" Id="R0527cea5a1da4b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9e028772624f8e" /><Relationship Type="http://schemas.openxmlformats.org/officeDocument/2006/relationships/notesMaster" Target="/ppt/notesMasters/notesMaster1.xml" Id="Rd1bcd10d587b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617fdf20f84135" /><Relationship Type="http://schemas.openxmlformats.org/officeDocument/2006/relationships/notesMaster" Target="/ppt/notesMasters/notesMaster1.xml" Id="Rd3a17958ee814d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66a76549e48b8" /><Relationship Type="http://schemas.openxmlformats.org/officeDocument/2006/relationships/notesMaster" Target="/ppt/notesMasters/notesMaster1.xml" Id="R09927634ccf64d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8ea79934d4448" /><Relationship Type="http://schemas.openxmlformats.org/officeDocument/2006/relationships/notesMaster" Target="/ppt/notesMasters/notesMaster1.xml" Id="R05584e1179eb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46640692ec4cec" /><Relationship Type="http://schemas.openxmlformats.org/officeDocument/2006/relationships/notesMaster" Target="/ppt/notesMasters/notesMaster1.xml" Id="Rcc6fab08f9ec49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37904c7cc64d53" /><Relationship Type="http://schemas.openxmlformats.org/officeDocument/2006/relationships/notesMaster" Target="/ppt/notesMasters/notesMaster1.xml" Id="R9477f6b2835c48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a159a4779421a" /><Relationship Type="http://schemas.openxmlformats.org/officeDocument/2006/relationships/notesMaster" Target="/ppt/notesMasters/notesMaster1.xml" Id="R5194528873354a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86f29ca324593" /><Relationship Type="http://schemas.openxmlformats.org/officeDocument/2006/relationships/notesMaster" Target="/ppt/notesMasters/notesMaster1.xml" Id="Rd594e1f73f8c4b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d1a19bcc814153" /><Relationship Type="http://schemas.openxmlformats.org/officeDocument/2006/relationships/notesMaster" Target="/ppt/notesMasters/notesMaster1.xml" Id="R3bad3787a4bb4a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8da0229f324dc2" /><Relationship Type="http://schemas.openxmlformats.org/officeDocument/2006/relationships/notesMaster" Target="/ppt/notesMasters/notesMaster1.xml" Id="R631c2bbaa8cf49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5fe649500b4172" /><Relationship Type="http://schemas.openxmlformats.org/officeDocument/2006/relationships/notesMaster" Target="/ppt/notesMasters/notesMaster1.xml" Id="R7fa2f06641da46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f33f0233344212" /><Relationship Type="http://schemas.openxmlformats.org/officeDocument/2006/relationships/notesMaster" Target="/ppt/notesMasters/notesMaster1.xml" Id="Rc6d971e98f6945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c56902291844da" /><Relationship Type="http://schemas.openxmlformats.org/officeDocument/2006/relationships/notesMaster" Target="/ppt/notesMasters/notesMaster1.xml" Id="R51b1456f4df547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36ae6749764d6b" /><Relationship Type="http://schemas.openxmlformats.org/officeDocument/2006/relationships/notesMaster" Target="/ppt/notesMasters/notesMaster1.xml" Id="R51f246d956994d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7d4ada9c83479e" /><Relationship Type="http://schemas.openxmlformats.org/officeDocument/2006/relationships/notesMaster" Target="/ppt/notesMasters/notesMaster1.xml" Id="R13bbe11bcd8e4e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f593f98fad4216" /><Relationship Type="http://schemas.openxmlformats.org/officeDocument/2006/relationships/notesMaster" Target="/ppt/notesMasters/notesMaster1.xml" Id="R027803ac5fa94a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65d7caef1f491a" /><Relationship Type="http://schemas.openxmlformats.org/officeDocument/2006/relationships/notesMaster" Target="/ppt/notesMasters/notesMaster1.xml" Id="R52e6b8ebdc6549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5cf972aae043ea" /><Relationship Type="http://schemas.openxmlformats.org/officeDocument/2006/relationships/notesMaster" Target="/ppt/notesMasters/notesMaster1.xml" Id="R3f73c0ae97c248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537cb7a3c44941" /><Relationship Type="http://schemas.openxmlformats.org/officeDocument/2006/relationships/notesMaster" Target="/ppt/notesMasters/notesMaster1.xml" Id="R158575386b2f4a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0fa4e654db4137" /><Relationship Type="http://schemas.openxmlformats.org/officeDocument/2006/relationships/notesMaster" Target="/ppt/notesMasters/notesMaster1.xml" Id="R5d3468c5d25a4b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98fb2b05a94140" /><Relationship Type="http://schemas.openxmlformats.org/officeDocument/2006/relationships/notesMaster" Target="/ppt/notesMasters/notesMaster1.xml" Id="Rc92fc825d08c4c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32204e349a4100" /><Relationship Type="http://schemas.openxmlformats.org/officeDocument/2006/relationships/notesMaster" Target="/ppt/notesMasters/notesMaster1.xml" Id="Re053f794f62349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7e920b583e467c" /><Relationship Type="http://schemas.openxmlformats.org/officeDocument/2006/relationships/notesMaster" Target="/ppt/notesMasters/notesMaster1.xml" Id="R4d8c0294739841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e2a004ffc24303" /><Relationship Type="http://schemas.openxmlformats.org/officeDocument/2006/relationships/notesMaster" Target="/ppt/notesMasters/notesMaster1.xml" Id="Rfbc0153b8e9542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f011f078254016" /><Relationship Type="http://schemas.openxmlformats.org/officeDocument/2006/relationships/notesMaster" Target="/ppt/notesMasters/notesMaster1.xml" Id="R76475b3a2e454e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c60e0641324e8f" /><Relationship Type="http://schemas.openxmlformats.org/officeDocument/2006/relationships/notesMaster" Target="/ppt/notesMasters/notesMaster1.xml" Id="R0fc38326e79f4e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ddd33d80c54af2" /><Relationship Type="http://schemas.openxmlformats.org/officeDocument/2006/relationships/notesMaster" Target="/ppt/notesMasters/notesMaster1.xml" Id="R7f3ff99a01c2460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651ace45f04b95" /><Relationship Type="http://schemas.openxmlformats.org/officeDocument/2006/relationships/notesMaster" Target="/ppt/notesMasters/notesMaster1.xml" Id="R77550fa3358b40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28ff8cd2884d35" /><Relationship Type="http://schemas.openxmlformats.org/officeDocument/2006/relationships/notesMaster" Target="/ppt/notesMasters/notesMaster1.xml" Id="R24b68c4b995249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c8c1b2c5ab649f8" /><Relationship Type="http://schemas.openxmlformats.org/officeDocument/2006/relationships/notesMaster" Target="/ppt/notesMasters/notesMaster1.xml" Id="Rb07d23c3c93846c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c6bf5a02ca24cd6" /><Relationship Type="http://schemas.openxmlformats.org/officeDocument/2006/relationships/notesMaster" Target="/ppt/notesMasters/notesMaster1.xml" Id="Ra8ba63c114524c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a7415b45d14b74" /><Relationship Type="http://schemas.openxmlformats.org/officeDocument/2006/relationships/notesMaster" Target="/ppt/notesMasters/notesMaster1.xml" Id="R07a4fe64539c48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a11bbf37b124543" /><Relationship Type="http://schemas.openxmlformats.org/officeDocument/2006/relationships/notesMaster" Target="/ppt/notesMasters/notesMaster1.xml" Id="R94f31a69104643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Screenshot_2026-08-28-13-20-39-18_a2db1b9502c98f25523e43284b79cce6.jpg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Screenshot_2026-08-28-13-21-07-85_a2db1b9502c98f25523e43284b79cce6.jpg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Screenshot_2026-08-28-13-22-06-01_a2db1b9502c98f25523e43284b79cce6.jpg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Screenshot_2026-08-28-13-22-55-57_a2db1b9502c98f25523e43284b79cce6.jpg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Screenshot_2026-08-28-13-23-23-07_a2db1b9502c98f25523e43284b79cce6.jpg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Screenshot_2026-08-28-13-23-52-55_a2db1b9502c98f25523e43284b79cce6.jpg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Screenshot_2026-08-28-13-24-04-20_a2db1b9502c98f25523e43284b79cce6.jpg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Screenshot_2026-08-28-13-24-24-73_a2db1b9502c98f25523e43284b79cce6.jpg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Screenshot_2026-08-28-13-24-38-10_a2db1b9502c98f25523e43284b79cce6.jpg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Screenshot_2026-08-28-13-24-54-92_a2db1b9502c98f25523e43284b79cce6.jpg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Screenshot_2026-08-28-13-25-17-88_a2db1b9502c98f25523e43284b79cce6.jpg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Screenshot_2026-08-28-13-25-46-60_a2db1b9502c98f25523e43284b79cce6.jpg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Screenshot_2026-08-28-13-27-03-02_a2db1b9502c98f25523e43284b79cce6.jpg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Screenshot_2026-08-28-13-27-16-86_a2db1b9502c98f25523e43284b79cce6.jpg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Screenshot_2026-08-28-13-27-36-67_a2db1b9502c98f25523e43284b79cce6.jpg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Screenshot_2026-08-28-13-27-56-86_a2db1b9502c98f25523e43284b79cce6.jpg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Screenshot_2026-08-28-13-28-12-44_a2db1b9502c98f25523e43284b79cce6.jpg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Screenshot_2026-08-28-13-28-29-71_a2db1b9502c98f25523e43284b79cce6.jpg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Screenshot_2026-08-28-13-28-42-16_a2db1b9502c98f25523e43284b79cce6.jpg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Screenshot_2026-08-28-13-28-53-85_a2db1b9502c98f25523e43284b79cce6.jpg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Screenshot_2026-08-28-13-29-11-26_a2db1b9502c98f25523e43284b79cce6.jpg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Screenshot_2026-08-28-13-29-23-40_a2db1b9502c98f25523e43284b79cce6.jpg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Screenshot_2026-08-28-13-30-14-10_a2db1b9502c98f25523e43284b79cce6 (1).jpg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Screenshot_2026-08-28-13-30-14-10_a2db1b9502c98f25523e43284b79cce6.jpg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Screenshot_2026-08-28-13-30-35-56_a2db1b9502c98f25523e43284b79cce6.jpg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Screenshot_2026-08-28-13-30-50-00_a2db1b9502c98f25523e43284b79cce6.jpg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Screenshot_2026-08-28-13-31-08-01_a2db1b9502c98f25523e43284b79cce6.jpg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Screenshot_2026-08-28-13-31-25-30_a2db1b9502c98f25523e43284b79cce6.jpg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Screenshot_2026-08-28-13-31-39-01_a2db1b9502c98f25523e43284b79cce6.jpg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Screenshot_2026-08-28-13-31-49-38_a2db1b9502c98f25523e43284b79cce6.jpg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Screenshot_2026-08-28-13-32-01-82_a2db1b9502c98f25523e43284b79cce6.jpg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Screenshot_2026-08-28-13-32-17-70_a2db1b9502c98f25523e43284b79cce6.jpg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Screenshot_2026-08-28-13-32-32-99_a2db1b9502c98f25523e43284b79cce6.jpg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screenshot: Screenshot_2026-08-28-13-32-49-03_a2db1b9502c98f25523e43284b79cce6.jpg</a:t>
            </a:r>
          </a:p>
          <a:p xmlns:a="http://schemas.openxmlformats.org/drawingml/2006/main">
            <a:r>
              <a:t>- No external sources or new factual claims were added.</a:t>
            </a:r>
          </a:p>
          <a:p xmlns:a="http://schemas.openxmlformats.org/drawingml/2006/main">
            <a:r>
              <a:t>[Editability]</a:t>
            </a:r>
          </a:p>
          <a:p xmlns:a="http://schemas.openxmlformats.org/drawingml/2006/main">
            <a:r>
              <a:t>- All visible objects on this slide are native PowerPoint text, shapes, tables, or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eaabb26c942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59b0ab3d4d4160" /><Relationship Type="http://schemas.openxmlformats.org/officeDocument/2006/relationships/slideLayout" Target="/ppt/slideLayouts/slideLayout1.xml" Id="R8790d40bd7ac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90d40bd7ac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b3cd617a4c50" /><Relationship Type="http://schemas.openxmlformats.org/officeDocument/2006/relationships/notesSlide" Target="/ppt/notesSlides/notesSlide1.xml" Id="Rcb60e6c6118b41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f8778d81240c8" /><Relationship Type="http://schemas.openxmlformats.org/officeDocument/2006/relationships/chart" Target="/ppt/slides/charts/chart1.xml" Id="Rfc55649872174b3a" /><Relationship Type="http://schemas.openxmlformats.org/officeDocument/2006/relationships/notesSlide" Target="/ppt/notesSlides/notesSlide2.xml" Id="Rcb614addb98d4a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ed26046854599" /><Relationship Type="http://schemas.openxmlformats.org/officeDocument/2006/relationships/notesSlide" Target="/ppt/notesSlides/notesSlide3.xml" Id="Re572f1278ff742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963b0c5d640bf" /><Relationship Type="http://schemas.openxmlformats.org/officeDocument/2006/relationships/notesSlide" Target="/ppt/notesSlides/notesSlide4.xml" Id="R804f4bad5aad47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e828274e7464b" /><Relationship Type="http://schemas.openxmlformats.org/officeDocument/2006/relationships/notesSlide" Target="/ppt/notesSlides/notesSlide5.xml" Id="Rb7c29ba37e83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fd548ec24378" /><Relationship Type="http://schemas.openxmlformats.org/officeDocument/2006/relationships/notesSlide" Target="/ppt/notesSlides/notesSlide6.xml" Id="Rd1fb353bd7ef41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870574594991" /><Relationship Type="http://schemas.openxmlformats.org/officeDocument/2006/relationships/chart" Target="/ppt/slides/charts/chart2.xml" Id="Rded4ec8ff8bf4901" /><Relationship Type="http://schemas.openxmlformats.org/officeDocument/2006/relationships/notesSlide" Target="/ppt/notesSlides/notesSlide7.xml" Id="Rd44129bd582c49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dd7e5f8d848ca" /><Relationship Type="http://schemas.openxmlformats.org/officeDocument/2006/relationships/chart" Target="/ppt/slides/charts/chart3.xml" Id="R8d9a3a3ce0d8423a" /><Relationship Type="http://schemas.openxmlformats.org/officeDocument/2006/relationships/notesSlide" Target="/ppt/notesSlides/notesSlide8.xml" Id="Rbe75d2a3b35b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93f2cd9ec4e43" /><Relationship Type="http://schemas.openxmlformats.org/officeDocument/2006/relationships/notesSlide" Target="/ppt/notesSlides/notesSlide9.xml" Id="R65fc5bafb7f1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aa4c0409496f" /><Relationship Type="http://schemas.openxmlformats.org/officeDocument/2006/relationships/notesSlide" Target="/ppt/notesSlides/notesSlide10.xml" Id="Rcb09e7411fe3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0360db9974145" /><Relationship Type="http://schemas.openxmlformats.org/officeDocument/2006/relationships/notesSlide" Target="/ppt/notesSlides/notesSlide11.xml" Id="R80648d89ff074b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2ab0c4f094b20" /><Relationship Type="http://schemas.openxmlformats.org/officeDocument/2006/relationships/notesSlide" Target="/ppt/notesSlides/notesSlide12.xml" Id="R73504ed45a4a46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9b539d7704b81" /><Relationship Type="http://schemas.openxmlformats.org/officeDocument/2006/relationships/notesSlide" Target="/ppt/notesSlides/notesSlide13.xml" Id="Ra1af4faa3b5745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836a140c4103" /><Relationship Type="http://schemas.openxmlformats.org/officeDocument/2006/relationships/notesSlide" Target="/ppt/notesSlides/notesSlide14.xml" Id="R62b36c0e43e349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33535e31146e6" /><Relationship Type="http://schemas.openxmlformats.org/officeDocument/2006/relationships/chart" Target="/ppt/slides/charts/chart4.xml" Id="R1eda770ff6334638" /><Relationship Type="http://schemas.openxmlformats.org/officeDocument/2006/relationships/notesSlide" Target="/ppt/notesSlides/notesSlide15.xml" Id="R3b6a4a7140e642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98fe38b9d4809" /><Relationship Type="http://schemas.openxmlformats.org/officeDocument/2006/relationships/chart" Target="/ppt/slides/charts/chart5.xml" Id="R1fcde037147144b0" /><Relationship Type="http://schemas.openxmlformats.org/officeDocument/2006/relationships/notesSlide" Target="/ppt/notesSlides/notesSlide16.xml" Id="R3acb0b24958543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f60af1df544e6" /><Relationship Type="http://schemas.openxmlformats.org/officeDocument/2006/relationships/notesSlide" Target="/ppt/notesSlides/notesSlide17.xml" Id="Re2065225d97b4b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7a4fcf7f34808" /><Relationship Type="http://schemas.openxmlformats.org/officeDocument/2006/relationships/notesSlide" Target="/ppt/notesSlides/notesSlide18.xml" Id="R363a592a8bb24c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94364dbf4465d" /><Relationship Type="http://schemas.openxmlformats.org/officeDocument/2006/relationships/notesSlide" Target="/ppt/notesSlides/notesSlide19.xml" Id="Rf86aa8289ce94b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ca39a02b243e5" /><Relationship Type="http://schemas.openxmlformats.org/officeDocument/2006/relationships/notesSlide" Target="/ppt/notesSlides/notesSlide20.xml" Id="R0cac8cb0ca534f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5ca14d6bd45e1" /><Relationship Type="http://schemas.openxmlformats.org/officeDocument/2006/relationships/chart" Target="/ppt/slides/charts/chart6.xml" Id="R74a454e0121e48a1" /><Relationship Type="http://schemas.openxmlformats.org/officeDocument/2006/relationships/notesSlide" Target="/ppt/notesSlides/notesSlide21.xml" Id="R4e13024b99ef4f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961b709c4e44" /><Relationship Type="http://schemas.openxmlformats.org/officeDocument/2006/relationships/notesSlide" Target="/ppt/notesSlides/notesSlide22.xml" Id="R19a59491349b48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fd3ce2e646e6" /><Relationship Type="http://schemas.openxmlformats.org/officeDocument/2006/relationships/notesSlide" Target="/ppt/notesSlides/notesSlide23.xml" Id="R333f2ab46eb646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ec0ec3b844639" /><Relationship Type="http://schemas.openxmlformats.org/officeDocument/2006/relationships/notesSlide" Target="/ppt/notesSlides/notesSlide24.xml" Id="R012c3af5c42443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769d4d19f407e" /><Relationship Type="http://schemas.openxmlformats.org/officeDocument/2006/relationships/notesSlide" Target="/ppt/notesSlides/notesSlide25.xml" Id="Rcbeae5c5f8b14f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7bc3617b547e9" /><Relationship Type="http://schemas.openxmlformats.org/officeDocument/2006/relationships/notesSlide" Target="/ppt/notesSlides/notesSlide26.xml" Id="Rc94ea7fd314a44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be6b0682e48b0" /><Relationship Type="http://schemas.openxmlformats.org/officeDocument/2006/relationships/notesSlide" Target="/ppt/notesSlides/notesSlide27.xml" Id="R631b5fd0b6d14a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08428b5e46e3" /><Relationship Type="http://schemas.openxmlformats.org/officeDocument/2006/relationships/chart" Target="/ppt/slides/charts/chart7.xml" Id="R74712b21594044b7" /><Relationship Type="http://schemas.openxmlformats.org/officeDocument/2006/relationships/notesSlide" Target="/ppt/notesSlides/notesSlide28.xml" Id="R932e964445e248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b496148bb444f" /><Relationship Type="http://schemas.openxmlformats.org/officeDocument/2006/relationships/notesSlide" Target="/ppt/notesSlides/notesSlide29.xml" Id="Rd6647695c2c643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0599c73448e2" /><Relationship Type="http://schemas.openxmlformats.org/officeDocument/2006/relationships/notesSlide" Target="/ppt/notesSlides/notesSlide30.xml" Id="Rfa4196507a9b46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73f45a0ed497b" /><Relationship Type="http://schemas.openxmlformats.org/officeDocument/2006/relationships/notesSlide" Target="/ppt/notesSlides/notesSlide31.xml" Id="Rb1dc1b68812543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c84e9c6384a87" /><Relationship Type="http://schemas.openxmlformats.org/officeDocument/2006/relationships/notesSlide" Target="/ppt/notesSlides/notesSlide32.xml" Id="R81e83feb811044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e343f6968484d" /><Relationship Type="http://schemas.openxmlformats.org/officeDocument/2006/relationships/notesSlide" Target="/ppt/notesSlides/notesSlide33.xml" Id="Ra8a338edf60f43e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3681bc2d34e40" /><Relationship Type="http://schemas.openxmlformats.org/officeDocument/2006/relationships/notesSlide" Target="/ppt/notesSlides/notesSlide34.xml" Id="Rb98c09d0cdab48e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靶材格局</a:t>
            </a:r>
          </a:p>
        </c:rich>
      </c:tx>
    </c:title>
    <c:plotArea>
      <c:doughnut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D86E49"/>
              </a:solidFill>
            </c:spPr>
          </c:dPt>
          <c:dPt>
            <c:idx val="1"/>
            <c:spPr>
              <a:solidFill xmlns:a="http://schemas.openxmlformats.org/drawingml/2006/main">
                <a:srgbClr val="86A9C1"/>
              </a:solidFill>
            </c:spPr>
          </c:dPt>
          <c:dPt>
            <c:idx val="2"/>
            <c:spPr>
              <a:solidFill xmlns:a="http://schemas.openxmlformats.org/drawingml/2006/main">
                <a:srgbClr val="D8D8CE"/>
              </a:solidFill>
            </c:spPr>
          </c:dPt>
          <c:cat>
            <c:strLit>
              <c:ptCount val="3"/>
              <c:pt idx="0">
                <c:v>日系</c:v>
              </c:pt>
              <c:pt idx="1">
                <c:v>美系</c:v>
              </c:pt>
              <c:pt idx="2">
                <c:v>其他/国产</c:v>
              </c:pt>
            </c:strLit>
          </c:cat>
          <c:val>
            <c:numLit>
              <c:formatCode>General</c:formatCode>
              <c:ptCount val="3"/>
              <c:pt idx="0">
                <c:v>40</c:v>
              </c:pt>
              <c:pt idx="1">
                <c:v>20</c:v>
              </c:pt>
              <c:pt idx="2">
                <c:v>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81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48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76A61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全球硅片份额</a:t>
            </a:r>
          </a:p>
        </c:rich>
      </c:tx>
    </c:title>
    <c:plotArea>
      <c:doughnut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D86E49"/>
              </a:solidFill>
            </c:spPr>
          </c:dPt>
          <c:dPt>
            <c:idx val="1"/>
            <c:spPr>
              <a:solidFill xmlns:a="http://schemas.openxmlformats.org/drawingml/2006/main">
                <a:srgbClr val="D8D8CE"/>
              </a:solidFill>
            </c:spPr>
          </c:dPt>
          <c:cat>
            <c:strLit>
              <c:ptCount val="2"/>
              <c:pt idx="0">
                <c:v>信越+胜高</c:v>
              </c:pt>
              <c:pt idx="1">
                <c:v>其他</c:v>
              </c:pt>
            </c:strLit>
          </c:cat>
          <c:val>
            <c:numLit>
              <c:formatCode>General</c:formatCode>
              <c:ptCount val="2"/>
              <c:pt idx="0">
                <c:v>51</c:v>
              </c:pt>
              <c:pt idx="1">
                <c:v>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81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48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76A61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国产化率（%）</c:v>
          </c:tx>
          <c:spPr>
            <a:solidFill xmlns:a="http://schemas.openxmlformats.org/drawingml/2006/main">
              <a:srgbClr val="D86E49"/>
            </a:solidFill>
          </c:spPr>
          <c:cat>
            <c:strLit>
              <c:ptCount val="3"/>
              <c:pt idx="0">
                <c:v>KrF</c:v>
              </c:pt>
              <c:pt idx="1">
                <c:v>ArF</c:v>
              </c:pt>
              <c:pt idx="2">
                <c:v>EUV</c:v>
              </c:pt>
            </c:strLit>
          </c:cat>
          <c:val>
            <c:numLit>
              <c:formatCode>General</c:formatCode>
              <c:ptCount val="3"/>
              <c:pt idx="0">
                <c:v>15</c:v>
              </c:pt>
              <c:pt idx="1">
                <c:v>5</c:v>
              </c:pt>
              <c:pt idx="2">
                <c:v>0.2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18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81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相对测试量</c:v>
          </c:tx>
          <c:spPr>
            <a:ln xmlns:a="http://schemas.openxmlformats.org/drawingml/2006/main" w="38100">
              <a:solidFill>
                <a:srgbClr val="D86E49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D86E49"/>
              </a:solidFill>
            </c:spPr>
          </c:marker>
          <c:cat>
            <c:strLit>
              <c:ptCount val="3"/>
              <c:pt idx="0">
                <c:v>8层</c:v>
              </c:pt>
              <c:pt idx="1">
                <c:v>12层</c:v>
              </c:pt>
              <c:pt idx="2">
                <c:v>16层</c:v>
              </c:pt>
            </c:strLit>
          </c:cat>
          <c:val>
            <c:numLit>
              <c:formatCode>General</c:formatCode>
              <c:ptCount val="3"/>
              <c:pt idx="0">
                <c:v>1</c:v>
              </c:pt>
              <c:pt idx="1">
                <c:v>1.5</c:v>
              </c:pt>
              <c:pt idx="2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8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76A6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76A6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D8D8C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76A6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涂显机份额</a:t>
            </a:r>
          </a:p>
        </c:rich>
      </c:tx>
    </c:title>
    <c:plotArea>
      <c:doughnut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D86E49"/>
              </a:solidFill>
            </c:spPr>
          </c:dPt>
          <c:dPt>
            <c:idx val="1"/>
            <c:spPr>
              <a:solidFill xmlns:a="http://schemas.openxmlformats.org/drawingml/2006/main">
                <a:srgbClr val="D8D8CE"/>
              </a:solidFill>
            </c:spPr>
          </c:dPt>
          <c:cat>
            <c:strLit>
              <c:ptCount val="2"/>
              <c:pt idx="0">
                <c:v>TEL</c:v>
              </c:pt>
              <c:pt idx="1">
                <c:v>其他</c:v>
              </c:pt>
            </c:strLit>
          </c:cat>
          <c:val>
            <c:numLit>
              <c:formatCode>General</c:formatCode>
              <c:ptCount val="2"/>
              <c:pt idx="0">
                <c:v>90</c:v>
              </c:pt>
              <c:pt idx="1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81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48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76A61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键合丝需求指数</c:v>
          </c:tx>
          <c:spPr>
            <a:ln xmlns:a="http://schemas.openxmlformats.org/drawingml/2006/main" w="38100">
              <a:solidFill>
                <a:srgbClr val="D86E49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D86E49"/>
              </a:solidFill>
            </c:spPr>
          </c:marker>
          <c:cat>
            <c:strLit>
              <c:ptCount val="3"/>
              <c:pt idx="0">
                <c:v>当前</c:v>
              </c:pt>
              <c:pt idx="1">
                <c:v>TSV导入</c:v>
              </c:pt>
              <c:pt idx="2">
                <c:v>混合键合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65</c:v>
              </c:pt>
              <c:pt idx="2">
                <c:v>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8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76A6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76A6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D8D8C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76A6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微孔数量（万）</c:v>
          </c:tx>
          <c:spPr>
            <a:ln xmlns:a="http://schemas.openxmlformats.org/drawingml/2006/main" w="38100">
              <a:solidFill>
                <a:srgbClr val="D86E49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D86E49"/>
              </a:solidFill>
            </c:spPr>
          </c:marker>
          <c:cat>
            <c:strLit>
              <c:ptCount val="3"/>
              <c:pt idx="0">
                <c:v>传统板</c:v>
              </c:pt>
              <c:pt idx="1">
                <c:v>AI板</c:v>
              </c:pt>
              <c:pt idx="2">
                <c:v>高密AI板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6</c:v>
              </c:pt>
              <c:pt idx="2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8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76A6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76A6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D8D8C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76A6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1_DOT">
            <a:extLst xmlns:a="http://schemas.openxmlformats.org/drawingml/2006/main">
              <a:ext uri="{FF2B5EF4-FFF2-40B4-BE49-F238E27FC236}">
                <a16:creationId xmlns:a16="http://schemas.microsoft.com/office/drawing/2014/main" id="{D1324233-3414-47D6-8459-00586B7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_EYEBROW">
            <a:extLst xmlns:a="http://schemas.openxmlformats.org/drawingml/2006/main">
              <a:ext uri="{FF2B5EF4-FFF2-40B4-BE49-F238E27FC236}">
                <a16:creationId xmlns:a16="http://schemas.microsoft.com/office/drawing/2014/main" id="{56D71A2D-7681-419E-BFD0-EE142C4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日本卡脖子 · 上游一层</a:t>
            </a:r>
          </a:p>
        </p:txBody>
      </p:sp>
      <p:sp>
        <p:nvSpPr>
          <p:cNvPr id="3" name="P1_TITLE">
            <a:extLst xmlns:a="http://schemas.openxmlformats.org/drawingml/2006/main">
              <a:ext uri="{FF2B5EF4-FFF2-40B4-BE49-F238E27FC236}">
                <a16:creationId xmlns:a16="http://schemas.microsoft.com/office/drawing/2014/main" id="{2DA9C042-F610-47CF-A5E6-38E481E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最源头的材料，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越走越无解</a:t>
            </a:r>
          </a:p>
        </p:txBody>
      </p:sp>
      <p:sp>
        <p:nvSpPr>
          <p:cNvPr id="4" name="P1_BULLET_MARK_1">
            <a:extLst xmlns:a="http://schemas.openxmlformats.org/drawingml/2006/main">
              <a:ext uri="{FF2B5EF4-FFF2-40B4-BE49-F238E27FC236}">
                <a16:creationId xmlns:a16="http://schemas.microsoft.com/office/drawing/2014/main" id="{22EEBBCE-A1C2-4D17-B98A-D73F5005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_BULLET_1">
            <a:extLst xmlns:a="http://schemas.openxmlformats.org/drawingml/2006/main">
              <a:ext uri="{FF2B5EF4-FFF2-40B4-BE49-F238E27FC236}">
                <a16:creationId xmlns:a16="http://schemas.microsoft.com/office/drawing/2014/main" id="{30EB7D34-C97A-4F34-BB0B-2C10A7D2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再往上，到芯片还没造出来之前要用的材料，日本的墙在这里最高</a:t>
            </a:r>
          </a:p>
        </p:txBody>
      </p:sp>
      <p:sp>
        <p:nvSpPr>
          <p:cNvPr id="6" name="P1_BULLET_MARK_2">
            <a:extLst xmlns:a="http://schemas.openxmlformats.org/drawingml/2006/main">
              <a:ext uri="{FF2B5EF4-FFF2-40B4-BE49-F238E27FC236}">
                <a16:creationId xmlns:a16="http://schemas.microsoft.com/office/drawing/2014/main" id="{56CA374B-E238-408B-B494-6570D55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_BULLET_2">
            <a:extLst xmlns:a="http://schemas.openxmlformats.org/drawingml/2006/main">
              <a:ext uri="{FF2B5EF4-FFF2-40B4-BE49-F238E27FC236}">
                <a16:creationId xmlns:a16="http://schemas.microsoft.com/office/drawing/2014/main" id="{348411D1-F56A-49E3-B4FF-7A7B537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19种关键半导体材料里，日本约有14种全球占比过半</a:t>
            </a:r>
          </a:p>
        </p:txBody>
      </p:sp>
      <p:sp>
        <p:nvSpPr>
          <p:cNvPr id="8" name="P1_BULLET_MARK_3">
            <a:extLst xmlns:a="http://schemas.openxmlformats.org/drawingml/2006/main">
              <a:ext uri="{FF2B5EF4-FFF2-40B4-BE49-F238E27FC236}">
                <a16:creationId xmlns:a16="http://schemas.microsoft.com/office/drawing/2014/main" id="{A2257607-52FA-4C83-9E2A-93E7A003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_BULLET_3">
            <a:extLst xmlns:a="http://schemas.openxmlformats.org/drawingml/2006/main">
              <a:ext uri="{FF2B5EF4-FFF2-40B4-BE49-F238E27FC236}">
                <a16:creationId xmlns:a16="http://schemas.microsoft.com/office/drawing/2014/main" id="{92449684-856C-4230-B415-3BB3D0B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这一集的终点，是国产几乎为零的那瓶“墨水”——光刻胶</a:t>
            </a:r>
          </a:p>
        </p:txBody>
      </p:sp>
      <p:sp>
        <p:nvSpPr>
          <p:cNvPr id="10" name="P1_METRIC_LABEL">
            <a:extLst xmlns:a="http://schemas.openxmlformats.org/drawingml/2006/main">
              <a:ext uri="{FF2B5EF4-FFF2-40B4-BE49-F238E27FC236}">
                <a16:creationId xmlns:a16="http://schemas.microsoft.com/office/drawing/2014/main" id="{DE92B863-393E-4545-B066-9B24E20F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19种关键半导体材料</a:t>
            </a:r>
          </a:p>
        </p:txBody>
      </p:sp>
      <p:sp>
        <p:nvSpPr>
          <p:cNvPr id="11" name="P1_METRIC_14">
            <a:extLst xmlns:a="http://schemas.openxmlformats.org/drawingml/2006/main">
              <a:ext uri="{FF2B5EF4-FFF2-40B4-BE49-F238E27FC236}">
                <a16:creationId xmlns:a16="http://schemas.microsoft.com/office/drawing/2014/main" id="{D6054D3D-3200-4A11-813D-A96E26B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909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defRPr sz="7950" b="1">
                <a:solidFill>
                  <a:srgbClr val="D86E49"/>
                </a:solidFill>
                <a:latin typeface="SimSun"/>
                <a:ea typeface="SimSun"/>
                <a:cs typeface="SimSun"/>
              </a:defRPr>
            </a:pPr>
            <a:r>
              <a:rPr sz="79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14</a:t>
            </a:r>
          </a:p>
        </p:txBody>
      </p:sp>
      <p:sp>
        <p:nvSpPr>
          <p:cNvPr id="12" name="P1_METRIC_SUB">
            <a:extLst xmlns:a="http://schemas.openxmlformats.org/drawingml/2006/main">
              <a:ext uri="{FF2B5EF4-FFF2-40B4-BE49-F238E27FC236}">
                <a16:creationId xmlns:a16="http://schemas.microsoft.com/office/drawing/2014/main" id="{A86F5705-3CCA-43FC-8C9B-F09CBE15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958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种 · 日本全球过半</a:t>
            </a:r>
          </a:p>
        </p:txBody>
      </p:sp>
      <p:sp>
        <p:nvSpPr>
          <p:cNvPr id="13" name="P1_END_CARD">
            <a:extLst xmlns:a="http://schemas.openxmlformats.org/drawingml/2006/main">
              <a:ext uri="{FF2B5EF4-FFF2-40B4-BE49-F238E27FC236}">
                <a16:creationId xmlns:a16="http://schemas.microsoft.com/office/drawing/2014/main" id="{C8C9B806-B9C1-42B2-B22C-B4C4871B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714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4" name="P1_END_CARD_TITLE">
            <a:extLst xmlns:a="http://schemas.openxmlformats.org/drawingml/2006/main">
              <a:ext uri="{FF2B5EF4-FFF2-40B4-BE49-F238E27FC236}">
                <a16:creationId xmlns:a16="http://schemas.microsoft.com/office/drawing/2014/main" id="{CBEB902E-2993-4BF9-A6F1-12C9DF0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这一集的终点</a:t>
            </a:r>
          </a:p>
        </p:txBody>
      </p:sp>
      <p:sp>
        <p:nvSpPr>
          <p:cNvPr id="15" name="P1_END_CARD_BODY">
            <a:extLst xmlns:a="http://schemas.openxmlformats.org/drawingml/2006/main">
              <a:ext uri="{FF2B5EF4-FFF2-40B4-BE49-F238E27FC236}">
                <a16:creationId xmlns:a16="http://schemas.microsoft.com/office/drawing/2014/main" id="{D31F6354-29DE-4F25-A0A0-15F7B896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33825"/>
            <a:ext cx="33718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那瓶“墨水”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光刻胶 · 国产几乎为零</a:t>
            </a:r>
          </a:p>
        </p:txBody>
      </p:sp>
      <p:sp>
        <p:nvSpPr>
          <p:cNvPr id="16" name="P1_FOOTER_BADGE">
            <a:extLst xmlns:a="http://schemas.openxmlformats.org/drawingml/2006/main">
              <a:ext uri="{FF2B5EF4-FFF2-40B4-BE49-F238E27FC236}">
                <a16:creationId xmlns:a16="http://schemas.microsoft.com/office/drawing/2014/main" id="{BFC247FE-AA15-4430-A0A6-ED557700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7" name="P1_FOOTER_LABEL">
            <a:extLst xmlns:a="http://schemas.openxmlformats.org/drawingml/2006/main">
              <a:ext uri="{FF2B5EF4-FFF2-40B4-BE49-F238E27FC236}">
                <a16:creationId xmlns:a16="http://schemas.microsoft.com/office/drawing/2014/main" id="{1244C49B-21BD-45AE-A329-F6A9CE92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P1_FOOTER_TEXT">
            <a:extLst xmlns:a="http://schemas.openxmlformats.org/drawingml/2006/main">
              <a:ext uri="{FF2B5EF4-FFF2-40B4-BE49-F238E27FC236}">
                <a16:creationId xmlns:a16="http://schemas.microsoft.com/office/drawing/2014/main" id="{1497D69D-08FD-4F06-8CD9-D1622AE4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越往上游，日本的墙越高</a:t>
            </a:r>
          </a:p>
        </p:txBody>
      </p:sp>
      <p:sp>
        <p:nvSpPr>
          <p:cNvPr id="19" name="P1_FOOTER_LINE">
            <a:extLst xmlns:a="http://schemas.openxmlformats.org/drawingml/2006/main">
              <a:ext uri="{FF2B5EF4-FFF2-40B4-BE49-F238E27FC236}">
                <a16:creationId xmlns:a16="http://schemas.microsoft.com/office/drawing/2014/main" id="{FB5329A8-FBD5-47D3-9E59-CD46970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427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2_DOT">
            <a:extLst xmlns:a="http://schemas.openxmlformats.org/drawingml/2006/main">
              <a:ext uri="{FF2B5EF4-FFF2-40B4-BE49-F238E27FC236}">
                <a16:creationId xmlns:a16="http://schemas.microsoft.com/office/drawing/2014/main" id="{C0AFDD38-D2E2-492E-8E55-8C89DC7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_EYEBROW">
            <a:extLst xmlns:a="http://schemas.openxmlformats.org/drawingml/2006/main">
              <a:ext uri="{FF2B5EF4-FFF2-40B4-BE49-F238E27FC236}">
                <a16:creationId xmlns:a16="http://schemas.microsoft.com/office/drawing/2014/main" id="{BE7F9CA1-0004-48ED-8F85-8533DC8F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靶材 · 真实格局</a:t>
            </a:r>
          </a:p>
        </p:txBody>
      </p:sp>
      <p:sp>
        <p:nvSpPr>
          <p:cNvPr id="3" name="P2_TITLE">
            <a:extLst xmlns:a="http://schemas.openxmlformats.org/drawingml/2006/main">
              <a:ext uri="{FF2B5EF4-FFF2-40B4-BE49-F238E27FC236}">
                <a16:creationId xmlns:a16="http://schemas.microsoft.com/office/drawing/2014/main" id="{740D0C9B-92C2-477B-AA12-D150464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靶材不是日本垄断，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是日美寡头</a:t>
            </a:r>
          </a:p>
        </p:txBody>
      </p:sp>
      <p:sp>
        <p:nvSpPr>
          <p:cNvPr id="4" name="P2_BULLET_MARK_1">
            <a:extLst xmlns:a="http://schemas.openxmlformats.org/drawingml/2006/main">
              <a:ext uri="{FF2B5EF4-FFF2-40B4-BE49-F238E27FC236}">
                <a16:creationId xmlns:a16="http://schemas.microsoft.com/office/drawing/2014/main" id="{4E7DB01C-A9B8-4236-A46B-8C13F461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_BULLET_1">
            <a:extLst xmlns:a="http://schemas.openxmlformats.org/drawingml/2006/main">
              <a:ext uri="{FF2B5EF4-FFF2-40B4-BE49-F238E27FC236}">
                <a16:creationId xmlns:a16="http://schemas.microsoft.com/office/drawing/2014/main" id="{648657BC-1701-4984-B9E7-2C829C6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芯片每多一层金属互连，就要镀一层；靶材就是被溅射的高纯金属砖</a:t>
            </a:r>
          </a:p>
        </p:txBody>
      </p:sp>
      <p:sp>
        <p:nvSpPr>
          <p:cNvPr id="6" name="P2_BULLET_MARK_2">
            <a:extLst xmlns:a="http://schemas.openxmlformats.org/drawingml/2006/main">
              <a:ext uri="{FF2B5EF4-FFF2-40B4-BE49-F238E27FC236}">
                <a16:creationId xmlns:a16="http://schemas.microsoft.com/office/drawing/2014/main" id="{085FA253-C5DB-4FD9-B1C8-7F0D4FC5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_BULLET_2">
            <a:extLst xmlns:a="http://schemas.openxmlformats.org/drawingml/2006/main">
              <a:ext uri="{FF2B5EF4-FFF2-40B4-BE49-F238E27FC236}">
                <a16:creationId xmlns:a16="http://schemas.microsoft.com/office/drawing/2014/main" id="{35C5DDDA-AACE-4459-AAC2-6DDF9F92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日系约40%、美系约20%，并不是单一国家垄断</a:t>
            </a:r>
          </a:p>
        </p:txBody>
      </p:sp>
      <p:sp>
        <p:nvSpPr>
          <p:cNvPr id="8" name="P2_BULLET_MARK_3">
            <a:extLst xmlns:a="http://schemas.openxmlformats.org/drawingml/2006/main">
              <a:ext uri="{FF2B5EF4-FFF2-40B4-BE49-F238E27FC236}">
                <a16:creationId xmlns:a16="http://schemas.microsoft.com/office/drawing/2014/main" id="{6AF73F0A-ADDB-48BD-AEB7-52BF438C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_BULLET_3">
            <a:extLst xmlns:a="http://schemas.openxmlformats.org/drawingml/2006/main">
              <a:ext uri="{FF2B5EF4-FFF2-40B4-BE49-F238E27FC236}">
                <a16:creationId xmlns:a16="http://schemas.microsoft.com/office/drawing/2014/main" id="{DB832B1D-F6AD-4C8F-BE73-1CEAF24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国产已占国内两成多并进入台积电供应链，是上游替代最快的环节之一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143000" y="2981325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55649872174b3a"/>
          </a:graphicData>
        </a:graphic>
      </p:graphicFrame>
      <p:sp>
        <p:nvSpPr>
          <p:cNvPr id="11" name="P2_PIE_NOTE_1">
            <a:extLst xmlns:a="http://schemas.openxmlformats.org/drawingml/2006/main">
              <a:ext uri="{FF2B5EF4-FFF2-40B4-BE49-F238E27FC236}">
                <a16:creationId xmlns:a16="http://schemas.microsoft.com/office/drawing/2014/main" id="{D6DF12CF-E1B2-4039-AD3A-BD600E49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000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2" name="P2_PIE_NOTE_1_TITLE">
            <a:extLst xmlns:a="http://schemas.openxmlformats.org/drawingml/2006/main">
              <a:ext uri="{FF2B5EF4-FFF2-40B4-BE49-F238E27FC236}">
                <a16:creationId xmlns:a16="http://schemas.microsoft.com/office/drawing/2014/main" id="{F7A93916-D874-420C-8578-460F5ED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日美两家分食</a:t>
            </a:r>
          </a:p>
        </p:txBody>
      </p:sp>
      <p:sp>
        <p:nvSpPr>
          <p:cNvPr id="13" name="P2_PIE_NOTE_1_BODY">
            <a:extLst xmlns:a="http://schemas.openxmlformats.org/drawingml/2006/main">
              <a:ext uri="{FF2B5EF4-FFF2-40B4-BE49-F238E27FC236}">
                <a16:creationId xmlns:a16="http://schemas.microsoft.com/office/drawing/2014/main" id="{CF4DD053-D953-45F9-A556-F7D396BE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365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日系约40% · 美系约20%</a:t>
            </a:r>
          </a:p>
        </p:txBody>
      </p:sp>
      <p:sp>
        <p:nvSpPr>
          <p:cNvPr id="14" name="P2_PIE_NOTE_2">
            <a:extLst xmlns:a="http://schemas.openxmlformats.org/drawingml/2006/main">
              <a:ext uri="{FF2B5EF4-FFF2-40B4-BE49-F238E27FC236}">
                <a16:creationId xmlns:a16="http://schemas.microsoft.com/office/drawing/2014/main" id="{EDFB2755-AF7E-49AF-BC51-C9DBDAC8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000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5" name="P2_PIE_NOTE_2_TITLE">
            <a:extLst xmlns:a="http://schemas.openxmlformats.org/drawingml/2006/main">
              <a:ext uri="{FF2B5EF4-FFF2-40B4-BE49-F238E27FC236}">
                <a16:creationId xmlns:a16="http://schemas.microsoft.com/office/drawing/2014/main" id="{3D2F9C30-4BD7-4F8A-BA59-CCC2B5BC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48175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国产替代最快</a:t>
            </a:r>
          </a:p>
        </p:txBody>
      </p:sp>
      <p:sp>
        <p:nvSpPr>
          <p:cNvPr id="16" name="P2_PIE_NOTE_2_BODY">
            <a:extLst xmlns:a="http://schemas.openxmlformats.org/drawingml/2006/main">
              <a:ext uri="{FF2B5EF4-FFF2-40B4-BE49-F238E27FC236}">
                <a16:creationId xmlns:a16="http://schemas.microsoft.com/office/drawing/2014/main" id="{727B483C-38A2-47D3-AF94-7EB07E0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81550"/>
            <a:ext cx="365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国内两成多 · 已进入先进代工供应链</a:t>
            </a:r>
          </a:p>
        </p:txBody>
      </p:sp>
      <p:sp>
        <p:nvSpPr>
          <p:cNvPr id="17" name="P2_FOOTER_BADGE">
            <a:extLst xmlns:a="http://schemas.openxmlformats.org/drawingml/2006/main">
              <a:ext uri="{FF2B5EF4-FFF2-40B4-BE49-F238E27FC236}">
                <a16:creationId xmlns:a16="http://schemas.microsoft.com/office/drawing/2014/main" id="{9ABD41CB-9556-4AF5-80B7-4738BFB1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8" name="P2_FOOTER_LABEL">
            <a:extLst xmlns:a="http://schemas.openxmlformats.org/drawingml/2006/main">
              <a:ext uri="{FF2B5EF4-FFF2-40B4-BE49-F238E27FC236}">
                <a16:creationId xmlns:a16="http://schemas.microsoft.com/office/drawing/2014/main" id="{20D4DEFC-A8C4-4CC7-A24C-105648B3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P2_FOOTER_TEXT">
            <a:extLst xmlns:a="http://schemas.openxmlformats.org/drawingml/2006/main">
              <a:ext uri="{FF2B5EF4-FFF2-40B4-BE49-F238E27FC236}">
                <a16:creationId xmlns:a16="http://schemas.microsoft.com/office/drawing/2014/main" id="{70EBD727-0992-48BC-84B7-09831B87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日美分食，国产替代最快</a:t>
            </a:r>
          </a:p>
        </p:txBody>
      </p:sp>
      <p:sp>
        <p:nvSpPr>
          <p:cNvPr id="20" name="P2_FOOTER_LINE">
            <a:extLst xmlns:a="http://schemas.openxmlformats.org/drawingml/2006/main">
              <a:ext uri="{FF2B5EF4-FFF2-40B4-BE49-F238E27FC236}">
                <a16:creationId xmlns:a16="http://schemas.microsoft.com/office/drawing/2014/main" id="{8D626E9C-CC38-4D87-84ED-679C9EE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6696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3_DOT">
            <a:extLst xmlns:a="http://schemas.openxmlformats.org/drawingml/2006/main">
              <a:ext uri="{FF2B5EF4-FFF2-40B4-BE49-F238E27FC236}">
                <a16:creationId xmlns:a16="http://schemas.microsoft.com/office/drawing/2014/main" id="{694E6E8D-399C-40FA-AB08-BC007AFF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3_EYEBROW">
            <a:extLst xmlns:a="http://schemas.openxmlformats.org/drawingml/2006/main">
              <a:ext uri="{FF2B5EF4-FFF2-40B4-BE49-F238E27FC236}">
                <a16:creationId xmlns:a16="http://schemas.microsoft.com/office/drawing/2014/main" id="{ABA40FF1-EC84-4D3B-8800-E402A4B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石英耗材 · 本轮与上轮</a:t>
            </a:r>
          </a:p>
        </p:txBody>
      </p:sp>
      <p:sp>
        <p:nvSpPr>
          <p:cNvPr id="3" name="P3_TITLE">
            <a:extLst xmlns:a="http://schemas.openxmlformats.org/drawingml/2006/main">
              <a:ext uri="{FF2B5EF4-FFF2-40B4-BE49-F238E27FC236}">
                <a16:creationId xmlns:a16="http://schemas.microsoft.com/office/drawing/2014/main" id="{FB31456E-1B95-40E8-B149-3B8B2867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这轮石英涨，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和过去不是一回事</a:t>
            </a:r>
          </a:p>
        </p:txBody>
      </p:sp>
      <p:sp>
        <p:nvSpPr>
          <p:cNvPr id="4" name="P3_BULLET_MARK_1">
            <a:extLst xmlns:a="http://schemas.openxmlformats.org/drawingml/2006/main">
              <a:ext uri="{FF2B5EF4-FFF2-40B4-BE49-F238E27FC236}">
                <a16:creationId xmlns:a16="http://schemas.microsoft.com/office/drawing/2014/main" id="{5CE24211-492C-497E-9572-E862B5B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3_BULLET_1">
            <a:extLst xmlns:a="http://schemas.openxmlformats.org/drawingml/2006/main">
              <a:ext uri="{FF2B5EF4-FFF2-40B4-BE49-F238E27FC236}">
                <a16:creationId xmlns:a16="http://schemas.microsoft.com/office/drawing/2014/main" id="{B5EB65A7-9541-4DF1-A8AC-B21FD67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刻蚀、沉积在密封腔体内完成，腔壁石英耗材会被等离子体持续消耗</a:t>
            </a:r>
          </a:p>
        </p:txBody>
      </p:sp>
      <p:sp>
        <p:nvSpPr>
          <p:cNvPr id="6" name="P3_BULLET_MARK_2">
            <a:extLst xmlns:a="http://schemas.openxmlformats.org/drawingml/2006/main">
              <a:ext uri="{FF2B5EF4-FFF2-40B4-BE49-F238E27FC236}">
                <a16:creationId xmlns:a16="http://schemas.microsoft.com/office/drawing/2014/main" id="{E382008F-7B93-4773-857E-E8F3CEDC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3_BULLET_2">
            <a:extLst xmlns:a="http://schemas.openxmlformats.org/drawingml/2006/main">
              <a:ext uri="{FF2B5EF4-FFF2-40B4-BE49-F238E27FC236}">
                <a16:creationId xmlns:a16="http://schemas.microsoft.com/office/drawing/2014/main" id="{7ABA3583-50EE-44B6-BA58-71732CCF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本轮驱动来自AI先进制程、纯度门槛抬升和日企供给偏紧</a:t>
            </a:r>
          </a:p>
        </p:txBody>
      </p:sp>
      <p:sp>
        <p:nvSpPr>
          <p:cNvPr id="8" name="P3_BULLET_MARK_3">
            <a:extLst xmlns:a="http://schemas.openxmlformats.org/drawingml/2006/main">
              <a:ext uri="{FF2B5EF4-FFF2-40B4-BE49-F238E27FC236}">
                <a16:creationId xmlns:a16="http://schemas.microsoft.com/office/drawing/2014/main" id="{571EE586-3738-47B6-AE97-83B26D58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3_BULLET_3">
            <a:extLst xmlns:a="http://schemas.openxmlformats.org/drawingml/2006/main">
              <a:ext uri="{FF2B5EF4-FFF2-40B4-BE49-F238E27FC236}">
                <a16:creationId xmlns:a16="http://schemas.microsoft.com/office/drawing/2014/main" id="{C66C2C4A-C94B-478C-8159-E02CC48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2nm关键层转向合成石英，杂质控制从ppm进入ppb级</a:t>
            </a:r>
          </a:p>
        </p:txBody>
      </p:sp>
      <p:sp>
        <p:nvSpPr>
          <p:cNvPr id="10" name="P3_ARROW_1">
            <a:extLst xmlns:a="http://schemas.openxmlformats.org/drawingml/2006/main">
              <a:ext uri="{FF2B5EF4-FFF2-40B4-BE49-F238E27FC236}">
                <a16:creationId xmlns:a16="http://schemas.microsoft.com/office/drawing/2014/main" id="{18019CA0-955E-408A-8EEA-839BC42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3860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1" name="P3_ARROW_2">
            <a:extLst xmlns:a="http://schemas.openxmlformats.org/drawingml/2006/main">
              <a:ext uri="{FF2B5EF4-FFF2-40B4-BE49-F238E27FC236}">
                <a16:creationId xmlns:a16="http://schemas.microsoft.com/office/drawing/2014/main" id="{6538D23F-539B-4AED-AC25-9C0AD628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3860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2" name="P3_DRIVER_1">
            <a:extLst xmlns:a="http://schemas.openxmlformats.org/drawingml/2006/main">
              <a:ext uri="{FF2B5EF4-FFF2-40B4-BE49-F238E27FC236}">
                <a16:creationId xmlns:a16="http://schemas.microsoft.com/office/drawing/2014/main" id="{78C45A30-866D-4B90-930B-0C646ECF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3" name="P3_DRIVER_1_TITLE">
            <a:extLst xmlns:a="http://schemas.openxmlformats.org/drawingml/2006/main">
              <a:ext uri="{FF2B5EF4-FFF2-40B4-BE49-F238E27FC236}">
                <a16:creationId xmlns:a16="http://schemas.microsoft.com/office/drawing/2014/main" id="{3E8DD8B0-E7FB-4BFA-8BAD-EC7BE66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718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需求换芯</a:t>
            </a:r>
          </a:p>
        </p:txBody>
      </p:sp>
      <p:sp>
        <p:nvSpPr>
          <p:cNvPr id="14" name="P3_DRIVER_1_BODY">
            <a:extLst xmlns:a="http://schemas.openxmlformats.org/drawingml/2006/main">
              <a:ext uri="{FF2B5EF4-FFF2-40B4-BE49-F238E27FC236}">
                <a16:creationId xmlns:a16="http://schemas.microsoft.com/office/drawing/2014/main" id="{B3E997A4-366D-4E3B-9623-F213A6EA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052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AI先进制程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刻蚀步骤增加</a:t>
            </a:r>
          </a:p>
        </p:txBody>
      </p:sp>
      <p:sp>
        <p:nvSpPr>
          <p:cNvPr id="15" name="P3_DRIVER_2">
            <a:extLst xmlns:a="http://schemas.openxmlformats.org/drawingml/2006/main">
              <a:ext uri="{FF2B5EF4-FFF2-40B4-BE49-F238E27FC236}">
                <a16:creationId xmlns:a16="http://schemas.microsoft.com/office/drawing/2014/main" id="{EF2EB4AC-9DAA-4CAA-A6F7-D9797F2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6" name="P3_DRIVER_2_TITLE">
            <a:extLst xmlns:a="http://schemas.openxmlformats.org/drawingml/2006/main">
              <a:ext uri="{FF2B5EF4-FFF2-40B4-BE49-F238E27FC236}">
                <a16:creationId xmlns:a16="http://schemas.microsoft.com/office/drawing/2014/main" id="{163360EE-5E5D-4484-9419-18961E0D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5718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纯度抬升</a:t>
            </a:r>
          </a:p>
        </p:txBody>
      </p:sp>
      <p:sp>
        <p:nvSpPr>
          <p:cNvPr id="17" name="P3_DRIVER_2_BODY">
            <a:extLst xmlns:a="http://schemas.openxmlformats.org/drawingml/2006/main">
              <a:ext uri="{FF2B5EF4-FFF2-40B4-BE49-F238E27FC236}">
                <a16:creationId xmlns:a16="http://schemas.microsoft.com/office/drawing/2014/main" id="{6A7EAE7D-10BB-4F0F-93AB-9C9517EB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052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2nm关键层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ppm → ppb</a:t>
            </a:r>
          </a:p>
        </p:txBody>
      </p:sp>
      <p:sp>
        <p:nvSpPr>
          <p:cNvPr id="18" name="P3_DRIVER_3">
            <a:extLst xmlns:a="http://schemas.openxmlformats.org/drawingml/2006/main">
              <a:ext uri="{FF2B5EF4-FFF2-40B4-BE49-F238E27FC236}">
                <a16:creationId xmlns:a16="http://schemas.microsoft.com/office/drawing/2014/main" id="{8F904E50-2894-4B70-8A58-37F9C379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5757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9" name="P3_DRIVER_3_TITLE">
            <a:extLst xmlns:a="http://schemas.openxmlformats.org/drawingml/2006/main">
              <a:ext uri="{FF2B5EF4-FFF2-40B4-BE49-F238E27FC236}">
                <a16:creationId xmlns:a16="http://schemas.microsoft.com/office/drawing/2014/main" id="{16D472D2-3882-43BF-AD3E-1FC0290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718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供给偏紧</a:t>
            </a:r>
          </a:p>
        </p:txBody>
      </p:sp>
      <p:sp>
        <p:nvSpPr>
          <p:cNvPr id="20" name="P3_DRIVER_3_BODY">
            <a:extLst xmlns:a="http://schemas.openxmlformats.org/drawingml/2006/main">
              <a:ext uri="{FF2B5EF4-FFF2-40B4-BE49-F238E27FC236}">
                <a16:creationId xmlns:a16="http://schemas.microsoft.com/office/drawing/2014/main" id="{516018BB-124A-4F8D-9219-27869E7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052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日企产能有限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供给约束持续</a:t>
            </a:r>
          </a:p>
        </p:txBody>
      </p:sp>
      <p:sp>
        <p:nvSpPr>
          <p:cNvPr id="21" name="P3_FOOTER_BADGE">
            <a:extLst xmlns:a="http://schemas.openxmlformats.org/drawingml/2006/main">
              <a:ext uri="{FF2B5EF4-FFF2-40B4-BE49-F238E27FC236}">
                <a16:creationId xmlns:a16="http://schemas.microsoft.com/office/drawing/2014/main" id="{C81A0902-BCEF-4B2E-AF41-13A0F04C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2" name="P3_FOOTER_LABEL">
            <a:extLst xmlns:a="http://schemas.openxmlformats.org/drawingml/2006/main">
              <a:ext uri="{FF2B5EF4-FFF2-40B4-BE49-F238E27FC236}">
                <a16:creationId xmlns:a16="http://schemas.microsoft.com/office/drawing/2014/main" id="{BD8C255A-18E4-407E-A785-723EB20F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3_FOOTER_TEXT">
            <a:extLst xmlns:a="http://schemas.openxmlformats.org/drawingml/2006/main">
              <a:ext uri="{FF2B5EF4-FFF2-40B4-BE49-F238E27FC236}">
                <a16:creationId xmlns:a16="http://schemas.microsoft.com/office/drawing/2014/main" id="{FE4D1C46-B278-4B64-B55A-AA99EA62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这轮的紧，和过去不同</a:t>
            </a:r>
          </a:p>
        </p:txBody>
      </p:sp>
      <p:sp>
        <p:nvSpPr>
          <p:cNvPr id="24" name="P3_FOOTER_LINE">
            <a:extLst xmlns:a="http://schemas.openxmlformats.org/drawingml/2006/main">
              <a:ext uri="{FF2B5EF4-FFF2-40B4-BE49-F238E27FC236}">
                <a16:creationId xmlns:a16="http://schemas.microsoft.com/office/drawing/2014/main" id="{FDDF88CF-205D-4F54-9933-82E87CC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6954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4_DOT">
            <a:extLst xmlns:a="http://schemas.openxmlformats.org/drawingml/2006/main">
              <a:ext uri="{FF2B5EF4-FFF2-40B4-BE49-F238E27FC236}">
                <a16:creationId xmlns:a16="http://schemas.microsoft.com/office/drawing/2014/main" id="{59EA046E-3310-43D8-88BB-B9249D66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4_EYEBROW">
            <a:extLst xmlns:a="http://schemas.openxmlformats.org/drawingml/2006/main">
              <a:ext uri="{FF2B5EF4-FFF2-40B4-BE49-F238E27FC236}">
                <a16:creationId xmlns:a16="http://schemas.microsoft.com/office/drawing/2014/main" id="{37D310D3-31F6-4574-9689-45098A8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电子特气 · 分档看</a:t>
            </a:r>
          </a:p>
        </p:txBody>
      </p:sp>
      <p:sp>
        <p:nvSpPr>
          <p:cNvPr id="3" name="P4_TITLE">
            <a:extLst xmlns:a="http://schemas.openxmlformats.org/drawingml/2006/main">
              <a:ext uri="{FF2B5EF4-FFF2-40B4-BE49-F238E27FC236}">
                <a16:creationId xmlns:a16="http://schemas.microsoft.com/office/drawing/2014/main" id="{D22E7E26-4B51-4FCB-9F0F-D55A0A7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电子特气，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没被日本整条卡死</a:t>
            </a:r>
          </a:p>
        </p:txBody>
      </p:sp>
      <p:sp>
        <p:nvSpPr>
          <p:cNvPr id="4" name="P4_BULLET_MARK_1">
            <a:extLst xmlns:a="http://schemas.openxmlformats.org/drawingml/2006/main">
              <a:ext uri="{FF2B5EF4-FFF2-40B4-BE49-F238E27FC236}">
                <a16:creationId xmlns:a16="http://schemas.microsoft.com/office/drawing/2014/main" id="{62916D80-4D2A-4EF1-B1A0-7C34C039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4_BULLET_1">
            <a:extLst xmlns:a="http://schemas.openxmlformats.org/drawingml/2006/main">
              <a:ext uri="{FF2B5EF4-FFF2-40B4-BE49-F238E27FC236}">
                <a16:creationId xmlns:a16="http://schemas.microsoft.com/office/drawing/2014/main" id="{0191FFA7-C655-4115-B104-043DC4ED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电子特气不能笼统说成整条被日本卡死，关键在纯度分档</a:t>
            </a:r>
          </a:p>
        </p:txBody>
      </p:sp>
      <p:sp>
        <p:nvSpPr>
          <p:cNvPr id="6" name="P4_BULLET_MARK_2">
            <a:extLst xmlns:a="http://schemas.openxmlformats.org/drawingml/2006/main">
              <a:ext uri="{FF2B5EF4-FFF2-40B4-BE49-F238E27FC236}">
                <a16:creationId xmlns:a16="http://schemas.microsoft.com/office/drawing/2014/main" id="{BBFFD88B-B96D-4099-94DC-6C65C195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4_BULLET_2">
            <a:extLst xmlns:a="http://schemas.openxmlformats.org/drawingml/2006/main">
              <a:ext uri="{FF2B5EF4-FFF2-40B4-BE49-F238E27FC236}">
                <a16:creationId xmlns:a16="http://schemas.microsoft.com/office/drawing/2014/main" id="{F5C1BBD4-930F-4C3D-AE68-23E06DB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电子级氢氟酸G1—G3国产已补上，全球最高纯度仍由Stella主导</a:t>
            </a:r>
          </a:p>
        </p:txBody>
      </p:sp>
      <p:sp>
        <p:nvSpPr>
          <p:cNvPr id="8" name="P4_BULLET_MARK_3">
            <a:extLst xmlns:a="http://schemas.openxmlformats.org/drawingml/2006/main">
              <a:ext uri="{FF2B5EF4-FFF2-40B4-BE49-F238E27FC236}">
                <a16:creationId xmlns:a16="http://schemas.microsoft.com/office/drawing/2014/main" id="{869ADFDD-9902-4EDC-9DA7-CA4E67B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4_BULLET_3">
            <a:extLst xmlns:a="http://schemas.openxmlformats.org/drawingml/2006/main">
              <a:ext uri="{FF2B5EF4-FFF2-40B4-BE49-F238E27FC236}">
                <a16:creationId xmlns:a16="http://schemas.microsoft.com/office/drawing/2014/main" id="{D301BC63-CF6B-4F76-9DB5-DAAA055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六氟化钨方向相反：日企在退出，国产已接住供给</a:t>
            </a:r>
          </a:p>
        </p:txBody>
      </p:sp>
      <p:sp>
        <p:nvSpPr>
          <p:cNvPr id="10" name="P4_LEVEL_1">
            <a:extLst xmlns:a="http://schemas.openxmlformats.org/drawingml/2006/main">
              <a:ext uri="{FF2B5EF4-FFF2-40B4-BE49-F238E27FC236}">
                <a16:creationId xmlns:a16="http://schemas.microsoft.com/office/drawing/2014/main" id="{84CA7795-461A-4361-96B4-3D8C5D6C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1" name="P4_LEVEL_1_TITLE">
            <a:extLst xmlns:a="http://schemas.openxmlformats.org/drawingml/2006/main">
              <a:ext uri="{FF2B5EF4-FFF2-40B4-BE49-F238E27FC236}">
                <a16:creationId xmlns:a16="http://schemas.microsoft.com/office/drawing/2014/main" id="{10BAC566-55F0-4E26-BA94-2DB8EBA5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62475"/>
            <a:ext cx="7962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G1 电子级</a:t>
            </a:r>
          </a:p>
        </p:txBody>
      </p:sp>
      <p:sp>
        <p:nvSpPr>
          <p:cNvPr id="12" name="P4_LEVEL_1_BODY">
            <a:extLst xmlns:a="http://schemas.openxmlformats.org/drawingml/2006/main">
              <a:ext uri="{FF2B5EF4-FFF2-40B4-BE49-F238E27FC236}">
                <a16:creationId xmlns:a16="http://schemas.microsoft.com/office/drawing/2014/main" id="{6286CE89-3A0C-430D-92ED-7E7D179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562475"/>
            <a:ext cx="102298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国产已补</a:t>
            </a:r>
          </a:p>
        </p:txBody>
      </p:sp>
      <p:sp>
        <p:nvSpPr>
          <p:cNvPr id="13" name="P4_LEVEL_2">
            <a:extLst xmlns:a="http://schemas.openxmlformats.org/drawingml/2006/main">
              <a:ext uri="{FF2B5EF4-FFF2-40B4-BE49-F238E27FC236}">
                <a16:creationId xmlns:a16="http://schemas.microsoft.com/office/drawing/2014/main" id="{AB0A1880-5953-48C2-8E4C-47660C0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05275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4" name="P4_LEVEL_2_TITLE">
            <a:extLst xmlns:a="http://schemas.openxmlformats.org/drawingml/2006/main">
              <a:ext uri="{FF2B5EF4-FFF2-40B4-BE49-F238E27FC236}">
                <a16:creationId xmlns:a16="http://schemas.microsoft.com/office/drawing/2014/main" id="{588E131F-F747-4B87-9797-CF1FF74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95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G2 / G3</a:t>
            </a:r>
          </a:p>
        </p:txBody>
      </p:sp>
      <p:sp>
        <p:nvSpPr>
          <p:cNvPr id="15" name="P4_LEVEL_2_BODY">
            <a:extLst xmlns:a="http://schemas.openxmlformats.org/drawingml/2006/main">
              <a:ext uri="{FF2B5EF4-FFF2-40B4-BE49-F238E27FC236}">
                <a16:creationId xmlns:a16="http://schemas.microsoft.com/office/drawing/2014/main" id="{15BD2979-42FB-4E5B-A513-DAF5D4A9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529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国产已补</a:t>
            </a:r>
          </a:p>
        </p:txBody>
      </p:sp>
      <p:sp>
        <p:nvSpPr>
          <p:cNvPr id="16" name="P4_LEVEL_3">
            <a:extLst xmlns:a="http://schemas.openxmlformats.org/drawingml/2006/main">
              <a:ext uri="{FF2B5EF4-FFF2-40B4-BE49-F238E27FC236}">
                <a16:creationId xmlns:a16="http://schemas.microsoft.com/office/drawing/2014/main" id="{407AE2BF-06F5-4483-B172-4D63357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95700"/>
            <a:ext cx="2095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F89AF"/>
            </a:solidFill>
            <a:prstDash val="solid"/>
          </a:ln>
        </p:spPr>
      </p:sp>
      <p:sp>
        <p:nvSpPr>
          <p:cNvPr id="17" name="P4_LEVEL_3_TITLE">
            <a:extLst xmlns:a="http://schemas.openxmlformats.org/drawingml/2006/main">
              <a:ext uri="{FF2B5EF4-FFF2-40B4-BE49-F238E27FC236}">
                <a16:creationId xmlns:a16="http://schemas.microsoft.com/office/drawing/2014/main" id="{F63A683E-BF72-4C3B-B484-EA7C9810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100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接近最高纯</a:t>
            </a:r>
          </a:p>
        </p:txBody>
      </p:sp>
      <p:sp>
        <p:nvSpPr>
          <p:cNvPr id="18" name="P4_LEVEL_3_BODY">
            <a:extLst xmlns:a="http://schemas.openxmlformats.org/drawingml/2006/main">
              <a:ext uri="{FF2B5EF4-FFF2-40B4-BE49-F238E27FC236}">
                <a16:creationId xmlns:a16="http://schemas.microsoft.com/office/drawing/2014/main" id="{38268CBD-C239-4E0D-915E-C11D5AC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143375"/>
            <a:ext cx="1752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国产在追</a:t>
            </a:r>
          </a:p>
        </p:txBody>
      </p:sp>
      <p:sp>
        <p:nvSpPr>
          <p:cNvPr id="19" name="P4_LEVEL_4">
            <a:extLst xmlns:a="http://schemas.openxmlformats.org/drawingml/2006/main">
              <a:ext uri="{FF2B5EF4-FFF2-40B4-BE49-F238E27FC236}">
                <a16:creationId xmlns:a16="http://schemas.microsoft.com/office/drawing/2014/main" id="{14F9CD42-D6DA-41E4-84F2-53BF10FD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2762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20" name="P4_LEVEL_4_TITLE">
            <a:extLst xmlns:a="http://schemas.openxmlformats.org/drawingml/2006/main">
              <a:ext uri="{FF2B5EF4-FFF2-40B4-BE49-F238E27FC236}">
                <a16:creationId xmlns:a16="http://schemas.microsoft.com/office/drawing/2014/main" id="{13DBC6E3-C319-423A-9CB1-949BD990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全球最高纯度</a:t>
            </a:r>
          </a:p>
        </p:txBody>
      </p:sp>
      <p:sp>
        <p:nvSpPr>
          <p:cNvPr id="21" name="P4_LEVEL_4_BODY">
            <a:extLst xmlns:a="http://schemas.openxmlformats.org/drawingml/2006/main">
              <a:ext uri="{FF2B5EF4-FFF2-40B4-BE49-F238E27FC236}">
                <a16:creationId xmlns:a16="http://schemas.microsoft.com/office/drawing/2014/main" id="{EE6347FB-7778-4758-8446-B92EB082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419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Stella主导</a:t>
            </a:r>
          </a:p>
        </p:txBody>
      </p:sp>
      <p:sp>
        <p:nvSpPr>
          <p:cNvPr id="22" name="P4_FOOTER_BADGE">
            <a:extLst xmlns:a="http://schemas.openxmlformats.org/drawingml/2006/main">
              <a:ext uri="{FF2B5EF4-FFF2-40B4-BE49-F238E27FC236}">
                <a16:creationId xmlns:a16="http://schemas.microsoft.com/office/drawing/2014/main" id="{8937962C-A473-4AF0-8741-90D08FC8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3" name="P4_FOOTER_LABEL">
            <a:extLst xmlns:a="http://schemas.openxmlformats.org/drawingml/2006/main">
              <a:ext uri="{FF2B5EF4-FFF2-40B4-BE49-F238E27FC236}">
                <a16:creationId xmlns:a16="http://schemas.microsoft.com/office/drawing/2014/main" id="{C44AFF32-814A-4630-B78D-DE8BC662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P4_FOOTER_TEXT">
            <a:extLst xmlns:a="http://schemas.openxmlformats.org/drawingml/2006/main">
              <a:ext uri="{FF2B5EF4-FFF2-40B4-BE49-F238E27FC236}">
                <a16:creationId xmlns:a16="http://schemas.microsoft.com/office/drawing/2014/main" id="{CF997DEE-9946-4C9E-BED2-30E828A1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不是断料，只卡最高纯度</a:t>
            </a:r>
          </a:p>
        </p:txBody>
      </p:sp>
      <p:sp>
        <p:nvSpPr>
          <p:cNvPr id="25" name="P4_FOOTER_LINE">
            <a:extLst xmlns:a="http://schemas.openxmlformats.org/drawingml/2006/main">
              <a:ext uri="{FF2B5EF4-FFF2-40B4-BE49-F238E27FC236}">
                <a16:creationId xmlns:a16="http://schemas.microsoft.com/office/drawing/2014/main" id="{9C8DF226-0FD3-4416-8163-D1CD12EA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5859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5_DOT">
            <a:extLst xmlns:a="http://schemas.openxmlformats.org/drawingml/2006/main">
              <a:ext uri="{FF2B5EF4-FFF2-40B4-BE49-F238E27FC236}">
                <a16:creationId xmlns:a16="http://schemas.microsoft.com/office/drawing/2014/main" id="{71BE52C7-68AF-41DC-959D-1F3E76D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5_EYEBROW">
            <a:extLst xmlns:a="http://schemas.openxmlformats.org/drawingml/2006/main">
              <a:ext uri="{FF2B5EF4-FFF2-40B4-BE49-F238E27FC236}">
                <a16:creationId xmlns:a16="http://schemas.microsoft.com/office/drawing/2014/main" id="{42FD617C-3202-41C0-99FF-51286C4D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CMP抛光 · 壁垒转移</a:t>
            </a:r>
          </a:p>
        </p:txBody>
      </p:sp>
      <p:sp>
        <p:nvSpPr>
          <p:cNvPr id="3" name="P5_TITLE">
            <a:extLst xmlns:a="http://schemas.openxmlformats.org/drawingml/2006/main">
              <a:ext uri="{FF2B5EF4-FFF2-40B4-BE49-F238E27FC236}">
                <a16:creationId xmlns:a16="http://schemas.microsoft.com/office/drawing/2014/main" id="{380FEDE6-334F-4036-8729-24B6C22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抛光的壁垒，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从配方挪到了磨料粒</a:t>
            </a:r>
          </a:p>
        </p:txBody>
      </p:sp>
      <p:sp>
        <p:nvSpPr>
          <p:cNvPr id="4" name="P5_BULLET_MARK_1">
            <a:extLst xmlns:a="http://schemas.openxmlformats.org/drawingml/2006/main">
              <a:ext uri="{FF2B5EF4-FFF2-40B4-BE49-F238E27FC236}">
                <a16:creationId xmlns:a16="http://schemas.microsoft.com/office/drawing/2014/main" id="{D1016EA4-C96D-4A7F-AF10-120C7F9B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5_BULLET_1">
            <a:extLst xmlns:a="http://schemas.openxmlformats.org/drawingml/2006/main">
              <a:ext uri="{FF2B5EF4-FFF2-40B4-BE49-F238E27FC236}">
                <a16:creationId xmlns:a16="http://schemas.microsoft.com/office/drawing/2014/main" id="{DBF99C0F-C79E-4200-9A86-DFAE120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晶圆堆叠后要靠化学机械抛光恢复镜面，抛光液是核心耗材</a:t>
            </a:r>
          </a:p>
        </p:txBody>
      </p:sp>
      <p:sp>
        <p:nvSpPr>
          <p:cNvPr id="6" name="P5_BULLET_MARK_2">
            <a:extLst xmlns:a="http://schemas.openxmlformats.org/drawingml/2006/main">
              <a:ext uri="{FF2B5EF4-FFF2-40B4-BE49-F238E27FC236}">
                <a16:creationId xmlns:a16="http://schemas.microsoft.com/office/drawing/2014/main" id="{0CD451B9-B640-4EF9-A6F5-C98227C3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5_BULLET_2">
            <a:extLst xmlns:a="http://schemas.openxmlformats.org/drawingml/2006/main">
              <a:ext uri="{FF2B5EF4-FFF2-40B4-BE49-F238E27FC236}">
                <a16:creationId xmlns:a16="http://schemas.microsoft.com/office/drawing/2014/main" id="{DF0D5B80-A143-4D61-9A4B-2F86B7B1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近年来价值量悄悄迁移到磨料颗粒，磨料已占抛光液成本一半以上</a:t>
            </a:r>
          </a:p>
        </p:txBody>
      </p:sp>
      <p:sp>
        <p:nvSpPr>
          <p:cNvPr id="8" name="P5_BULLET_MARK_3">
            <a:extLst xmlns:a="http://schemas.openxmlformats.org/drawingml/2006/main">
              <a:ext uri="{FF2B5EF4-FFF2-40B4-BE49-F238E27FC236}">
                <a16:creationId xmlns:a16="http://schemas.microsoft.com/office/drawing/2014/main" id="{E732D8BB-0997-4ACC-8C27-72FCE3F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5_BULLET_3">
            <a:extLst xmlns:a="http://schemas.openxmlformats.org/drawingml/2006/main">
              <a:ext uri="{FF2B5EF4-FFF2-40B4-BE49-F238E27FC236}">
                <a16:creationId xmlns:a16="http://schemas.microsoft.com/office/drawing/2014/main" id="{97C5C21A-C6A3-4DE4-9A64-103B01F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14nm以内超高纯硅溶胶仍卡在日本扶桑，是CMP国产化最后一座堡垒</a:t>
            </a:r>
          </a:p>
        </p:txBody>
      </p:sp>
      <p:sp>
        <p:nvSpPr>
          <p:cNvPr id="10" name="P5_SHIFT_ARROW">
            <a:extLst xmlns:a="http://schemas.openxmlformats.org/drawingml/2006/main">
              <a:ext uri="{FF2B5EF4-FFF2-40B4-BE49-F238E27FC236}">
                <a16:creationId xmlns:a16="http://schemas.microsoft.com/office/drawing/2014/main" id="{5359DA45-C1D9-4973-8F2C-1165C28B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76700"/>
            <a:ext cx="1333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1" name="P5_CMP_OLD">
            <a:extLst xmlns:a="http://schemas.openxmlformats.org/drawingml/2006/main">
              <a:ext uri="{FF2B5EF4-FFF2-40B4-BE49-F238E27FC236}">
                <a16:creationId xmlns:a16="http://schemas.microsoft.com/office/drawing/2014/main" id="{60FFF279-0FBC-4BF7-AE7B-1E436E34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3810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2" name="P5_CMP_OLD_TITLE">
            <a:extLst xmlns:a="http://schemas.openxmlformats.org/drawingml/2006/main">
              <a:ext uri="{FF2B5EF4-FFF2-40B4-BE49-F238E27FC236}">
                <a16:creationId xmlns:a16="http://schemas.microsoft.com/office/drawing/2014/main" id="{7FE3B1EB-D934-4AA7-AEFA-78CF76FD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7187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抛光液配方</a:t>
            </a:r>
          </a:p>
        </p:txBody>
      </p:sp>
      <p:sp>
        <p:nvSpPr>
          <p:cNvPr id="13" name="P5_CMP_OLD_BODY">
            <a:extLst xmlns:a="http://schemas.openxmlformats.org/drawingml/2006/main">
              <a:ext uri="{FF2B5EF4-FFF2-40B4-BE49-F238E27FC236}">
                <a16:creationId xmlns:a16="http://schemas.microsoft.com/office/drawing/2014/main" id="{D8F4E8DC-704E-4610-8C84-58A4FC8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3467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过去的主壁垒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国产配方持续追赶</a:t>
            </a:r>
          </a:p>
        </p:txBody>
      </p:sp>
      <p:sp>
        <p:nvSpPr>
          <p:cNvPr id="14" name="P5_CMP_NEW">
            <a:extLst xmlns:a="http://schemas.openxmlformats.org/drawingml/2006/main">
              <a:ext uri="{FF2B5EF4-FFF2-40B4-BE49-F238E27FC236}">
                <a16:creationId xmlns:a16="http://schemas.microsoft.com/office/drawing/2014/main" id="{4DE7BAAA-1E9B-4FE9-905C-E87214F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57575"/>
            <a:ext cx="4095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5" name="P5_CMP_NEW_TITLE">
            <a:extLst xmlns:a="http://schemas.openxmlformats.org/drawingml/2006/main">
              <a:ext uri="{FF2B5EF4-FFF2-40B4-BE49-F238E27FC236}">
                <a16:creationId xmlns:a16="http://schemas.microsoft.com/office/drawing/2014/main" id="{20C1F19C-6690-465E-8AE7-0886644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7187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超高纯硅溶胶磨料</a:t>
            </a:r>
          </a:p>
        </p:txBody>
      </p:sp>
      <p:sp>
        <p:nvSpPr>
          <p:cNvPr id="16" name="P5_CMP_NEW_BODY">
            <a:extLst xmlns:a="http://schemas.openxmlformats.org/drawingml/2006/main">
              <a:ext uri="{FF2B5EF4-FFF2-40B4-BE49-F238E27FC236}">
                <a16:creationId xmlns:a16="http://schemas.microsoft.com/office/drawing/2014/main" id="{D53A9BBB-41B3-45E8-948B-14A6845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3752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成本占比超过一半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14nm以内仍受制于日企</a:t>
            </a:r>
          </a:p>
        </p:txBody>
      </p:sp>
      <p:sp>
        <p:nvSpPr>
          <p:cNvPr id="17" name="P5_SHIFT_LABEL">
            <a:extLst xmlns:a="http://schemas.openxmlformats.org/drawingml/2006/main">
              <a:ext uri="{FF2B5EF4-FFF2-40B4-BE49-F238E27FC236}">
                <a16:creationId xmlns:a16="http://schemas.microsoft.com/office/drawing/2014/main" id="{121E9A52-365B-483E-B211-30A1A2A4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48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壁垒正在上移</a:t>
            </a:r>
          </a:p>
        </p:txBody>
      </p:sp>
      <p:sp>
        <p:nvSpPr>
          <p:cNvPr id="18" name="P5_FOOTER_BADGE">
            <a:extLst xmlns:a="http://schemas.openxmlformats.org/drawingml/2006/main">
              <a:ext uri="{FF2B5EF4-FFF2-40B4-BE49-F238E27FC236}">
                <a16:creationId xmlns:a16="http://schemas.microsoft.com/office/drawing/2014/main" id="{702201B4-6BAE-493D-8639-3A521442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9" name="P5_FOOTER_LABEL">
            <a:extLst xmlns:a="http://schemas.openxmlformats.org/drawingml/2006/main">
              <a:ext uri="{FF2B5EF4-FFF2-40B4-BE49-F238E27FC236}">
                <a16:creationId xmlns:a16="http://schemas.microsoft.com/office/drawing/2014/main" id="{B37AD848-472C-4124-8A03-EBC8EDCF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0" name="P5_FOOTER_TEXT">
            <a:extLst xmlns:a="http://schemas.openxmlformats.org/drawingml/2006/main">
              <a:ext uri="{FF2B5EF4-FFF2-40B4-BE49-F238E27FC236}">
                <a16:creationId xmlns:a16="http://schemas.microsoft.com/office/drawing/2014/main" id="{2C85AA91-6BC5-4ABA-A366-23313744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后道磨料，仍是国产最后堡垒</a:t>
            </a:r>
          </a:p>
        </p:txBody>
      </p:sp>
      <p:sp>
        <p:nvSpPr>
          <p:cNvPr id="21" name="P5_FOOTER_LINE">
            <a:extLst xmlns:a="http://schemas.openxmlformats.org/drawingml/2006/main">
              <a:ext uri="{FF2B5EF4-FFF2-40B4-BE49-F238E27FC236}">
                <a16:creationId xmlns:a16="http://schemas.microsoft.com/office/drawing/2014/main" id="{923D6290-6494-41AD-AF84-7DD0FBB7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0192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6_DOT">
            <a:extLst xmlns:a="http://schemas.openxmlformats.org/drawingml/2006/main">
              <a:ext uri="{FF2B5EF4-FFF2-40B4-BE49-F238E27FC236}">
                <a16:creationId xmlns:a16="http://schemas.microsoft.com/office/drawing/2014/main" id="{6770F42D-27BA-49C2-9BD8-3B3BE040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6_EYEBROW">
            <a:extLst xmlns:a="http://schemas.openxmlformats.org/drawingml/2006/main">
              <a:ext uri="{FF2B5EF4-FFF2-40B4-BE49-F238E27FC236}">
                <a16:creationId xmlns:a16="http://schemas.microsoft.com/office/drawing/2014/main" id="{DFD94AFA-E1EC-4C02-96D1-93FB33B7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磷化铟 · 真正瓶颈</a:t>
            </a:r>
          </a:p>
        </p:txBody>
      </p:sp>
      <p:sp>
        <p:nvSpPr>
          <p:cNvPr id="3" name="P6_TITLE">
            <a:extLst xmlns:a="http://schemas.openxmlformats.org/drawingml/2006/main">
              <a:ext uri="{FF2B5EF4-FFF2-40B4-BE49-F238E27FC236}">
                <a16:creationId xmlns:a16="http://schemas.microsoft.com/office/drawing/2014/main" id="{01CC068C-430E-447C-AA3B-0AA4824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磷化铟真瓶颈，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在更上游那把红磷</a:t>
            </a:r>
          </a:p>
        </p:txBody>
      </p:sp>
      <p:sp>
        <p:nvSpPr>
          <p:cNvPr id="4" name="P6_BULLET_MARK_1">
            <a:extLst xmlns:a="http://schemas.openxmlformats.org/drawingml/2006/main">
              <a:ext uri="{FF2B5EF4-FFF2-40B4-BE49-F238E27FC236}">
                <a16:creationId xmlns:a16="http://schemas.microsoft.com/office/drawing/2014/main" id="{8CF46690-8D01-4319-91AB-586F593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6_BULLET_1">
            <a:extLst xmlns:a="http://schemas.openxmlformats.org/drawingml/2006/main">
              <a:ext uri="{FF2B5EF4-FFF2-40B4-BE49-F238E27FC236}">
                <a16:creationId xmlns:a16="http://schemas.microsoft.com/office/drawing/2014/main" id="{3A5D5F02-F4F6-40B5-892B-058889AA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光模块和CPO的光源生长在磷化铟衬底上，速率冲向1.6T后更关键</a:t>
            </a:r>
          </a:p>
        </p:txBody>
      </p:sp>
      <p:sp>
        <p:nvSpPr>
          <p:cNvPr id="6" name="P6_BULLET_MARK_2">
            <a:extLst xmlns:a="http://schemas.openxmlformats.org/drawingml/2006/main">
              <a:ext uri="{FF2B5EF4-FFF2-40B4-BE49-F238E27FC236}">
                <a16:creationId xmlns:a16="http://schemas.microsoft.com/office/drawing/2014/main" id="{64CDD3A7-9F61-4BE3-ADDE-F2C85777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6_BULLET_2">
            <a:extLst xmlns:a="http://schemas.openxmlformats.org/drawingml/2006/main">
              <a:ext uri="{FF2B5EF4-FFF2-40B4-BE49-F238E27FC236}">
                <a16:creationId xmlns:a16="http://schemas.microsoft.com/office/drawing/2014/main" id="{AD591929-7ECE-4E8F-8916-BB4B1D7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衬底层住友占据约一半，但6N高纯红磷全球主要由两家日企供应</a:t>
            </a:r>
          </a:p>
        </p:txBody>
      </p:sp>
      <p:sp>
        <p:nvSpPr>
          <p:cNvPr id="8" name="P6_BULLET_MARK_3">
            <a:extLst xmlns:a="http://schemas.openxmlformats.org/drawingml/2006/main">
              <a:ext uri="{FF2B5EF4-FFF2-40B4-BE49-F238E27FC236}">
                <a16:creationId xmlns:a16="http://schemas.microsoft.com/office/drawing/2014/main" id="{8B34C3B9-EDE6-4D93-A691-EF0EBA8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6_BULLET_3">
            <a:extLst xmlns:a="http://schemas.openxmlformats.org/drawingml/2006/main">
              <a:ext uri="{FF2B5EF4-FFF2-40B4-BE49-F238E27FC236}">
                <a16:creationId xmlns:a16="http://schemas.microsoft.com/office/drawing/2014/main" id="{4088A77C-B2A1-4CA0-89C6-9164FA7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国内瓶颈在得片率：投入100公斤多晶，合格衬底可能只剩约10公斤</a:t>
            </a:r>
          </a:p>
        </p:txBody>
      </p:sp>
      <p:sp>
        <p:nvSpPr>
          <p:cNvPr id="10" name="P6_INP_ARROW_1">
            <a:extLst xmlns:a="http://schemas.openxmlformats.org/drawingml/2006/main">
              <a:ext uri="{FF2B5EF4-FFF2-40B4-BE49-F238E27FC236}">
                <a16:creationId xmlns:a16="http://schemas.microsoft.com/office/drawing/2014/main" id="{CFC127AD-0D37-4419-850E-4371FA24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24325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1" name="P6_INP_ARROW_2">
            <a:extLst xmlns:a="http://schemas.openxmlformats.org/drawingml/2006/main">
              <a:ext uri="{FF2B5EF4-FFF2-40B4-BE49-F238E27FC236}">
                <a16:creationId xmlns:a16="http://schemas.microsoft.com/office/drawing/2014/main" id="{C2BA40C8-C154-4FE5-901F-CFB6D208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24325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2" name="P6_INP_1">
            <a:extLst xmlns:a="http://schemas.openxmlformats.org/drawingml/2006/main">
              <a:ext uri="{FF2B5EF4-FFF2-40B4-BE49-F238E27FC236}">
                <a16:creationId xmlns:a16="http://schemas.microsoft.com/office/drawing/2014/main" id="{69FCB5B5-1818-41F9-9DEC-2384CD6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619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3" name="P6_INP_1_TITLE">
            <a:extLst xmlns:a="http://schemas.openxmlformats.org/drawingml/2006/main">
              <a:ext uri="{FF2B5EF4-FFF2-40B4-BE49-F238E27FC236}">
                <a16:creationId xmlns:a16="http://schemas.microsoft.com/office/drawing/2014/main" id="{19A0C67F-A537-4061-AC80-362382F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2276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6N高纯红磷</a:t>
            </a:r>
          </a:p>
        </p:txBody>
      </p:sp>
      <p:sp>
        <p:nvSpPr>
          <p:cNvPr id="14" name="P6_INP_1_BODY">
            <a:extLst xmlns:a="http://schemas.openxmlformats.org/drawingml/2006/main">
              <a:ext uri="{FF2B5EF4-FFF2-40B4-BE49-F238E27FC236}">
                <a16:creationId xmlns:a16="http://schemas.microsoft.com/office/drawing/2014/main" id="{A86C8EBA-CBFC-4AE2-9BC1-C8ED07D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2276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两家日企主导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更上游的命门</a:t>
            </a:r>
          </a:p>
        </p:txBody>
      </p:sp>
      <p:sp>
        <p:nvSpPr>
          <p:cNvPr id="15" name="P6_INP_2">
            <a:extLst xmlns:a="http://schemas.openxmlformats.org/drawingml/2006/main">
              <a:ext uri="{FF2B5EF4-FFF2-40B4-BE49-F238E27FC236}">
                <a16:creationId xmlns:a16="http://schemas.microsoft.com/office/drawing/2014/main" id="{6438449B-6690-4C76-8260-56E79E7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05200"/>
            <a:ext cx="2809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F89AF"/>
            </a:solidFill>
            <a:prstDash val="solid"/>
          </a:ln>
        </p:spPr>
      </p:sp>
      <p:sp>
        <p:nvSpPr>
          <p:cNvPr id="16" name="P6_INP_2_TITLE">
            <a:extLst xmlns:a="http://schemas.openxmlformats.org/drawingml/2006/main">
              <a:ext uri="{FF2B5EF4-FFF2-40B4-BE49-F238E27FC236}">
                <a16:creationId xmlns:a16="http://schemas.microsoft.com/office/drawing/2014/main" id="{7C9B2945-5EAF-478B-9E12-FFDA889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19500"/>
            <a:ext cx="2466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磷化铟衬底</a:t>
            </a:r>
          </a:p>
        </p:txBody>
      </p:sp>
      <p:sp>
        <p:nvSpPr>
          <p:cNvPr id="17" name="P6_INP_2_BODY">
            <a:extLst xmlns:a="http://schemas.openxmlformats.org/drawingml/2006/main">
              <a:ext uri="{FF2B5EF4-FFF2-40B4-BE49-F238E27FC236}">
                <a16:creationId xmlns:a16="http://schemas.microsoft.com/office/drawing/2014/main" id="{0CAFDEE3-C072-4DB7-B0C6-2C41CCB6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52875"/>
            <a:ext cx="24669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住友约占一半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得片率决定供给</a:t>
            </a:r>
          </a:p>
        </p:txBody>
      </p:sp>
      <p:sp>
        <p:nvSpPr>
          <p:cNvPr id="18" name="P6_INP_3">
            <a:extLst xmlns:a="http://schemas.openxmlformats.org/drawingml/2006/main">
              <a:ext uri="{FF2B5EF4-FFF2-40B4-BE49-F238E27FC236}">
                <a16:creationId xmlns:a16="http://schemas.microsoft.com/office/drawing/2014/main" id="{EE691007-AA26-4B32-87E9-270DB55B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05200"/>
            <a:ext cx="2714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9" name="P6_INP_3_TITLE">
            <a:extLst xmlns:a="http://schemas.openxmlformats.org/drawingml/2006/main">
              <a:ext uri="{FF2B5EF4-FFF2-40B4-BE49-F238E27FC236}">
                <a16:creationId xmlns:a16="http://schemas.microsoft.com/office/drawing/2014/main" id="{B3253FAD-8517-40B3-8F47-0FFF4D5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19500"/>
            <a:ext cx="2371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光源 / CPO</a:t>
            </a:r>
          </a:p>
        </p:txBody>
      </p:sp>
      <p:sp>
        <p:nvSpPr>
          <p:cNvPr id="20" name="P6_INP_3_BODY">
            <a:extLst xmlns:a="http://schemas.openxmlformats.org/drawingml/2006/main">
              <a:ext uri="{FF2B5EF4-FFF2-40B4-BE49-F238E27FC236}">
                <a16:creationId xmlns:a16="http://schemas.microsoft.com/office/drawing/2014/main" id="{6CB1044F-F295-4006-B901-6FFF7786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52875"/>
            <a:ext cx="2371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1.6T命门材料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需求继续抬升</a:t>
            </a:r>
          </a:p>
        </p:txBody>
      </p:sp>
      <p:sp>
        <p:nvSpPr>
          <p:cNvPr id="21" name="P6_FOOTER_BADGE">
            <a:extLst xmlns:a="http://schemas.openxmlformats.org/drawingml/2006/main">
              <a:ext uri="{FF2B5EF4-FFF2-40B4-BE49-F238E27FC236}">
                <a16:creationId xmlns:a16="http://schemas.microsoft.com/office/drawing/2014/main" id="{FA74DB1A-ECB6-4E0E-8482-23012E27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2" name="P6_FOOTER_LABEL">
            <a:extLst xmlns:a="http://schemas.openxmlformats.org/drawingml/2006/main">
              <a:ext uri="{FF2B5EF4-FFF2-40B4-BE49-F238E27FC236}">
                <a16:creationId xmlns:a16="http://schemas.microsoft.com/office/drawing/2014/main" id="{7C7D6620-9F74-448C-A81B-6C0CE6C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6_FOOTER_TEXT">
            <a:extLst xmlns:a="http://schemas.openxmlformats.org/drawingml/2006/main">
              <a:ext uri="{FF2B5EF4-FFF2-40B4-BE49-F238E27FC236}">
                <a16:creationId xmlns:a16="http://schemas.microsoft.com/office/drawing/2014/main" id="{210F63A1-5E4A-430D-B778-FBC4AE2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规划不等于供给，中间隔着良率</a:t>
            </a:r>
          </a:p>
        </p:txBody>
      </p:sp>
      <p:sp>
        <p:nvSpPr>
          <p:cNvPr id="24" name="P6_FOOTER_LINE">
            <a:extLst xmlns:a="http://schemas.openxmlformats.org/drawingml/2006/main">
              <a:ext uri="{FF2B5EF4-FFF2-40B4-BE49-F238E27FC236}">
                <a16:creationId xmlns:a16="http://schemas.microsoft.com/office/drawing/2014/main" id="{19E3A8E7-A475-4C88-8B18-20129512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967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7_DOT">
            <a:extLst xmlns:a="http://schemas.openxmlformats.org/drawingml/2006/main">
              <a:ext uri="{FF2B5EF4-FFF2-40B4-BE49-F238E27FC236}">
                <a16:creationId xmlns:a16="http://schemas.microsoft.com/office/drawing/2014/main" id="{FCE64B84-6F68-4602-82B8-4062C89D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7_EYEBROW">
            <a:extLst xmlns:a="http://schemas.openxmlformats.org/drawingml/2006/main">
              <a:ext uri="{FF2B5EF4-FFF2-40B4-BE49-F238E27FC236}">
                <a16:creationId xmlns:a16="http://schemas.microsoft.com/office/drawing/2014/main" id="{3238066D-FD89-424C-8D35-FDBF35CE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大硅片 · 先进制程地基</a:t>
            </a:r>
          </a:p>
        </p:txBody>
      </p:sp>
      <p:sp>
        <p:nvSpPr>
          <p:cNvPr id="3" name="P7_TITLE">
            <a:extLst xmlns:a="http://schemas.openxmlformats.org/drawingml/2006/main">
              <a:ext uri="{FF2B5EF4-FFF2-40B4-BE49-F238E27FC236}">
                <a16:creationId xmlns:a16="http://schemas.microsoft.com/office/drawing/2014/main" id="{83A60123-BAF3-4E09-BECB-CF7CA5E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大硅片是地基，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先进制程差在良率</a:t>
            </a:r>
          </a:p>
        </p:txBody>
      </p:sp>
      <p:sp>
        <p:nvSpPr>
          <p:cNvPr id="4" name="P7_BULLET_MARK_1">
            <a:extLst xmlns:a="http://schemas.openxmlformats.org/drawingml/2006/main">
              <a:ext uri="{FF2B5EF4-FFF2-40B4-BE49-F238E27FC236}">
                <a16:creationId xmlns:a16="http://schemas.microsoft.com/office/drawing/2014/main" id="{8E9CF66C-88BD-4C95-9F48-E758F62B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7_BULLET_1">
            <a:extLst xmlns:a="http://schemas.openxmlformats.org/drawingml/2006/main">
              <a:ext uri="{FF2B5EF4-FFF2-40B4-BE49-F238E27FC236}">
                <a16:creationId xmlns:a16="http://schemas.microsoft.com/office/drawing/2014/main" id="{3EA17C93-464C-41FB-98B5-176646D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所有逻辑和存储芯片都生长在硅片上，没有合格大硅片，产线就是空中楼阁</a:t>
            </a:r>
          </a:p>
        </p:txBody>
      </p:sp>
      <p:sp>
        <p:nvSpPr>
          <p:cNvPr id="6" name="P7_BULLET_MARK_2">
            <a:extLst xmlns:a="http://schemas.openxmlformats.org/drawingml/2006/main">
              <a:ext uri="{FF2B5EF4-FFF2-40B4-BE49-F238E27FC236}">
                <a16:creationId xmlns:a16="http://schemas.microsoft.com/office/drawing/2014/main" id="{C2478A5D-E429-4E65-A710-95C091C9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7_BULLET_2">
            <a:extLst xmlns:a="http://schemas.openxmlformats.org/drawingml/2006/main">
              <a:ext uri="{FF2B5EF4-FFF2-40B4-BE49-F238E27FC236}">
                <a16:creationId xmlns:a16="http://schemas.microsoft.com/office/drawing/2014/main" id="{EEF16698-0799-4AF8-A1EB-4E51045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信越与胜高全球合计约51%，先进制程份额更加集中</a:t>
            </a:r>
          </a:p>
        </p:txBody>
      </p:sp>
      <p:sp>
        <p:nvSpPr>
          <p:cNvPr id="8" name="P7_BULLET_MARK_3">
            <a:extLst xmlns:a="http://schemas.openxmlformats.org/drawingml/2006/main">
              <a:ext uri="{FF2B5EF4-FFF2-40B4-BE49-F238E27FC236}">
                <a16:creationId xmlns:a16="http://schemas.microsoft.com/office/drawing/2014/main" id="{5FB30CAF-5D6C-49AB-B908-DC70BD37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7_BULLET_3">
            <a:extLst xmlns:a="http://schemas.openxmlformats.org/drawingml/2006/main">
              <a:ext uri="{FF2B5EF4-FFF2-40B4-BE49-F238E27FC236}">
                <a16:creationId xmlns:a16="http://schemas.microsoft.com/office/drawing/2014/main" id="{B1C2E0A5-EFDE-4EAC-980E-730AD98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成熟制程国产已占半壁江山，先进片仍差二三十个百分点良率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047750" y="302895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d4ec8ff8bf4901"/>
          </a:graphicData>
        </a:graphic>
      </p:graphicFrame>
      <p:sp>
        <p:nvSpPr>
          <p:cNvPr id="11" name="P7_WAFER_1">
            <a:extLst xmlns:a="http://schemas.openxmlformats.org/drawingml/2006/main">
              <a:ext uri="{FF2B5EF4-FFF2-40B4-BE49-F238E27FC236}">
                <a16:creationId xmlns:a16="http://schemas.microsoft.com/office/drawing/2014/main" id="{21E2F449-10F6-41C0-A69F-E1BF00FF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095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2" name="P7_WAFER_1_TITLE">
            <a:extLst xmlns:a="http://schemas.openxmlformats.org/drawingml/2006/main">
              <a:ext uri="{FF2B5EF4-FFF2-40B4-BE49-F238E27FC236}">
                <a16:creationId xmlns:a16="http://schemas.microsoft.com/office/drawing/2014/main" id="{9CDEEFE5-378A-4CEB-92CA-24D73B7D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成熟制程</a:t>
            </a:r>
          </a:p>
        </p:txBody>
      </p:sp>
      <p:sp>
        <p:nvSpPr>
          <p:cNvPr id="13" name="P7_WAFER_1_BODY">
            <a:extLst xmlns:a="http://schemas.openxmlformats.org/drawingml/2006/main">
              <a:ext uri="{FF2B5EF4-FFF2-40B4-BE49-F238E27FC236}">
                <a16:creationId xmlns:a16="http://schemas.microsoft.com/office/drawing/2014/main" id="{AB6E6EBB-E989-486C-9458-A78A2963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国产已占半壁江山</a:t>
            </a:r>
          </a:p>
        </p:txBody>
      </p:sp>
      <p:sp>
        <p:nvSpPr>
          <p:cNvPr id="14" name="P7_WAFER_2">
            <a:extLst xmlns:a="http://schemas.openxmlformats.org/drawingml/2006/main">
              <a:ext uri="{FF2B5EF4-FFF2-40B4-BE49-F238E27FC236}">
                <a16:creationId xmlns:a16="http://schemas.microsoft.com/office/drawing/2014/main" id="{FF29B1C7-0790-49B8-A27D-5878FEBD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095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5" name="P7_WAFER_2_TITLE">
            <a:extLst xmlns:a="http://schemas.openxmlformats.org/drawingml/2006/main">
              <a:ext uri="{FF2B5EF4-FFF2-40B4-BE49-F238E27FC236}">
                <a16:creationId xmlns:a16="http://schemas.microsoft.com/office/drawing/2014/main" id="{2EB5398A-1280-42BC-91F3-05E1FC80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先进制程</a:t>
            </a:r>
          </a:p>
        </p:txBody>
      </p:sp>
      <p:sp>
        <p:nvSpPr>
          <p:cNvPr id="16" name="P7_WAFER_2_BODY">
            <a:extLst xmlns:a="http://schemas.openxmlformats.org/drawingml/2006/main">
              <a:ext uri="{FF2B5EF4-FFF2-40B4-BE49-F238E27FC236}">
                <a16:creationId xmlns:a16="http://schemas.microsoft.com/office/drawing/2014/main" id="{1CD85E49-E1F2-4442-8FFB-CC1749B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720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良率仍差20—30个百分点</a:t>
            </a:r>
          </a:p>
        </p:txBody>
      </p:sp>
      <p:sp>
        <p:nvSpPr>
          <p:cNvPr id="17" name="P7_FOOTER_BADGE">
            <a:extLst xmlns:a="http://schemas.openxmlformats.org/drawingml/2006/main">
              <a:ext uri="{FF2B5EF4-FFF2-40B4-BE49-F238E27FC236}">
                <a16:creationId xmlns:a16="http://schemas.microsoft.com/office/drawing/2014/main" id="{DD596368-497B-49E0-A643-A720282D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8" name="P7_FOOTER_LABEL">
            <a:extLst xmlns:a="http://schemas.openxmlformats.org/drawingml/2006/main">
              <a:ext uri="{FF2B5EF4-FFF2-40B4-BE49-F238E27FC236}">
                <a16:creationId xmlns:a16="http://schemas.microsoft.com/office/drawing/2014/main" id="{1A20259A-6275-4CDA-A73C-B32062F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P7_FOOTER_TEXT">
            <a:extLst xmlns:a="http://schemas.openxmlformats.org/drawingml/2006/main">
              <a:ext uri="{FF2B5EF4-FFF2-40B4-BE49-F238E27FC236}">
                <a16:creationId xmlns:a16="http://schemas.microsoft.com/office/drawing/2014/main" id="{98003D72-BAA3-48D0-B34B-4C42E3AD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命门虽高，成熟制程国产已站稳</a:t>
            </a:r>
          </a:p>
        </p:txBody>
      </p:sp>
      <p:sp>
        <p:nvSpPr>
          <p:cNvPr id="20" name="P7_FOOTER_LINE">
            <a:extLst xmlns:a="http://schemas.openxmlformats.org/drawingml/2006/main">
              <a:ext uri="{FF2B5EF4-FFF2-40B4-BE49-F238E27FC236}">
                <a16:creationId xmlns:a16="http://schemas.microsoft.com/office/drawing/2014/main" id="{CAD5AA36-BE3D-4D32-BED9-39A6FBC1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5184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8_DOT">
            <a:extLst xmlns:a="http://schemas.openxmlformats.org/drawingml/2006/main">
              <a:ext uri="{FF2B5EF4-FFF2-40B4-BE49-F238E27FC236}">
                <a16:creationId xmlns:a16="http://schemas.microsoft.com/office/drawing/2014/main" id="{DDA3C5FA-1D40-4FDB-B25C-D80C03F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8_EYEBROW">
            <a:extLst xmlns:a="http://schemas.openxmlformats.org/drawingml/2006/main">
              <a:ext uri="{FF2B5EF4-FFF2-40B4-BE49-F238E27FC236}">
                <a16:creationId xmlns:a16="http://schemas.microsoft.com/office/drawing/2014/main" id="{C679D3F5-43DD-459C-AD71-BFC88EE2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光刻胶 · 那瓶墨水</a:t>
            </a:r>
          </a:p>
        </p:txBody>
      </p:sp>
      <p:sp>
        <p:nvSpPr>
          <p:cNvPr id="3" name="P8_TITLE">
            <a:extLst xmlns:a="http://schemas.openxmlformats.org/drawingml/2006/main">
              <a:ext uri="{FF2B5EF4-FFF2-40B4-BE49-F238E27FC236}">
                <a16:creationId xmlns:a16="http://schemas.microsoft.com/office/drawing/2014/main" id="{D21C279E-C0EC-49C0-9EC6-F36407F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那瓶墨水，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卡住整片晶圆</a:t>
            </a:r>
          </a:p>
        </p:txBody>
      </p:sp>
      <p:sp>
        <p:nvSpPr>
          <p:cNvPr id="4" name="P8_BULLET_MARK_1">
            <a:extLst xmlns:a="http://schemas.openxmlformats.org/drawingml/2006/main">
              <a:ext uri="{FF2B5EF4-FFF2-40B4-BE49-F238E27FC236}">
                <a16:creationId xmlns:a16="http://schemas.microsoft.com/office/drawing/2014/main" id="{0DD0AF68-B14B-4D11-BCFE-6D1C58A3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8_BULLET_1">
            <a:extLst xmlns:a="http://schemas.openxmlformats.org/drawingml/2006/main">
              <a:ext uri="{FF2B5EF4-FFF2-40B4-BE49-F238E27FC236}">
                <a16:creationId xmlns:a16="http://schemas.microsoft.com/office/drawing/2014/main" id="{2E05766B-DCE3-4032-B90D-B6AFFF70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光刻胶是把电路图案写进晶圆的“墨水”，每一道光刻都离不开它</a:t>
            </a:r>
          </a:p>
        </p:txBody>
      </p:sp>
      <p:sp>
        <p:nvSpPr>
          <p:cNvPr id="6" name="P8_BULLET_MARK_2">
            <a:extLst xmlns:a="http://schemas.openxmlformats.org/drawingml/2006/main">
              <a:ext uri="{FF2B5EF4-FFF2-40B4-BE49-F238E27FC236}">
                <a16:creationId xmlns:a16="http://schemas.microsoft.com/office/drawing/2014/main" id="{F4875D85-0B14-4332-BA59-8117DA5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8_BULLET_2">
            <a:extLst xmlns:a="http://schemas.openxmlformats.org/drawingml/2006/main">
              <a:ext uri="{FF2B5EF4-FFF2-40B4-BE49-F238E27FC236}">
                <a16:creationId xmlns:a16="http://schemas.microsoft.com/office/drawing/2014/main" id="{0E40BC06-1ACC-4726-A8F7-F940509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国产化率呈断崖式分层：KrF约一两成，ArF个位数，EUV接近零</a:t>
            </a:r>
          </a:p>
        </p:txBody>
      </p:sp>
      <p:sp>
        <p:nvSpPr>
          <p:cNvPr id="8" name="P8_BULLET_MARK_3">
            <a:extLst xmlns:a="http://schemas.openxmlformats.org/drawingml/2006/main">
              <a:ext uri="{FF2B5EF4-FFF2-40B4-BE49-F238E27FC236}">
                <a16:creationId xmlns:a16="http://schemas.microsoft.com/office/drawing/2014/main" id="{3D2C24F4-8F7E-4DE4-BD1E-A153F0E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8_BULLET_3">
            <a:extLst xmlns:a="http://schemas.openxmlformats.org/drawingml/2006/main">
              <a:ext uri="{FF2B5EF4-FFF2-40B4-BE49-F238E27FC236}">
                <a16:creationId xmlns:a16="http://schemas.microsoft.com/office/drawing/2014/main" id="{D23C2E17-36F5-44F4-86DC-C137E397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一片晶圆有几十道光刻，任一档断供都可能让整片无法继续加工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238250" y="3048000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9a3a3ce0d8423a"/>
          </a:graphicData>
        </a:graphic>
      </p:graphicFrame>
      <p:sp>
        <p:nvSpPr>
          <p:cNvPr id="11" name="P8_INK_CARD">
            <a:extLst xmlns:a="http://schemas.openxmlformats.org/drawingml/2006/main">
              <a:ext uri="{FF2B5EF4-FFF2-40B4-BE49-F238E27FC236}">
                <a16:creationId xmlns:a16="http://schemas.microsoft.com/office/drawing/2014/main" id="{602D9CC7-3F51-4E58-AE8F-7E6A4F9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257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2" name="P8_INK_CARD_TITLE">
            <a:extLst xmlns:a="http://schemas.openxmlformats.org/drawingml/2006/main">
              <a:ext uri="{FF2B5EF4-FFF2-40B4-BE49-F238E27FC236}">
                <a16:creationId xmlns:a16="http://schemas.microsoft.com/office/drawing/2014/main" id="{4E8C6342-F695-42AA-AAC4-FDFA9509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一瓶墨水</a:t>
            </a:r>
          </a:p>
        </p:txBody>
      </p:sp>
      <p:sp>
        <p:nvSpPr>
          <p:cNvPr id="13" name="P8_INK_CARD_BODY">
            <a:extLst xmlns:a="http://schemas.openxmlformats.org/drawingml/2006/main">
              <a:ext uri="{FF2B5EF4-FFF2-40B4-BE49-F238E27FC236}">
                <a16:creationId xmlns:a16="http://schemas.microsoft.com/office/drawing/2014/main" id="{DA8934E6-B37B-4C7B-9E4E-CA5E571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每道光刻都要用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断一档就断一道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整片晶圆走不下去</a:t>
            </a:r>
          </a:p>
        </p:txBody>
      </p:sp>
      <p:sp>
        <p:nvSpPr>
          <p:cNvPr id="14" name="P8_FOOTER_BADGE">
            <a:extLst xmlns:a="http://schemas.openxmlformats.org/drawingml/2006/main">
              <a:ext uri="{FF2B5EF4-FFF2-40B4-BE49-F238E27FC236}">
                <a16:creationId xmlns:a16="http://schemas.microsoft.com/office/drawing/2014/main" id="{1CF0F62E-729E-4010-B97C-FC0F7F8E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5" name="P8_FOOTER_LABEL">
            <a:extLst xmlns:a="http://schemas.openxmlformats.org/drawingml/2006/main">
              <a:ext uri="{FF2B5EF4-FFF2-40B4-BE49-F238E27FC236}">
                <a16:creationId xmlns:a16="http://schemas.microsoft.com/office/drawing/2014/main" id="{2A2E1CF0-0F5E-4474-AD2F-141D055C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6" name="P8_FOOTER_TEXT">
            <a:extLst xmlns:a="http://schemas.openxmlformats.org/drawingml/2006/main">
              <a:ext uri="{FF2B5EF4-FFF2-40B4-BE49-F238E27FC236}">
                <a16:creationId xmlns:a16="http://schemas.microsoft.com/office/drawing/2014/main" id="{38C52B4F-E7A7-490E-AB48-DBBAD9A6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卡住一瓶墨水，等于卡住整片晶圆</a:t>
            </a:r>
          </a:p>
        </p:txBody>
      </p:sp>
      <p:sp>
        <p:nvSpPr>
          <p:cNvPr id="17" name="P8_FOOTER_LINE">
            <a:extLst xmlns:a="http://schemas.openxmlformats.org/drawingml/2006/main">
              <a:ext uri="{FF2B5EF4-FFF2-40B4-BE49-F238E27FC236}">
                <a16:creationId xmlns:a16="http://schemas.microsoft.com/office/drawing/2014/main" id="{1E1BC79C-EA1E-42CD-84F9-256901E3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9166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9_DOT">
            <a:extLst xmlns:a="http://schemas.openxmlformats.org/drawingml/2006/main">
              <a:ext uri="{FF2B5EF4-FFF2-40B4-BE49-F238E27FC236}">
                <a16:creationId xmlns:a16="http://schemas.microsoft.com/office/drawing/2014/main" id="{19A2986B-3EB1-4B1E-9987-AFF70CC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9_EYEBROW">
            <a:extLst xmlns:a="http://schemas.openxmlformats.org/drawingml/2006/main">
              <a:ext uri="{FF2B5EF4-FFF2-40B4-BE49-F238E27FC236}">
                <a16:creationId xmlns:a16="http://schemas.microsoft.com/office/drawing/2014/main" id="{AC60866F-3631-42C5-8EB8-EE60F741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另一半牌 · 反制变量</a:t>
            </a:r>
          </a:p>
        </p:txBody>
      </p:sp>
      <p:sp>
        <p:nvSpPr>
          <p:cNvPr id="3" name="P9_TITLE">
            <a:extLst xmlns:a="http://schemas.openxmlformats.org/drawingml/2006/main">
              <a:ext uri="{FF2B5EF4-FFF2-40B4-BE49-F238E27FC236}">
                <a16:creationId xmlns:a16="http://schemas.microsoft.com/office/drawing/2014/main" id="{82DF3447-BCB1-48B6-950A-A12AB11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数完日本的卡点，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该看中国手里的牌</a:t>
            </a:r>
          </a:p>
        </p:txBody>
      </p:sp>
      <p:sp>
        <p:nvSpPr>
          <p:cNvPr id="4" name="P9_BULLET_MARK_1">
            <a:extLst xmlns:a="http://schemas.openxmlformats.org/drawingml/2006/main">
              <a:ext uri="{FF2B5EF4-FFF2-40B4-BE49-F238E27FC236}">
                <a16:creationId xmlns:a16="http://schemas.microsoft.com/office/drawing/2014/main" id="{2ADCFE05-E198-404D-97A5-6631DEE8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9_BULLET_1">
            <a:extLst xmlns:a="http://schemas.openxmlformats.org/drawingml/2006/main">
              <a:ext uri="{FF2B5EF4-FFF2-40B4-BE49-F238E27FC236}">
                <a16:creationId xmlns:a16="http://schemas.microsoft.com/office/drawing/2014/main" id="{A6820623-0391-480B-8389-A720B7DC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只数对手的强项，账就算偏了：中国手里同样存在三张反制牌</a:t>
            </a:r>
          </a:p>
        </p:txBody>
      </p:sp>
      <p:sp>
        <p:nvSpPr>
          <p:cNvPr id="6" name="P9_BULLET_MARK_2">
            <a:extLst xmlns:a="http://schemas.openxmlformats.org/drawingml/2006/main">
              <a:ext uri="{FF2B5EF4-FFF2-40B4-BE49-F238E27FC236}">
                <a16:creationId xmlns:a16="http://schemas.microsoft.com/office/drawing/2014/main" id="{8AD18E21-A2B8-43CD-A647-DCAC8ED3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9_BULLET_2">
            <a:extLst xmlns:a="http://schemas.openxmlformats.org/drawingml/2006/main">
              <a:ext uri="{FF2B5EF4-FFF2-40B4-BE49-F238E27FC236}">
                <a16:creationId xmlns:a16="http://schemas.microsoft.com/office/drawing/2014/main" id="{CB482D98-0BE8-4D7F-B378-0D3A6BC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资源端集中在中国；部分环节日企主动退出；多项传统垄断正在被国产蚕食</a:t>
            </a:r>
          </a:p>
        </p:txBody>
      </p:sp>
      <p:sp>
        <p:nvSpPr>
          <p:cNvPr id="8" name="P9_BULLET_MARK_3">
            <a:extLst xmlns:a="http://schemas.openxmlformats.org/drawingml/2006/main">
              <a:ext uri="{FF2B5EF4-FFF2-40B4-BE49-F238E27FC236}">
                <a16:creationId xmlns:a16="http://schemas.microsoft.com/office/drawing/2014/main" id="{39C55734-9CE3-4A8D-AAFC-F893CA92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9_BULLET_3">
            <a:extLst xmlns:a="http://schemas.openxmlformats.org/drawingml/2006/main">
              <a:ext uri="{FF2B5EF4-FFF2-40B4-BE49-F238E27FC236}">
                <a16:creationId xmlns:a16="http://schemas.microsoft.com/office/drawing/2014/main" id="{9E007D8A-B874-4A53-AB8B-9869872A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卡脖子只是当下的一张快照，快照会随着扩产、验证和技术路线变化</a:t>
            </a:r>
          </a:p>
        </p:txBody>
      </p:sp>
      <p:sp>
        <p:nvSpPr>
          <p:cNvPr id="10" name="P9_CN_1">
            <a:extLst xmlns:a="http://schemas.openxmlformats.org/drawingml/2006/main">
              <a:ext uri="{FF2B5EF4-FFF2-40B4-BE49-F238E27FC236}">
                <a16:creationId xmlns:a16="http://schemas.microsoft.com/office/drawing/2014/main" id="{B7C42442-0FB6-4859-877E-0CC8C614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3190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1" name="P9_CN_1_TITLE">
            <a:extLst xmlns:a="http://schemas.openxmlformats.org/drawingml/2006/main">
              <a:ext uri="{FF2B5EF4-FFF2-40B4-BE49-F238E27FC236}">
                <a16:creationId xmlns:a16="http://schemas.microsoft.com/office/drawing/2014/main" id="{A78344D1-2739-4EB4-AE82-78BA6DE2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第一张牌 · 资源</a:t>
            </a:r>
          </a:p>
        </p:txBody>
      </p:sp>
      <p:sp>
        <p:nvSpPr>
          <p:cNvPr id="12" name="P9_CN_1_BODY">
            <a:extLst xmlns:a="http://schemas.openxmlformats.org/drawingml/2006/main">
              <a:ext uri="{FF2B5EF4-FFF2-40B4-BE49-F238E27FC236}">
                <a16:creationId xmlns:a16="http://schemas.microsoft.com/office/drawing/2014/main" id="{33F06FCC-211E-4737-B65C-F20F263B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28479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稀土、镓等资源端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中国占据高份额</a:t>
            </a:r>
          </a:p>
        </p:txBody>
      </p:sp>
      <p:sp>
        <p:nvSpPr>
          <p:cNvPr id="13" name="P9_CN_2">
            <a:extLst xmlns:a="http://schemas.openxmlformats.org/drawingml/2006/main">
              <a:ext uri="{FF2B5EF4-FFF2-40B4-BE49-F238E27FC236}">
                <a16:creationId xmlns:a16="http://schemas.microsoft.com/office/drawing/2014/main" id="{11ED3ED4-3505-4AC4-9369-5A69616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3190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4" name="P9_CN_2_TITLE">
            <a:extLst xmlns:a="http://schemas.openxmlformats.org/drawingml/2006/main">
              <a:ext uri="{FF2B5EF4-FFF2-40B4-BE49-F238E27FC236}">
                <a16:creationId xmlns:a16="http://schemas.microsoft.com/office/drawing/2014/main" id="{47D10300-C809-4429-84E8-22CD5C36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第二张牌 · 退出</a:t>
            </a:r>
          </a:p>
        </p:txBody>
      </p:sp>
      <p:sp>
        <p:nvSpPr>
          <p:cNvPr id="15" name="P9_CN_2_BODY">
            <a:extLst xmlns:a="http://schemas.openxmlformats.org/drawingml/2006/main">
              <a:ext uri="{FF2B5EF4-FFF2-40B4-BE49-F238E27FC236}">
                <a16:creationId xmlns:a16="http://schemas.microsoft.com/office/drawing/2014/main" id="{F6418C9A-9B2E-4C43-9BCC-2E34993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38575"/>
            <a:ext cx="28479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部分日企主动退场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国产接住六氟化钨</a:t>
            </a:r>
          </a:p>
        </p:txBody>
      </p:sp>
      <p:sp>
        <p:nvSpPr>
          <p:cNvPr id="16" name="P9_CN_3">
            <a:extLst xmlns:a="http://schemas.openxmlformats.org/drawingml/2006/main">
              <a:ext uri="{FF2B5EF4-FFF2-40B4-BE49-F238E27FC236}">
                <a16:creationId xmlns:a16="http://schemas.microsoft.com/office/drawing/2014/main" id="{C8232E2D-AFCA-49FE-B0E6-3F078D2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90900"/>
            <a:ext cx="3190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7" name="P9_CN_3_TITLE">
            <a:extLst xmlns:a="http://schemas.openxmlformats.org/drawingml/2006/main">
              <a:ext uri="{FF2B5EF4-FFF2-40B4-BE49-F238E27FC236}">
                <a16:creationId xmlns:a16="http://schemas.microsoft.com/office/drawing/2014/main" id="{95138555-F3EA-4A5E-8BCE-E4D4555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0520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第三张牌 · 蚕食</a:t>
            </a:r>
          </a:p>
        </p:txBody>
      </p:sp>
      <p:sp>
        <p:nvSpPr>
          <p:cNvPr id="18" name="P9_CN_3_BODY">
            <a:extLst xmlns:a="http://schemas.openxmlformats.org/drawingml/2006/main">
              <a:ext uri="{FF2B5EF4-FFF2-40B4-BE49-F238E27FC236}">
                <a16:creationId xmlns:a16="http://schemas.microsoft.com/office/drawing/2014/main" id="{F4B9EAA4-3E71-42A7-8CD7-07B74E19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838575"/>
            <a:ext cx="28479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电子布、减薄机、镍粉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垄断正在被改写</a:t>
            </a:r>
          </a:p>
        </p:txBody>
      </p:sp>
      <p:sp>
        <p:nvSpPr>
          <p:cNvPr id="19" name="P9_FOOTER_BADGE">
            <a:extLst xmlns:a="http://schemas.openxmlformats.org/drawingml/2006/main">
              <a:ext uri="{FF2B5EF4-FFF2-40B4-BE49-F238E27FC236}">
                <a16:creationId xmlns:a16="http://schemas.microsoft.com/office/drawing/2014/main" id="{F87A6C40-98D7-4F98-83E6-EAAB5FB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0" name="P9_FOOTER_LABEL">
            <a:extLst xmlns:a="http://schemas.openxmlformats.org/drawingml/2006/main">
              <a:ext uri="{FF2B5EF4-FFF2-40B4-BE49-F238E27FC236}">
                <a16:creationId xmlns:a16="http://schemas.microsoft.com/office/drawing/2014/main" id="{517494BB-A623-497B-AE1A-61BDDD7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P9_FOOTER_TEXT">
            <a:extLst xmlns:a="http://schemas.openxmlformats.org/drawingml/2006/main">
              <a:ext uri="{FF2B5EF4-FFF2-40B4-BE49-F238E27FC236}">
                <a16:creationId xmlns:a16="http://schemas.microsoft.com/office/drawing/2014/main" id="{B8A7769B-99E5-4FEF-A0A1-32EF32D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卡脖子是快照，快照会变</a:t>
            </a:r>
          </a:p>
        </p:txBody>
      </p:sp>
      <p:sp>
        <p:nvSpPr>
          <p:cNvPr id="22" name="P9_FOOTER_LINE">
            <a:extLst xmlns:a="http://schemas.openxmlformats.org/drawingml/2006/main">
              <a:ext uri="{FF2B5EF4-FFF2-40B4-BE49-F238E27FC236}">
                <a16:creationId xmlns:a16="http://schemas.microsoft.com/office/drawing/2014/main" id="{4B0EFF76-A37C-473D-8A61-CCB2D807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4703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10_DOT">
            <a:extLst xmlns:a="http://schemas.openxmlformats.org/drawingml/2006/main">
              <a:ext uri="{FF2B5EF4-FFF2-40B4-BE49-F238E27FC236}">
                <a16:creationId xmlns:a16="http://schemas.microsoft.com/office/drawing/2014/main" id="{E4453FB0-3A16-4D25-8E2B-2EA6633C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0_EYEBROW">
            <a:extLst xmlns:a="http://schemas.openxmlformats.org/drawingml/2006/main">
              <a:ext uri="{FF2B5EF4-FFF2-40B4-BE49-F238E27FC236}">
                <a16:creationId xmlns:a16="http://schemas.microsoft.com/office/drawing/2014/main" id="{CC49D299-3B5A-4A94-8EEC-906ED59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三集总览 · 一张图</a:t>
            </a:r>
          </a:p>
        </p:txBody>
      </p:sp>
      <p:sp>
        <p:nvSpPr>
          <p:cNvPr id="3" name="P10_TITLE">
            <a:extLst xmlns:a="http://schemas.openxmlformats.org/drawingml/2006/main">
              <a:ext uri="{FF2B5EF4-FFF2-40B4-BE49-F238E27FC236}">
                <a16:creationId xmlns:a16="http://schemas.microsoft.com/office/drawing/2014/main" id="{624B53CC-EDEA-4DFF-83EC-0AF5CBA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三集摆进一张图，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左上无解、右上之光</a:t>
            </a:r>
          </a:p>
        </p:txBody>
      </p:sp>
      <p:sp>
        <p:nvSpPr>
          <p:cNvPr id="4" name="P10_BULLET_MARK_1">
            <a:extLst xmlns:a="http://schemas.openxmlformats.org/drawingml/2006/main">
              <a:ext uri="{FF2B5EF4-FFF2-40B4-BE49-F238E27FC236}">
                <a16:creationId xmlns:a16="http://schemas.microsoft.com/office/drawing/2014/main" id="{FE5F2AB4-FB5C-4DC8-B519-9E2D440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0_BULLET_1">
            <a:extLst xmlns:a="http://schemas.openxmlformats.org/drawingml/2006/main">
              <a:ext uri="{FF2B5EF4-FFF2-40B4-BE49-F238E27FC236}">
                <a16:creationId xmlns:a16="http://schemas.microsoft.com/office/drawing/2014/main" id="{BE8FE8E0-D48C-44A1-AE8B-10E2FBE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横轴是国产替代速度，越向右追得越快；纵轴是日本垄断度，越向上卡得越死</a:t>
            </a:r>
          </a:p>
        </p:txBody>
      </p:sp>
      <p:sp>
        <p:nvSpPr>
          <p:cNvPr id="6" name="P10_BULLET_MARK_2">
            <a:extLst xmlns:a="http://schemas.openxmlformats.org/drawingml/2006/main">
              <a:ext uri="{FF2B5EF4-FFF2-40B4-BE49-F238E27FC236}">
                <a16:creationId xmlns:a16="http://schemas.microsoft.com/office/drawing/2014/main" id="{64D8B522-727D-421A-8FF8-B8FF23B2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0_BULLET_2">
            <a:extLst xmlns:a="http://schemas.openxmlformats.org/drawingml/2006/main">
              <a:ext uri="{FF2B5EF4-FFF2-40B4-BE49-F238E27FC236}">
                <a16:creationId xmlns:a16="http://schemas.microsoft.com/office/drawing/2014/main" id="{2EE8E67E-DF61-4D89-AA65-74E060A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左上聚集ABF膜、光刻胶、涂显机、CCL、高纯红磷和织布机</a:t>
            </a:r>
          </a:p>
        </p:txBody>
      </p:sp>
      <p:sp>
        <p:nvSpPr>
          <p:cNvPr id="8" name="P10_BULLET_MARK_3">
            <a:extLst xmlns:a="http://schemas.openxmlformats.org/drawingml/2006/main">
              <a:ext uri="{FF2B5EF4-FFF2-40B4-BE49-F238E27FC236}">
                <a16:creationId xmlns:a16="http://schemas.microsoft.com/office/drawing/2014/main" id="{AB4E8234-82D0-4C65-97A5-A9D67BF3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0_BULLET_3">
            <a:extLst xmlns:a="http://schemas.openxmlformats.org/drawingml/2006/main">
              <a:ext uri="{FF2B5EF4-FFF2-40B4-BE49-F238E27FC236}">
                <a16:creationId xmlns:a16="http://schemas.microsoft.com/office/drawing/2014/main" id="{9608F498-1D41-414F-8F94-2D639313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右上聚集电子布、HVLP铜箔、减薄机和高端MLCC，测试机位于交叉点</a:t>
            </a:r>
          </a:p>
        </p:txBody>
      </p:sp>
      <p:sp>
        <p:nvSpPr>
          <p:cNvPr id="10" name="P10_X_AXIS">
            <a:extLst xmlns:a="http://schemas.openxmlformats.org/drawingml/2006/main">
              <a:ext uri="{FF2B5EF4-FFF2-40B4-BE49-F238E27FC236}">
                <a16:creationId xmlns:a16="http://schemas.microsoft.com/office/drawing/2014/main" id="{E077DAA8-A778-45DA-9185-EC1476A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24450"/>
            <a:ext cx="790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813"/>
            </a:solidFill>
            <a:prstDash val="solid"/>
          </a:ln>
        </p:spPr>
      </p:sp>
      <p:sp>
        <p:nvSpPr>
          <p:cNvPr id="11" name="P10_Y_AXIS">
            <a:extLst xmlns:a="http://schemas.openxmlformats.org/drawingml/2006/main">
              <a:ext uri="{FF2B5EF4-FFF2-40B4-BE49-F238E27FC236}">
                <a16:creationId xmlns:a16="http://schemas.microsoft.com/office/drawing/2014/main" id="{7FED5C60-4FE7-40E4-9A00-5406CE36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67075"/>
            <a:ext cx="9525" cy="185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813"/>
            </a:solidFill>
            <a:prstDash val="solid"/>
          </a:ln>
        </p:spPr>
      </p:sp>
      <p:sp>
        <p:nvSpPr>
          <p:cNvPr id="12" name="P10_MID_V">
            <a:extLst xmlns:a="http://schemas.openxmlformats.org/drawingml/2006/main">
              <a:ext uri="{FF2B5EF4-FFF2-40B4-BE49-F238E27FC236}">
                <a16:creationId xmlns:a16="http://schemas.microsoft.com/office/drawing/2014/main" id="{C525B3B2-1D97-462D-B366-B9D83549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9525" cy="185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  <p:sp>
        <p:nvSpPr>
          <p:cNvPr id="13" name="P10_MID_H">
            <a:extLst xmlns:a="http://schemas.openxmlformats.org/drawingml/2006/main">
              <a:ext uri="{FF2B5EF4-FFF2-40B4-BE49-F238E27FC236}">
                <a16:creationId xmlns:a16="http://schemas.microsoft.com/office/drawing/2014/main" id="{37B38093-5EA6-4D86-915A-87C6A8E9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91000"/>
            <a:ext cx="790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  <p:sp>
        <p:nvSpPr>
          <p:cNvPr id="14" name="P10_Y_LABEL">
            <a:extLst xmlns:a="http://schemas.openxmlformats.org/drawingml/2006/main">
              <a:ext uri="{FF2B5EF4-FFF2-40B4-BE49-F238E27FC236}">
                <a16:creationId xmlns:a16="http://schemas.microsoft.com/office/drawing/2014/main" id="{0B267D32-DE5C-410D-8DCA-F8194A78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日本垄断度 ↑</a:t>
            </a:r>
          </a:p>
        </p:txBody>
      </p:sp>
      <p:sp>
        <p:nvSpPr>
          <p:cNvPr id="15" name="P10_X_LABEL">
            <a:extLst xmlns:a="http://schemas.openxmlformats.org/drawingml/2006/main">
              <a:ext uri="{FF2B5EF4-FFF2-40B4-BE49-F238E27FC236}">
                <a16:creationId xmlns:a16="http://schemas.microsoft.com/office/drawing/2014/main" id="{D6E7DDF1-8B8D-4FC5-82FF-3B5858C9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530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国产替代速度 →</a:t>
            </a:r>
          </a:p>
        </p:txBody>
      </p:sp>
      <p:sp>
        <p:nvSpPr>
          <p:cNvPr id="16" name="P10_DOT_1">
            <a:extLst xmlns:a="http://schemas.openxmlformats.org/drawingml/2006/main">
              <a:ext uri="{FF2B5EF4-FFF2-40B4-BE49-F238E27FC236}">
                <a16:creationId xmlns:a16="http://schemas.microsoft.com/office/drawing/2014/main" id="{593C9FD3-B335-423C-BD5A-AEF09F9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P10_DOT_LABEL_1">
            <a:extLst xmlns:a="http://schemas.openxmlformats.org/drawingml/2006/main">
              <a:ext uri="{FF2B5EF4-FFF2-40B4-BE49-F238E27FC236}">
                <a16:creationId xmlns:a16="http://schemas.microsoft.com/office/drawing/2014/main" id="{3935A563-7F0B-402B-A2E6-A86CE51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99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ABF膜</a:t>
            </a:r>
          </a:p>
        </p:txBody>
      </p:sp>
      <p:sp>
        <p:nvSpPr>
          <p:cNvPr id="18" name="P10_DOT_2">
            <a:extLst xmlns:a="http://schemas.openxmlformats.org/drawingml/2006/main">
              <a:ext uri="{FF2B5EF4-FFF2-40B4-BE49-F238E27FC236}">
                <a16:creationId xmlns:a16="http://schemas.microsoft.com/office/drawing/2014/main" id="{161D9A47-D4FD-46E4-A71E-D894C4C3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P10_DOT_LABEL_2">
            <a:extLst xmlns:a="http://schemas.openxmlformats.org/drawingml/2006/main">
              <a:ext uri="{FF2B5EF4-FFF2-40B4-BE49-F238E27FC236}">
                <a16:creationId xmlns:a16="http://schemas.microsoft.com/office/drawing/2014/main" id="{5CCFAD9E-6536-48B9-A5A3-259A356F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光刻胶</a:t>
            </a:r>
          </a:p>
        </p:txBody>
      </p:sp>
      <p:sp>
        <p:nvSpPr>
          <p:cNvPr id="20" name="P10_DOT_3">
            <a:extLst xmlns:a="http://schemas.openxmlformats.org/drawingml/2006/main">
              <a:ext uri="{FF2B5EF4-FFF2-40B4-BE49-F238E27FC236}">
                <a16:creationId xmlns:a16="http://schemas.microsoft.com/office/drawing/2014/main" id="{B777A895-ECB1-4D37-88A3-0E5BE3C4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89A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P10_DOT_LABEL_3">
            <a:extLst xmlns:a="http://schemas.openxmlformats.org/drawingml/2006/main">
              <a:ext uri="{FF2B5EF4-FFF2-40B4-BE49-F238E27FC236}">
                <a16:creationId xmlns:a16="http://schemas.microsoft.com/office/drawing/2014/main" id="{90FCF7C4-0424-4A04-A949-EECB8C8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909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涂显机</a:t>
            </a:r>
          </a:p>
        </p:txBody>
      </p:sp>
      <p:sp>
        <p:nvSpPr>
          <p:cNvPr id="22" name="P10_DOT_4">
            <a:extLst xmlns:a="http://schemas.openxmlformats.org/drawingml/2006/main">
              <a:ext uri="{FF2B5EF4-FFF2-40B4-BE49-F238E27FC236}">
                <a16:creationId xmlns:a16="http://schemas.microsoft.com/office/drawing/2014/main" id="{DB59BC76-9908-499D-8AFC-38912CCF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89A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P10_DOT_LABEL_4">
            <a:extLst xmlns:a="http://schemas.openxmlformats.org/drawingml/2006/main">
              <a:ext uri="{FF2B5EF4-FFF2-40B4-BE49-F238E27FC236}">
                <a16:creationId xmlns:a16="http://schemas.microsoft.com/office/drawing/2014/main" id="{59E423E6-0D71-44C5-B63B-9D04E42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767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CCL</a:t>
            </a:r>
          </a:p>
        </p:txBody>
      </p:sp>
      <p:sp>
        <p:nvSpPr>
          <p:cNvPr id="24" name="P10_DOT_5">
            <a:extLst xmlns:a="http://schemas.openxmlformats.org/drawingml/2006/main">
              <a:ext uri="{FF2B5EF4-FFF2-40B4-BE49-F238E27FC236}">
                <a16:creationId xmlns:a16="http://schemas.microsoft.com/office/drawing/2014/main" id="{F280371E-37F4-4BA3-914B-1CEB0755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A9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P10_DOT_LABEL_5">
            <a:extLst xmlns:a="http://schemas.openxmlformats.org/drawingml/2006/main">
              <a:ext uri="{FF2B5EF4-FFF2-40B4-BE49-F238E27FC236}">
                <a16:creationId xmlns:a16="http://schemas.microsoft.com/office/drawing/2014/main" id="{1A446580-9AE8-43D0-89DC-1AA80AE5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测试机</a:t>
            </a:r>
          </a:p>
        </p:txBody>
      </p:sp>
      <p:sp>
        <p:nvSpPr>
          <p:cNvPr id="26" name="P10_DOT_6">
            <a:extLst xmlns:a="http://schemas.openxmlformats.org/drawingml/2006/main">
              <a:ext uri="{FF2B5EF4-FFF2-40B4-BE49-F238E27FC236}">
                <a16:creationId xmlns:a16="http://schemas.microsoft.com/office/drawing/2014/main" id="{7C98DF2A-6981-40C8-9AEB-F8D959DD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P10_DOT_LABEL_6">
            <a:extLst xmlns:a="http://schemas.openxmlformats.org/drawingml/2006/main">
              <a:ext uri="{FF2B5EF4-FFF2-40B4-BE49-F238E27FC236}">
                <a16:creationId xmlns:a16="http://schemas.microsoft.com/office/drawing/2014/main" id="{46408B52-4B81-445E-A2A7-D503FE8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957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HVLP铜箔</a:t>
            </a:r>
          </a:p>
        </p:txBody>
      </p:sp>
      <p:sp>
        <p:nvSpPr>
          <p:cNvPr id="28" name="P10_DOT_7">
            <a:extLst xmlns:a="http://schemas.openxmlformats.org/drawingml/2006/main">
              <a:ext uri="{FF2B5EF4-FFF2-40B4-BE49-F238E27FC236}">
                <a16:creationId xmlns:a16="http://schemas.microsoft.com/office/drawing/2014/main" id="{2A86C749-8909-43E0-9468-7D57AB2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9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P10_DOT_LABEL_7">
            <a:extLst xmlns:a="http://schemas.openxmlformats.org/drawingml/2006/main">
              <a:ext uri="{FF2B5EF4-FFF2-40B4-BE49-F238E27FC236}">
                <a16:creationId xmlns:a16="http://schemas.microsoft.com/office/drawing/2014/main" id="{6731F81E-8E4C-4E5A-A77C-0D3E1514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MLCC上游</a:t>
            </a:r>
          </a:p>
        </p:txBody>
      </p:sp>
      <p:sp>
        <p:nvSpPr>
          <p:cNvPr id="30" name="P10_DOT_8">
            <a:extLst xmlns:a="http://schemas.openxmlformats.org/drawingml/2006/main">
              <a:ext uri="{FF2B5EF4-FFF2-40B4-BE49-F238E27FC236}">
                <a16:creationId xmlns:a16="http://schemas.microsoft.com/office/drawing/2014/main" id="{9A7A4A75-853B-4FFB-B313-4FAAF94E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P10_DOT_LABEL_8">
            <a:extLst xmlns:a="http://schemas.openxmlformats.org/drawingml/2006/main">
              <a:ext uri="{FF2B5EF4-FFF2-40B4-BE49-F238E27FC236}">
                <a16:creationId xmlns:a16="http://schemas.microsoft.com/office/drawing/2014/main" id="{F29B6A92-5F03-4FA2-BDB0-FD6BE342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576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电子布</a:t>
            </a:r>
          </a:p>
        </p:txBody>
      </p:sp>
      <p:sp>
        <p:nvSpPr>
          <p:cNvPr id="32" name="P10_DOT_9">
            <a:extLst xmlns:a="http://schemas.openxmlformats.org/drawingml/2006/main">
              <a:ext uri="{FF2B5EF4-FFF2-40B4-BE49-F238E27FC236}">
                <a16:creationId xmlns:a16="http://schemas.microsoft.com/office/drawing/2014/main" id="{1101B856-B367-43CE-B74B-3E434891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90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P10_DOT_LABEL_9">
            <a:extLst xmlns:a="http://schemas.openxmlformats.org/drawingml/2006/main">
              <a:ext uri="{FF2B5EF4-FFF2-40B4-BE49-F238E27FC236}">
                <a16:creationId xmlns:a16="http://schemas.microsoft.com/office/drawing/2014/main" id="{DD9BEC87-1A5F-4891-9188-E92EED78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减薄机</a:t>
            </a:r>
          </a:p>
        </p:txBody>
      </p:sp>
      <p:sp>
        <p:nvSpPr>
          <p:cNvPr id="34" name="P10_FOOTER_BADGE">
            <a:extLst xmlns:a="http://schemas.openxmlformats.org/drawingml/2006/main">
              <a:ext uri="{FF2B5EF4-FFF2-40B4-BE49-F238E27FC236}">
                <a16:creationId xmlns:a16="http://schemas.microsoft.com/office/drawing/2014/main" id="{48C04089-38FE-4359-91CE-C588021D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35" name="P10_FOOTER_LABEL">
            <a:extLst xmlns:a="http://schemas.openxmlformats.org/drawingml/2006/main">
              <a:ext uri="{FF2B5EF4-FFF2-40B4-BE49-F238E27FC236}">
                <a16:creationId xmlns:a16="http://schemas.microsoft.com/office/drawing/2014/main" id="{4AC726DD-2C83-4E4B-A8BE-284BCB3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6" name="P10_FOOTER_TEXT">
            <a:extLst xmlns:a="http://schemas.openxmlformats.org/drawingml/2006/main">
              <a:ext uri="{FF2B5EF4-FFF2-40B4-BE49-F238E27FC236}">
                <a16:creationId xmlns:a16="http://schemas.microsoft.com/office/drawing/2014/main" id="{C1108E6A-EBA2-4E4C-A68B-C785859E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测试机，同时压在两区交叉点</a:t>
            </a:r>
          </a:p>
        </p:txBody>
      </p:sp>
      <p:sp>
        <p:nvSpPr>
          <p:cNvPr id="37" name="P10_FOOTER_LINE">
            <a:extLst xmlns:a="http://schemas.openxmlformats.org/drawingml/2006/main">
              <a:ext uri="{FF2B5EF4-FFF2-40B4-BE49-F238E27FC236}">
                <a16:creationId xmlns:a16="http://schemas.microsoft.com/office/drawing/2014/main" id="{322DD7EB-BA75-49E4-B1F2-F86FD80E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95524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11_DOT">
            <a:extLst xmlns:a="http://schemas.openxmlformats.org/drawingml/2006/main">
              <a:ext uri="{FF2B5EF4-FFF2-40B4-BE49-F238E27FC236}">
                <a16:creationId xmlns:a16="http://schemas.microsoft.com/office/drawing/2014/main" id="{E8C6F1F0-DC5F-4264-87CE-E314F65C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1_EYEBROW">
            <a:extLst xmlns:a="http://schemas.openxmlformats.org/drawingml/2006/main">
              <a:ext uri="{FF2B5EF4-FFF2-40B4-BE49-F238E27FC236}">
                <a16:creationId xmlns:a16="http://schemas.microsoft.com/office/drawing/2014/main" id="{941C09D0-F54C-4B13-93AB-E9902948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监测框架 · 分层信号</a:t>
            </a:r>
          </a:p>
        </p:txBody>
      </p:sp>
      <p:sp>
        <p:nvSpPr>
          <p:cNvPr id="3" name="P11_TITLE">
            <a:extLst xmlns:a="http://schemas.openxmlformats.org/drawingml/2006/main">
              <a:ext uri="{FF2B5EF4-FFF2-40B4-BE49-F238E27FC236}">
                <a16:creationId xmlns:a16="http://schemas.microsoft.com/office/drawing/2014/main" id="{0CE213BF-5210-48DE-916F-20604701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给一套信号分层，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带走就能盯</a:t>
            </a:r>
          </a:p>
        </p:txBody>
      </p:sp>
      <p:sp>
        <p:nvSpPr>
          <p:cNvPr id="4" name="P11_BULLET_MARK_1">
            <a:extLst xmlns:a="http://schemas.openxmlformats.org/drawingml/2006/main">
              <a:ext uri="{FF2B5EF4-FFF2-40B4-BE49-F238E27FC236}">
                <a16:creationId xmlns:a16="http://schemas.microsoft.com/office/drawing/2014/main" id="{CBCEE6FE-2F2D-42A1-A18A-616BB22B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1_BULLET_1">
            <a:extLst xmlns:a="http://schemas.openxmlformats.org/drawingml/2006/main">
              <a:ext uri="{FF2B5EF4-FFF2-40B4-BE49-F238E27FC236}">
                <a16:creationId xmlns:a16="http://schemas.microsoft.com/office/drawing/2014/main" id="{D82D93E0-B628-425C-B966-FDD8BDAE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一级信号验证国产替代是否兑现：电子布出货、TEL价格战</a:t>
            </a:r>
          </a:p>
        </p:txBody>
      </p:sp>
      <p:sp>
        <p:nvSpPr>
          <p:cNvPr id="6" name="P11_BULLET_MARK_2">
            <a:extLst xmlns:a="http://schemas.openxmlformats.org/drawingml/2006/main">
              <a:ext uri="{FF2B5EF4-FFF2-40B4-BE49-F238E27FC236}">
                <a16:creationId xmlns:a16="http://schemas.microsoft.com/office/drawing/2014/main" id="{0D3F6AB1-E417-4ECA-842A-3EC524D9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1_BULLET_2">
            <a:extLst xmlns:a="http://schemas.openxmlformats.org/drawingml/2006/main">
              <a:ext uri="{FF2B5EF4-FFF2-40B4-BE49-F238E27FC236}">
                <a16:creationId xmlns:a16="http://schemas.microsoft.com/office/drawing/2014/main" id="{5ABD0072-102F-4291-A956-321F766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二级信号确认景气：先进制程靶材耗量、HBM测试机交期</a:t>
            </a:r>
          </a:p>
        </p:txBody>
      </p:sp>
      <p:sp>
        <p:nvSpPr>
          <p:cNvPr id="8" name="P11_BULLET_MARK_3">
            <a:extLst xmlns:a="http://schemas.openxmlformats.org/drawingml/2006/main">
              <a:ext uri="{FF2B5EF4-FFF2-40B4-BE49-F238E27FC236}">
                <a16:creationId xmlns:a16="http://schemas.microsoft.com/office/drawing/2014/main" id="{8111B19A-DC59-4E2E-8C17-0D469C2D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1_BULLET_3">
            <a:extLst xmlns:a="http://schemas.openxmlformats.org/drawingml/2006/main">
              <a:ext uri="{FF2B5EF4-FFF2-40B4-BE49-F238E27FC236}">
                <a16:creationId xmlns:a16="http://schemas.microsoft.com/office/drawing/2014/main" id="{EDA0B601-EB33-4178-A001-2AF7DAE6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枢纽变量是国产光刻胶能否通过先进制程验证，2027年前仍待确认</a:t>
            </a:r>
          </a:p>
        </p:txBody>
      </p:sp>
      <p:sp>
        <p:nvSpPr>
          <p:cNvPr id="10" name="P11_SIGNAL_1">
            <a:extLst xmlns:a="http://schemas.openxmlformats.org/drawingml/2006/main">
              <a:ext uri="{FF2B5EF4-FFF2-40B4-BE49-F238E27FC236}">
                <a16:creationId xmlns:a16="http://schemas.microsoft.com/office/drawing/2014/main" id="{3ED10C25-AD1B-4D7F-B57A-5889C675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933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0EFE8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1" name="P11_SIGNAL_1_TITLE">
            <a:extLst xmlns:a="http://schemas.openxmlformats.org/drawingml/2006/main">
              <a:ext uri="{FF2B5EF4-FFF2-40B4-BE49-F238E27FC236}">
                <a16:creationId xmlns:a16="http://schemas.microsoft.com/office/drawing/2014/main" id="{C1F38F9A-C61F-41F0-A5FE-A7C4D37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81350"/>
            <a:ext cx="35471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一级信号 · 现在就盯</a:t>
            </a:r>
          </a:p>
        </p:txBody>
      </p:sp>
      <p:sp>
        <p:nvSpPr>
          <p:cNvPr id="12" name="P11_SIGNAL_1_BODY">
            <a:extLst xmlns:a="http://schemas.openxmlformats.org/drawingml/2006/main">
              <a:ext uri="{FF2B5EF4-FFF2-40B4-BE49-F238E27FC236}">
                <a16:creationId xmlns:a16="http://schemas.microsoft.com/office/drawing/2014/main" id="{280EA177-9825-4DCE-A24F-AFEBE33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3181350"/>
            <a:ext cx="514921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电子布出货、TEL价格战</a:t>
            </a:r>
          </a:p>
        </p:txBody>
      </p:sp>
      <p:sp>
        <p:nvSpPr>
          <p:cNvPr id="13" name="P11_SIGNAL_2">
            <a:extLst xmlns:a="http://schemas.openxmlformats.org/drawingml/2006/main">
              <a:ext uri="{FF2B5EF4-FFF2-40B4-BE49-F238E27FC236}">
                <a16:creationId xmlns:a16="http://schemas.microsoft.com/office/drawing/2014/main" id="{9F467E93-CA28-484C-8122-2CD51FE9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933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4" name="P11_SIGNAL_2_TITLE">
            <a:extLst xmlns:a="http://schemas.openxmlformats.org/drawingml/2006/main">
              <a:ext uri="{FF2B5EF4-FFF2-40B4-BE49-F238E27FC236}">
                <a16:creationId xmlns:a16="http://schemas.microsoft.com/office/drawing/2014/main" id="{AD90F28C-2015-44E2-B57E-925CC1F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00475"/>
            <a:ext cx="35471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二级信号 · 确认景气</a:t>
            </a:r>
          </a:p>
        </p:txBody>
      </p:sp>
      <p:sp>
        <p:nvSpPr>
          <p:cNvPr id="15" name="P11_SIGNAL_2_BODY">
            <a:extLst xmlns:a="http://schemas.openxmlformats.org/drawingml/2006/main">
              <a:ext uri="{FF2B5EF4-FFF2-40B4-BE49-F238E27FC236}">
                <a16:creationId xmlns:a16="http://schemas.microsoft.com/office/drawing/2014/main" id="{3CBB405A-B653-4F1F-A30E-8E99FC8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3800475"/>
            <a:ext cx="514921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先进制程靶材耗量、HBM测试机交期</a:t>
            </a:r>
          </a:p>
        </p:txBody>
      </p:sp>
      <p:sp>
        <p:nvSpPr>
          <p:cNvPr id="16" name="P11_SIGNAL_3">
            <a:extLst xmlns:a="http://schemas.openxmlformats.org/drawingml/2006/main">
              <a:ext uri="{FF2B5EF4-FFF2-40B4-BE49-F238E27FC236}">
                <a16:creationId xmlns:a16="http://schemas.microsoft.com/office/drawing/2014/main" id="{4B9FF319-79A6-4B78-A5BA-B65FED33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33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0EF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7" name="P11_SIGNAL_3_TITLE">
            <a:extLst xmlns:a="http://schemas.openxmlformats.org/drawingml/2006/main">
              <a:ext uri="{FF2B5EF4-FFF2-40B4-BE49-F238E27FC236}">
                <a16:creationId xmlns:a16="http://schemas.microsoft.com/office/drawing/2014/main" id="{23E16BE5-EEA6-49F9-8C5C-BEF9C77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19600"/>
            <a:ext cx="35471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风险信号 · 用来证伪</a:t>
            </a:r>
          </a:p>
        </p:txBody>
      </p:sp>
      <p:sp>
        <p:nvSpPr>
          <p:cNvPr id="18" name="P11_SIGNAL_3_BODY">
            <a:extLst xmlns:a="http://schemas.openxmlformats.org/drawingml/2006/main">
              <a:ext uri="{FF2B5EF4-FFF2-40B4-BE49-F238E27FC236}">
                <a16:creationId xmlns:a16="http://schemas.microsoft.com/office/drawing/2014/main" id="{F5B8F3C7-7782-463E-BB79-3C3C2FA6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4419600"/>
            <a:ext cx="514921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磷化铟6寸是否真正量产</a:t>
            </a:r>
          </a:p>
        </p:txBody>
      </p:sp>
      <p:sp>
        <p:nvSpPr>
          <p:cNvPr id="19" name="P11_SIGNAL_4">
            <a:extLst xmlns:a="http://schemas.openxmlformats.org/drawingml/2006/main">
              <a:ext uri="{FF2B5EF4-FFF2-40B4-BE49-F238E27FC236}">
                <a16:creationId xmlns:a16="http://schemas.microsoft.com/office/drawing/2014/main" id="{7213F609-531E-4CAA-A83B-66325871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933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F89AF"/>
            </a:solidFill>
            <a:prstDash val="solid"/>
          </a:ln>
        </p:spPr>
      </p:sp>
      <p:sp>
        <p:nvSpPr>
          <p:cNvPr id="20" name="P11_SIGNAL_4_TITLE">
            <a:extLst xmlns:a="http://schemas.openxmlformats.org/drawingml/2006/main">
              <a:ext uri="{FF2B5EF4-FFF2-40B4-BE49-F238E27FC236}">
                <a16:creationId xmlns:a16="http://schemas.microsoft.com/office/drawing/2014/main" id="{61EBCC4F-F903-401E-8818-63A7E402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38725"/>
            <a:ext cx="35471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枢纽变量 · 决定最上游</a:t>
            </a:r>
          </a:p>
        </p:txBody>
      </p:sp>
      <p:sp>
        <p:nvSpPr>
          <p:cNvPr id="21" name="P11_SIGNAL_4_BODY">
            <a:extLst xmlns:a="http://schemas.openxmlformats.org/drawingml/2006/main">
              <a:ext uri="{FF2B5EF4-FFF2-40B4-BE49-F238E27FC236}">
                <a16:creationId xmlns:a16="http://schemas.microsoft.com/office/drawing/2014/main" id="{85170422-6887-43F4-B7F3-145C09A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5038725"/>
            <a:ext cx="514921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国产光刻胶能否通过先进制程验证</a:t>
            </a:r>
          </a:p>
        </p:txBody>
      </p:sp>
      <p:sp>
        <p:nvSpPr>
          <p:cNvPr id="22" name="P11_FOOTER_BADGE">
            <a:extLst xmlns:a="http://schemas.openxmlformats.org/drawingml/2006/main">
              <a:ext uri="{FF2B5EF4-FFF2-40B4-BE49-F238E27FC236}">
                <a16:creationId xmlns:a16="http://schemas.microsoft.com/office/drawing/2014/main" id="{615B1697-5BD1-4C50-A629-35BF5CA5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3" name="P11_FOOTER_LABEL">
            <a:extLst xmlns:a="http://schemas.openxmlformats.org/drawingml/2006/main">
              <a:ext uri="{FF2B5EF4-FFF2-40B4-BE49-F238E27FC236}">
                <a16:creationId xmlns:a16="http://schemas.microsoft.com/office/drawing/2014/main" id="{7B70FC4F-4914-4E8F-A951-46F1195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P11_FOOTER_TEXT">
            <a:extLst xmlns:a="http://schemas.openxmlformats.org/drawingml/2006/main">
              <a:ext uri="{FF2B5EF4-FFF2-40B4-BE49-F238E27FC236}">
                <a16:creationId xmlns:a16="http://schemas.microsoft.com/office/drawing/2014/main" id="{534D885F-AD31-46BD-AB13-CCEAC1D0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这个变量不落地，最上游就一直无解</a:t>
            </a:r>
          </a:p>
        </p:txBody>
      </p:sp>
      <p:sp>
        <p:nvSpPr>
          <p:cNvPr id="25" name="P11_FOOTER_LINE">
            <a:extLst xmlns:a="http://schemas.openxmlformats.org/drawingml/2006/main">
              <a:ext uri="{FF2B5EF4-FFF2-40B4-BE49-F238E27FC236}">
                <a16:creationId xmlns:a16="http://schemas.microsoft.com/office/drawing/2014/main" id="{98100C7B-1A39-4C6D-AAE7-AB43BBA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7113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P12_DOT">
            <a:extLst xmlns:a="http://schemas.openxmlformats.org/drawingml/2006/main">
              <a:ext uri="{FF2B5EF4-FFF2-40B4-BE49-F238E27FC236}">
                <a16:creationId xmlns:a16="http://schemas.microsoft.com/office/drawing/2014/main" id="{9C68F760-6AF5-4955-8EF2-9141B239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2_EYEBROW">
            <a:extLst xmlns:a="http://schemas.openxmlformats.org/drawingml/2006/main">
              <a:ext uri="{FF2B5EF4-FFF2-40B4-BE49-F238E27FC236}">
                <a16:creationId xmlns:a16="http://schemas.microsoft.com/office/drawing/2014/main" id="{335715D7-5C49-4970-A5AB-CFF9B8A4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系列收束 · 两张总榜</a:t>
            </a:r>
          </a:p>
        </p:txBody>
      </p:sp>
      <p:sp>
        <p:nvSpPr>
          <p:cNvPr id="3" name="P12_TITLE">
            <a:extLst xmlns:a="http://schemas.openxmlformats.org/drawingml/2006/main">
              <a:ext uri="{FF2B5EF4-FFF2-40B4-BE49-F238E27FC236}">
                <a16:creationId xmlns:a16="http://schemas.microsoft.com/office/drawing/2014/main" id="{B138730A-66F1-4954-9D3A-B4112AB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两张总榜，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收束整个系列</a:t>
            </a:r>
          </a:p>
        </p:txBody>
      </p:sp>
      <p:sp>
        <p:nvSpPr>
          <p:cNvPr id="4" name="P12_BULLET_MARK_1">
            <a:extLst xmlns:a="http://schemas.openxmlformats.org/drawingml/2006/main">
              <a:ext uri="{FF2B5EF4-FFF2-40B4-BE49-F238E27FC236}">
                <a16:creationId xmlns:a16="http://schemas.microsoft.com/office/drawing/2014/main" id="{6F3BA200-14F7-4C1D-814D-A8B1B40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2_BULLET_1">
            <a:extLst xmlns:a="http://schemas.openxmlformats.org/drawingml/2006/main">
              <a:ext uri="{FF2B5EF4-FFF2-40B4-BE49-F238E27FC236}">
                <a16:creationId xmlns:a16="http://schemas.microsoft.com/office/drawing/2014/main" id="{986A1A83-6286-4903-9745-17848FD2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“日货无解榜”衡量命门、垄断与替代速度，ABF膜和EUV光刻胶并列第一</a:t>
            </a:r>
          </a:p>
        </p:txBody>
      </p:sp>
      <p:sp>
        <p:nvSpPr>
          <p:cNvPr id="6" name="P12_BULLET_MARK_2">
            <a:extLst xmlns:a="http://schemas.openxmlformats.org/drawingml/2006/main">
              <a:ext uri="{FF2B5EF4-FFF2-40B4-BE49-F238E27FC236}">
                <a16:creationId xmlns:a16="http://schemas.microsoft.com/office/drawing/2014/main" id="{BA0064FE-2963-4521-B05A-BD4440BE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2_BULLET_2">
            <a:extLst xmlns:a="http://schemas.openxmlformats.org/drawingml/2006/main">
              <a:ext uri="{FF2B5EF4-FFF2-40B4-BE49-F238E27FC236}">
                <a16:creationId xmlns:a16="http://schemas.microsoft.com/office/drawing/2014/main" id="{27A9BA7C-5237-48F9-A498-6A77C1A4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“国替之光榜”衡量命门、垄断与替代速度，电子布、HVLP铜箔、减薄机领先</a:t>
            </a:r>
          </a:p>
        </p:txBody>
      </p:sp>
      <p:sp>
        <p:nvSpPr>
          <p:cNvPr id="8" name="P12_BULLET_MARK_3">
            <a:extLst xmlns:a="http://schemas.openxmlformats.org/drawingml/2006/main">
              <a:ext uri="{FF2B5EF4-FFF2-40B4-BE49-F238E27FC236}">
                <a16:creationId xmlns:a16="http://schemas.microsoft.com/office/drawing/2014/main" id="{0A0E6891-2B67-416F-BE4B-C6790819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2_BULLET_3">
            <a:extLst xmlns:a="http://schemas.openxmlformats.org/drawingml/2006/main">
              <a:ext uri="{FF2B5EF4-FFF2-40B4-BE49-F238E27FC236}">
                <a16:creationId xmlns:a16="http://schemas.microsoft.com/office/drawing/2014/main" id="{E13DC300-839A-473A-AD5C-1B349917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HBM测试机同时进入两榜，是最值得长期跟踪的交叉点</a:t>
            </a:r>
          </a:p>
        </p:txBody>
      </p:sp>
      <p:sp>
        <p:nvSpPr>
          <p:cNvPr id="10" name="P12_RANK_A_CELL_0_0">
            <a:extLst xmlns:a="http://schemas.openxmlformats.org/drawingml/2006/main">
              <a:ext uri="{FF2B5EF4-FFF2-40B4-BE49-F238E27FC236}">
                <a16:creationId xmlns:a16="http://schemas.microsoft.com/office/drawing/2014/main" id="{77E9A39F-0EF4-4E2B-A3FC-2932A122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1" name="P12_RANK_A_TEXT_0_0">
            <a:extLst xmlns:a="http://schemas.openxmlformats.org/drawingml/2006/main">
              <a:ext uri="{FF2B5EF4-FFF2-40B4-BE49-F238E27FC236}">
                <a16:creationId xmlns:a16="http://schemas.microsoft.com/office/drawing/2014/main" id="{E21D2735-E547-42B0-AC43-D8EE87CA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日货无解榜</a:t>
            </a:r>
          </a:p>
        </p:txBody>
      </p:sp>
      <p:sp>
        <p:nvSpPr>
          <p:cNvPr id="12" name="P12_RANK_A_CELL_0_1">
            <a:extLst xmlns:a="http://schemas.openxmlformats.org/drawingml/2006/main">
              <a:ext uri="{FF2B5EF4-FFF2-40B4-BE49-F238E27FC236}">
                <a16:creationId xmlns:a16="http://schemas.microsoft.com/office/drawing/2014/main" id="{E8753ADC-4105-430C-A461-7114161E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7182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3" name="P12_RANK_A_TEXT_0_1">
            <a:extLst xmlns:a="http://schemas.openxmlformats.org/drawingml/2006/main">
              <a:ext uri="{FF2B5EF4-FFF2-40B4-BE49-F238E27FC236}">
                <a16:creationId xmlns:a16="http://schemas.microsoft.com/office/drawing/2014/main" id="{519BDCEA-07A9-4AED-8953-0902E312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00400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分值</a:t>
            </a:r>
          </a:p>
        </p:txBody>
      </p:sp>
      <p:sp>
        <p:nvSpPr>
          <p:cNvPr id="14" name="P12_RANK_A_CELL_1_0">
            <a:extLst xmlns:a="http://schemas.openxmlformats.org/drawingml/2006/main">
              <a:ext uri="{FF2B5EF4-FFF2-40B4-BE49-F238E27FC236}">
                <a16:creationId xmlns:a16="http://schemas.microsoft.com/office/drawing/2014/main" id="{566F2856-DA1A-419B-BEAC-8F4E1050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5" name="P12_RANK_A_TEXT_1_0">
            <a:extLst xmlns:a="http://schemas.openxmlformats.org/drawingml/2006/main">
              <a:ext uri="{FF2B5EF4-FFF2-40B4-BE49-F238E27FC236}">
                <a16:creationId xmlns:a16="http://schemas.microsoft.com/office/drawing/2014/main" id="{180F3198-ACFA-42C0-B591-B84BB36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ABF膜 / EUV光刻胶</a:t>
            </a:r>
          </a:p>
        </p:txBody>
      </p:sp>
      <p:sp>
        <p:nvSpPr>
          <p:cNvPr id="16" name="P12_RANK_A_CELL_1_1">
            <a:extLst xmlns:a="http://schemas.openxmlformats.org/drawingml/2006/main">
              <a:ext uri="{FF2B5EF4-FFF2-40B4-BE49-F238E27FC236}">
                <a16:creationId xmlns:a16="http://schemas.microsoft.com/office/drawing/2014/main" id="{F0FE5636-F518-4BAE-A020-F3EDE0C4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2425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7" name="P12_RANK_A_TEXT_1_1">
            <a:extLst xmlns:a="http://schemas.openxmlformats.org/drawingml/2006/main">
              <a:ext uri="{FF2B5EF4-FFF2-40B4-BE49-F238E27FC236}">
                <a16:creationId xmlns:a16="http://schemas.microsoft.com/office/drawing/2014/main" id="{E5394AFD-CC0D-492A-8DA8-34C39C5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52825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8" name="P12_RANK_A_CELL_2_0">
            <a:extLst xmlns:a="http://schemas.openxmlformats.org/drawingml/2006/main">
              <a:ext uri="{FF2B5EF4-FFF2-40B4-BE49-F238E27FC236}">
                <a16:creationId xmlns:a16="http://schemas.microsoft.com/office/drawing/2014/main" id="{673D0555-27A8-4F1E-9B6E-AF739F7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76675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9" name="P12_RANK_A_TEXT_2_0">
            <a:extLst xmlns:a="http://schemas.openxmlformats.org/drawingml/2006/main">
              <a:ext uri="{FF2B5EF4-FFF2-40B4-BE49-F238E27FC236}">
                <a16:creationId xmlns:a16="http://schemas.microsoft.com/office/drawing/2014/main" id="{D35C187E-9B73-4168-9A9C-1359CA99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涂显机 / 大载板CCL</a:t>
            </a:r>
          </a:p>
        </p:txBody>
      </p:sp>
      <p:sp>
        <p:nvSpPr>
          <p:cNvPr id="20" name="P12_RANK_A_CELL_2_1">
            <a:extLst xmlns:a="http://schemas.openxmlformats.org/drawingml/2006/main">
              <a:ext uri="{FF2B5EF4-FFF2-40B4-BE49-F238E27FC236}">
                <a16:creationId xmlns:a16="http://schemas.microsoft.com/office/drawing/2014/main" id="{E84F254A-D791-464C-8F3A-47E0B41C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7667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1" name="P12_RANK_A_TEXT_2_1">
            <a:extLst xmlns:a="http://schemas.openxmlformats.org/drawingml/2006/main">
              <a:ext uri="{FF2B5EF4-FFF2-40B4-BE49-F238E27FC236}">
                <a16:creationId xmlns:a16="http://schemas.microsoft.com/office/drawing/2014/main" id="{FE33D139-F90E-4B79-B3D1-1E90744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05250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2" name="P12_RANK_A_CELL_3_0">
            <a:extLst xmlns:a="http://schemas.openxmlformats.org/drawingml/2006/main">
              <a:ext uri="{FF2B5EF4-FFF2-40B4-BE49-F238E27FC236}">
                <a16:creationId xmlns:a16="http://schemas.microsoft.com/office/drawing/2014/main" id="{0F9723A0-224A-43CF-AC80-072D9BD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3" name="P12_RANK_A_TEXT_3_0">
            <a:extLst xmlns:a="http://schemas.openxmlformats.org/drawingml/2006/main">
              <a:ext uri="{FF2B5EF4-FFF2-40B4-BE49-F238E27FC236}">
                <a16:creationId xmlns:a16="http://schemas.microsoft.com/office/drawing/2014/main" id="{D447557F-33DE-4DC5-AD5D-E7E0075B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57675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高纯红磷</a:t>
            </a:r>
          </a:p>
        </p:txBody>
      </p:sp>
      <p:sp>
        <p:nvSpPr>
          <p:cNvPr id="24" name="P12_RANK_A_CELL_3_1">
            <a:extLst xmlns:a="http://schemas.openxmlformats.org/drawingml/2006/main">
              <a:ext uri="{FF2B5EF4-FFF2-40B4-BE49-F238E27FC236}">
                <a16:creationId xmlns:a16="http://schemas.microsoft.com/office/drawing/2014/main" id="{C56C169E-1F4A-4F56-BA9A-070D21A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22910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5" name="P12_RANK_A_TEXT_3_1">
            <a:extLst xmlns:a="http://schemas.openxmlformats.org/drawingml/2006/main">
              <a:ext uri="{FF2B5EF4-FFF2-40B4-BE49-F238E27FC236}">
                <a16:creationId xmlns:a16="http://schemas.microsoft.com/office/drawing/2014/main" id="{4851EE5A-CE79-40F0-AD19-12CCCAF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57675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6" name="P12_RANK_A_CELL_4_0">
            <a:extLst xmlns:a="http://schemas.openxmlformats.org/drawingml/2006/main">
              <a:ext uri="{FF2B5EF4-FFF2-40B4-BE49-F238E27FC236}">
                <a16:creationId xmlns:a16="http://schemas.microsoft.com/office/drawing/2014/main" id="{7E378A5C-765B-473D-A897-99D8F9D9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7" name="P12_RANK_A_TEXT_4_0">
            <a:extLst xmlns:a="http://schemas.openxmlformats.org/drawingml/2006/main">
              <a:ext uri="{FF2B5EF4-FFF2-40B4-BE49-F238E27FC236}">
                <a16:creationId xmlns:a16="http://schemas.microsoft.com/office/drawing/2014/main" id="{48DE8BCF-B74A-485F-B8DF-411751C9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0100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HBM测试机</a:t>
            </a:r>
          </a:p>
        </p:txBody>
      </p:sp>
      <p:sp>
        <p:nvSpPr>
          <p:cNvPr id="28" name="P12_RANK_A_CELL_4_1">
            <a:extLst xmlns:a="http://schemas.openxmlformats.org/drawingml/2006/main">
              <a:ext uri="{FF2B5EF4-FFF2-40B4-BE49-F238E27FC236}">
                <a16:creationId xmlns:a16="http://schemas.microsoft.com/office/drawing/2014/main" id="{5EBB2488-2F1F-4354-95C3-CC4118BD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58152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9" name="P12_RANK_A_TEXT_4_1">
            <a:extLst xmlns:a="http://schemas.openxmlformats.org/drawingml/2006/main">
              <a:ext uri="{FF2B5EF4-FFF2-40B4-BE49-F238E27FC236}">
                <a16:creationId xmlns:a16="http://schemas.microsoft.com/office/drawing/2014/main" id="{39D70E68-6138-40B4-89DB-678BF23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10100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0" name="P12_RANK_A_CELL_5_0">
            <a:extLst xmlns:a="http://schemas.openxmlformats.org/drawingml/2006/main">
              <a:ext uri="{FF2B5EF4-FFF2-40B4-BE49-F238E27FC236}">
                <a16:creationId xmlns:a16="http://schemas.microsoft.com/office/drawing/2014/main" id="{C462FC40-6426-495B-A798-1A5B696A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1" name="P12_RANK_A_TEXT_5_0">
            <a:extLst xmlns:a="http://schemas.openxmlformats.org/drawingml/2006/main">
              <a:ext uri="{FF2B5EF4-FFF2-40B4-BE49-F238E27FC236}">
                <a16:creationId xmlns:a16="http://schemas.microsoft.com/office/drawing/2014/main" id="{4B6FB871-AC8A-40B2-8E07-318283F1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62525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织布机 / 掩膜基板</a:t>
            </a:r>
          </a:p>
        </p:txBody>
      </p:sp>
      <p:sp>
        <p:nvSpPr>
          <p:cNvPr id="32" name="P12_RANK_A_CELL_5_1">
            <a:extLst xmlns:a="http://schemas.openxmlformats.org/drawingml/2006/main">
              <a:ext uri="{FF2B5EF4-FFF2-40B4-BE49-F238E27FC236}">
                <a16:creationId xmlns:a16="http://schemas.microsoft.com/office/drawing/2014/main" id="{F0795760-DD9D-4DFF-9BD4-ACD71793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93395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3" name="P12_RANK_A_TEXT_5_1">
            <a:extLst xmlns:a="http://schemas.openxmlformats.org/drawingml/2006/main">
              <a:ext uri="{FF2B5EF4-FFF2-40B4-BE49-F238E27FC236}">
                <a16:creationId xmlns:a16="http://schemas.microsoft.com/office/drawing/2014/main" id="{47331383-4C80-48CD-9290-911FF0A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62525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4" name="P12_RANK_B_CELL_0_0">
            <a:extLst xmlns:a="http://schemas.openxmlformats.org/drawingml/2006/main">
              <a:ext uri="{FF2B5EF4-FFF2-40B4-BE49-F238E27FC236}">
                <a16:creationId xmlns:a16="http://schemas.microsoft.com/office/drawing/2014/main" id="{C61C2FD6-6D6D-4F0B-9CE4-8C0D143F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066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5" name="P12_RANK_B_TEXT_0_0">
            <a:extLst xmlns:a="http://schemas.openxmlformats.org/drawingml/2006/main">
              <a:ext uri="{FF2B5EF4-FFF2-40B4-BE49-F238E27FC236}">
                <a16:creationId xmlns:a16="http://schemas.microsoft.com/office/drawing/2014/main" id="{A32BC376-3751-4A75-AFD6-003870B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国替之光榜</a:t>
            </a:r>
          </a:p>
        </p:txBody>
      </p:sp>
      <p:sp>
        <p:nvSpPr>
          <p:cNvPr id="36" name="P12_RANK_B_CELL_0_1">
            <a:extLst xmlns:a="http://schemas.openxmlformats.org/drawingml/2006/main">
              <a:ext uri="{FF2B5EF4-FFF2-40B4-BE49-F238E27FC236}">
                <a16:creationId xmlns:a16="http://schemas.microsoft.com/office/drawing/2014/main" id="{37EFB79A-0AD3-4B15-B2BB-A11B4582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7182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066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7" name="P12_RANK_B_TEXT_0_1">
            <a:extLst xmlns:a="http://schemas.openxmlformats.org/drawingml/2006/main">
              <a:ext uri="{FF2B5EF4-FFF2-40B4-BE49-F238E27FC236}">
                <a16:creationId xmlns:a16="http://schemas.microsoft.com/office/drawing/2014/main" id="{C2D24BF3-7351-4305-A6DF-07570097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分值</a:t>
            </a:r>
          </a:p>
        </p:txBody>
      </p:sp>
      <p:sp>
        <p:nvSpPr>
          <p:cNvPr id="38" name="P12_RANK_B_CELL_1_0">
            <a:extLst xmlns:a="http://schemas.openxmlformats.org/drawingml/2006/main">
              <a:ext uri="{FF2B5EF4-FFF2-40B4-BE49-F238E27FC236}">
                <a16:creationId xmlns:a16="http://schemas.microsoft.com/office/drawing/2014/main" id="{EA7C3E2E-293B-4453-99B5-84E94378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9" name="P12_RANK_B_TEXT_1_0">
            <a:extLst xmlns:a="http://schemas.openxmlformats.org/drawingml/2006/main">
              <a:ext uri="{FF2B5EF4-FFF2-40B4-BE49-F238E27FC236}">
                <a16:creationId xmlns:a16="http://schemas.microsoft.com/office/drawing/2014/main" id="{03818BA8-6F16-44DB-9EE0-FA3C6106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52825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电子布 / HVLP铜箔</a:t>
            </a:r>
          </a:p>
        </p:txBody>
      </p:sp>
      <p:sp>
        <p:nvSpPr>
          <p:cNvPr id="40" name="P12_RANK_B_CELL_1_1">
            <a:extLst xmlns:a="http://schemas.openxmlformats.org/drawingml/2006/main">
              <a:ext uri="{FF2B5EF4-FFF2-40B4-BE49-F238E27FC236}">
                <a16:creationId xmlns:a16="http://schemas.microsoft.com/office/drawing/2014/main" id="{C9CB4C6F-E0F8-4024-A0CD-A9A4F10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2425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41" name="P12_RANK_B_TEXT_1_1">
            <a:extLst xmlns:a="http://schemas.openxmlformats.org/drawingml/2006/main">
              <a:ext uri="{FF2B5EF4-FFF2-40B4-BE49-F238E27FC236}">
                <a16:creationId xmlns:a16="http://schemas.microsoft.com/office/drawing/2014/main" id="{41F94D3A-1C43-449D-B67E-CBA1F195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52825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2" name="P12_RANK_B_CELL_2_0">
            <a:extLst xmlns:a="http://schemas.openxmlformats.org/drawingml/2006/main">
              <a:ext uri="{FF2B5EF4-FFF2-40B4-BE49-F238E27FC236}">
                <a16:creationId xmlns:a16="http://schemas.microsoft.com/office/drawing/2014/main" id="{C6E70F56-E456-47FF-AFB1-0C9C5DF8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43" name="P12_RANK_B_TEXT_2_0">
            <a:extLst xmlns:a="http://schemas.openxmlformats.org/drawingml/2006/main">
              <a:ext uri="{FF2B5EF4-FFF2-40B4-BE49-F238E27FC236}">
                <a16:creationId xmlns:a16="http://schemas.microsoft.com/office/drawing/2014/main" id="{E9E07F60-CE85-4AA1-8A22-7D2868F3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减薄 / 划片机</a:t>
            </a:r>
          </a:p>
        </p:txBody>
      </p:sp>
      <p:sp>
        <p:nvSpPr>
          <p:cNvPr id="44" name="P12_RANK_B_CELL_2_1">
            <a:extLst xmlns:a="http://schemas.openxmlformats.org/drawingml/2006/main">
              <a:ext uri="{FF2B5EF4-FFF2-40B4-BE49-F238E27FC236}">
                <a16:creationId xmlns:a16="http://schemas.microsoft.com/office/drawing/2014/main" id="{F66BFE1D-1FC4-4A2C-9F1D-2CE81AE1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7667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45" name="P12_RANK_B_TEXT_2_1">
            <a:extLst xmlns:a="http://schemas.openxmlformats.org/drawingml/2006/main">
              <a:ext uri="{FF2B5EF4-FFF2-40B4-BE49-F238E27FC236}">
                <a16:creationId xmlns:a16="http://schemas.microsoft.com/office/drawing/2014/main" id="{3836660E-3C82-4832-9D7B-EB6DB7B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05250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6" name="P12_RANK_B_CELL_3_0">
            <a:extLst xmlns:a="http://schemas.openxmlformats.org/drawingml/2006/main">
              <a:ext uri="{FF2B5EF4-FFF2-40B4-BE49-F238E27FC236}">
                <a16:creationId xmlns:a16="http://schemas.microsoft.com/office/drawing/2014/main" id="{A5B9C405-9EC6-4FD3-851A-6ECF3DD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47" name="P12_RANK_B_TEXT_3_0">
            <a:extLst xmlns:a="http://schemas.openxmlformats.org/drawingml/2006/main">
              <a:ext uri="{FF2B5EF4-FFF2-40B4-BE49-F238E27FC236}">
                <a16:creationId xmlns:a16="http://schemas.microsoft.com/office/drawing/2014/main" id="{30A5962F-309C-4143-B419-8B463FFB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MLCC上游料</a:t>
            </a:r>
          </a:p>
        </p:txBody>
      </p:sp>
      <p:sp>
        <p:nvSpPr>
          <p:cNvPr id="48" name="P12_RANK_B_CELL_3_1">
            <a:extLst xmlns:a="http://schemas.openxmlformats.org/drawingml/2006/main">
              <a:ext uri="{FF2B5EF4-FFF2-40B4-BE49-F238E27FC236}">
                <a16:creationId xmlns:a16="http://schemas.microsoft.com/office/drawing/2014/main" id="{E1BD9F2C-7946-4D1B-8AF8-8DC1303B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2910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49" name="P12_RANK_B_TEXT_3_1">
            <a:extLst xmlns:a="http://schemas.openxmlformats.org/drawingml/2006/main">
              <a:ext uri="{FF2B5EF4-FFF2-40B4-BE49-F238E27FC236}">
                <a16:creationId xmlns:a16="http://schemas.microsoft.com/office/drawing/2014/main" id="{69BBF407-1940-4650-AB50-56BF9A47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57675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0" name="P12_RANK_B_CELL_4_0">
            <a:extLst xmlns:a="http://schemas.openxmlformats.org/drawingml/2006/main">
              <a:ext uri="{FF2B5EF4-FFF2-40B4-BE49-F238E27FC236}">
                <a16:creationId xmlns:a16="http://schemas.microsoft.com/office/drawing/2014/main" id="{1F419951-DF08-45ED-91DE-4347C633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51" name="P12_RANK_B_TEXT_4_0">
            <a:extLst xmlns:a="http://schemas.openxmlformats.org/drawingml/2006/main">
              <a:ext uri="{FF2B5EF4-FFF2-40B4-BE49-F238E27FC236}">
                <a16:creationId xmlns:a16="http://schemas.microsoft.com/office/drawing/2014/main" id="{B93C8C50-E685-4F5E-B0FB-CED3D040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高端MLCC</a:t>
            </a:r>
          </a:p>
        </p:txBody>
      </p:sp>
      <p:sp>
        <p:nvSpPr>
          <p:cNvPr id="52" name="P12_RANK_B_CELL_4_1">
            <a:extLst xmlns:a="http://schemas.openxmlformats.org/drawingml/2006/main">
              <a:ext uri="{FF2B5EF4-FFF2-40B4-BE49-F238E27FC236}">
                <a16:creationId xmlns:a16="http://schemas.microsoft.com/office/drawing/2014/main" id="{3283E510-4240-4A66-B6A6-8470051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8152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53" name="P12_RANK_B_TEXT_4_1">
            <a:extLst xmlns:a="http://schemas.openxmlformats.org/drawingml/2006/main">
              <a:ext uri="{FF2B5EF4-FFF2-40B4-BE49-F238E27FC236}">
                <a16:creationId xmlns:a16="http://schemas.microsoft.com/office/drawing/2014/main" id="{E61A17A2-2438-45C8-B7AD-920DEA0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610100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4" name="P12_RANK_B_CELL_5_0">
            <a:extLst xmlns:a="http://schemas.openxmlformats.org/drawingml/2006/main">
              <a:ext uri="{FF2B5EF4-FFF2-40B4-BE49-F238E27FC236}">
                <a16:creationId xmlns:a16="http://schemas.microsoft.com/office/drawing/2014/main" id="{05429A12-9542-4473-B6EA-5CEB998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407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55" name="P12_RANK_B_TEXT_5_0">
            <a:extLst xmlns:a="http://schemas.openxmlformats.org/drawingml/2006/main">
              <a:ext uri="{FF2B5EF4-FFF2-40B4-BE49-F238E27FC236}">
                <a16:creationId xmlns:a16="http://schemas.microsoft.com/office/drawing/2014/main" id="{FA92B118-219A-4CDE-884F-5610BEC2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62525"/>
            <a:ext cx="3886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PCB微钻头</a:t>
            </a:r>
          </a:p>
        </p:txBody>
      </p:sp>
      <p:sp>
        <p:nvSpPr>
          <p:cNvPr id="56" name="P12_RANK_B_CELL_5_1">
            <a:extLst xmlns:a="http://schemas.openxmlformats.org/drawingml/2006/main">
              <a:ext uri="{FF2B5EF4-FFF2-40B4-BE49-F238E27FC236}">
                <a16:creationId xmlns:a16="http://schemas.microsoft.com/office/drawing/2014/main" id="{3E849710-6227-4E7E-BA77-B3241CA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3395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57" name="P12_RANK_B_TEXT_5_1">
            <a:extLst xmlns:a="http://schemas.openxmlformats.org/drawingml/2006/main">
              <a:ext uri="{FF2B5EF4-FFF2-40B4-BE49-F238E27FC236}">
                <a16:creationId xmlns:a16="http://schemas.microsoft.com/office/drawing/2014/main" id="{4E81920A-A8BF-4B7C-91A1-A61C5CAC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962525"/>
            <a:ext cx="82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8" name="P12_FOOTER_BADGE">
            <a:extLst xmlns:a="http://schemas.openxmlformats.org/drawingml/2006/main">
              <a:ext uri="{FF2B5EF4-FFF2-40B4-BE49-F238E27FC236}">
                <a16:creationId xmlns:a16="http://schemas.microsoft.com/office/drawing/2014/main" id="{B5E64210-B03C-4279-9F66-D7EEBAD5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9" name="P12_FOOTER_LABEL">
            <a:extLst xmlns:a="http://schemas.openxmlformats.org/drawingml/2006/main">
              <a:ext uri="{FF2B5EF4-FFF2-40B4-BE49-F238E27FC236}">
                <a16:creationId xmlns:a16="http://schemas.microsoft.com/office/drawing/2014/main" id="{53087EEF-B8F0-4044-82BF-BB6DA2EF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60" name="P12_FOOTER_TEXT">
            <a:extLst xmlns:a="http://schemas.openxmlformats.org/drawingml/2006/main">
              <a:ext uri="{FF2B5EF4-FFF2-40B4-BE49-F238E27FC236}">
                <a16:creationId xmlns:a16="http://schemas.microsoft.com/office/drawing/2014/main" id="{8EAACCA3-024F-46EC-880C-B8370AC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把最能和最卡，分开看才不踩坑</a:t>
            </a:r>
          </a:p>
        </p:txBody>
      </p:sp>
      <p:sp>
        <p:nvSpPr>
          <p:cNvPr id="61" name="P12_FOOTER_LINE">
            <a:extLst xmlns:a="http://schemas.openxmlformats.org/drawingml/2006/main">
              <a:ext uri="{FF2B5EF4-FFF2-40B4-BE49-F238E27FC236}">
                <a16:creationId xmlns:a16="http://schemas.microsoft.com/office/drawing/2014/main" id="{E3031B46-81C4-480A-8593-7F7DB18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83568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13_DOT">
            <a:extLst xmlns:a="http://schemas.openxmlformats.org/drawingml/2006/main">
              <a:ext uri="{FF2B5EF4-FFF2-40B4-BE49-F238E27FC236}">
                <a16:creationId xmlns:a16="http://schemas.microsoft.com/office/drawing/2014/main" id="{C213869F-0EDE-41C6-AC25-807E9210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3_EYEBROW">
            <a:extLst xmlns:a="http://schemas.openxmlformats.org/drawingml/2006/main">
              <a:ext uri="{FF2B5EF4-FFF2-40B4-BE49-F238E27FC236}">
                <a16:creationId xmlns:a16="http://schemas.microsoft.com/office/drawing/2014/main" id="{F0CD4C54-93BD-4B1E-AF2B-79EEB21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日本卡脖子 · 中游一层</a:t>
            </a:r>
          </a:p>
        </p:txBody>
      </p:sp>
      <p:sp>
        <p:nvSpPr>
          <p:cNvPr id="3" name="P13_TITLE">
            <a:extLst xmlns:a="http://schemas.openxmlformats.org/drawingml/2006/main">
              <a:ext uri="{FF2B5EF4-FFF2-40B4-BE49-F238E27FC236}">
                <a16:creationId xmlns:a16="http://schemas.microsoft.com/office/drawing/2014/main" id="{71558062-1308-4560-BFD0-C222A93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接棒的Rubin，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卡在几样日本东西上</a:t>
            </a:r>
          </a:p>
        </p:txBody>
      </p:sp>
      <p:sp>
        <p:nvSpPr>
          <p:cNvPr id="4" name="P13_BULLET_MARK_1">
            <a:extLst xmlns:a="http://schemas.openxmlformats.org/drawingml/2006/main">
              <a:ext uri="{FF2B5EF4-FFF2-40B4-BE49-F238E27FC236}">
                <a16:creationId xmlns:a16="http://schemas.microsoft.com/office/drawing/2014/main" id="{47AB39CE-D5E6-4492-BAF8-A5A408F6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3_BULLET_1">
            <a:extLst xmlns:a="http://schemas.openxmlformats.org/drawingml/2006/main">
              <a:ext uri="{FF2B5EF4-FFF2-40B4-BE49-F238E27FC236}">
                <a16:creationId xmlns:a16="http://schemas.microsoft.com/office/drawing/2014/main" id="{A1E97340-AA01-406A-ACE5-90F22C60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GB300已经出货，真正悬着的是接棒、下半年上量的Rubin</a:t>
            </a:r>
          </a:p>
        </p:txBody>
      </p:sp>
      <p:sp>
        <p:nvSpPr>
          <p:cNvPr id="6" name="P13_BULLET_MARK_2">
            <a:extLst xmlns:a="http://schemas.openxmlformats.org/drawingml/2006/main">
              <a:ext uri="{FF2B5EF4-FFF2-40B4-BE49-F238E27FC236}">
                <a16:creationId xmlns:a16="http://schemas.microsoft.com/office/drawing/2014/main" id="{8BB99E20-EF8D-40CB-92E5-E25081F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3_BULLET_2">
            <a:extLst xmlns:a="http://schemas.openxmlformats.org/drawingml/2006/main">
              <a:ext uri="{FF2B5EF4-FFF2-40B4-BE49-F238E27FC236}">
                <a16:creationId xmlns:a16="http://schemas.microsoft.com/office/drawing/2014/main" id="{DEAB03DB-2621-4AA8-A569-606BED0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GPU封装ABF膜约95%来自味之素，HBM测试又高度依赖爱德万</a:t>
            </a:r>
          </a:p>
        </p:txBody>
      </p:sp>
      <p:sp>
        <p:nvSpPr>
          <p:cNvPr id="8" name="P13_BULLET_MARK_3">
            <a:extLst xmlns:a="http://schemas.openxmlformats.org/drawingml/2006/main">
              <a:ext uri="{FF2B5EF4-FFF2-40B4-BE49-F238E27FC236}">
                <a16:creationId xmlns:a16="http://schemas.microsoft.com/office/drawing/2014/main" id="{1E1927B8-0C7B-4B85-AA74-41404685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3_BULLET_3">
            <a:extLst xmlns:a="http://schemas.openxmlformats.org/drawingml/2006/main">
              <a:ext uri="{FF2B5EF4-FFF2-40B4-BE49-F238E27FC236}">
                <a16:creationId xmlns:a16="http://schemas.microsoft.com/office/drawing/2014/main" id="{7B8BF7A4-C258-498A-80D1-47B55EC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容易混淆的一点：最贵的光刻机来自荷兰ASML，并不是日本制造</a:t>
            </a:r>
          </a:p>
        </p:txBody>
      </p:sp>
      <p:sp>
        <p:nvSpPr>
          <p:cNvPr id="10" name="P13_RUBIN_1">
            <a:extLst xmlns:a="http://schemas.openxmlformats.org/drawingml/2006/main">
              <a:ext uri="{FF2B5EF4-FFF2-40B4-BE49-F238E27FC236}">
                <a16:creationId xmlns:a16="http://schemas.microsoft.com/office/drawing/2014/main" id="{29A6D7B5-3611-4322-9254-14A8227F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4095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1" name="P13_RUBIN_1_TITLE">
            <a:extLst xmlns:a="http://schemas.openxmlformats.org/drawingml/2006/main">
              <a:ext uri="{FF2B5EF4-FFF2-40B4-BE49-F238E27FC236}">
                <a16:creationId xmlns:a16="http://schemas.microsoft.com/office/drawing/2014/main" id="{3133B01E-F1EE-4F06-A508-19F4B22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封装 · ABF膜</a:t>
            </a:r>
          </a:p>
        </p:txBody>
      </p:sp>
      <p:sp>
        <p:nvSpPr>
          <p:cNvPr id="12" name="P13_RUBIN_1_BODY">
            <a:extLst xmlns:a="http://schemas.openxmlformats.org/drawingml/2006/main">
              <a:ext uri="{FF2B5EF4-FFF2-40B4-BE49-F238E27FC236}">
                <a16:creationId xmlns:a16="http://schemas.microsoft.com/office/drawing/2014/main" id="{FAFF087F-EB63-4F2B-A22E-02F223B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3752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味之素约95%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材料配方难逆向</a:t>
            </a:r>
          </a:p>
        </p:txBody>
      </p:sp>
      <p:sp>
        <p:nvSpPr>
          <p:cNvPr id="13" name="P13_RUBIN_2">
            <a:extLst xmlns:a="http://schemas.openxmlformats.org/drawingml/2006/main">
              <a:ext uri="{FF2B5EF4-FFF2-40B4-BE49-F238E27FC236}">
                <a16:creationId xmlns:a16="http://schemas.microsoft.com/office/drawing/2014/main" id="{E1A838FD-806A-4872-8677-F5DBD95A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62325"/>
            <a:ext cx="4095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4" name="P13_RUBIN_2_TITLE">
            <a:extLst xmlns:a="http://schemas.openxmlformats.org/drawingml/2006/main">
              <a:ext uri="{FF2B5EF4-FFF2-40B4-BE49-F238E27FC236}">
                <a16:creationId xmlns:a16="http://schemas.microsoft.com/office/drawing/2014/main" id="{C5A5077E-850D-4854-916F-66E7A649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7662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HBM · 测试</a:t>
            </a:r>
          </a:p>
        </p:txBody>
      </p:sp>
      <p:sp>
        <p:nvSpPr>
          <p:cNvPr id="15" name="P13_RUBIN_2_BODY">
            <a:extLst xmlns:a="http://schemas.openxmlformats.org/drawingml/2006/main">
              <a:ext uri="{FF2B5EF4-FFF2-40B4-BE49-F238E27FC236}">
                <a16:creationId xmlns:a16="http://schemas.microsoft.com/office/drawing/2014/main" id="{18060504-5E2D-4D69-9F6F-6CB0673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3752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爱德万占据高份额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设备验证周期长</a:t>
            </a:r>
          </a:p>
        </p:txBody>
      </p:sp>
      <p:sp>
        <p:nvSpPr>
          <p:cNvPr id="16" name="P13_RUBIN_NOTE">
            <a:extLst xmlns:a="http://schemas.openxmlformats.org/drawingml/2006/main">
              <a:ext uri="{FF2B5EF4-FFF2-40B4-BE49-F238E27FC236}">
                <a16:creationId xmlns:a16="http://schemas.microsoft.com/office/drawing/2014/main" id="{B0EE0923-4488-46C8-8010-CF419E2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光刻机 ≠ 日本制造｜ASML来自荷兰</a:t>
            </a:r>
          </a:p>
        </p:txBody>
      </p:sp>
      <p:sp>
        <p:nvSpPr>
          <p:cNvPr id="17" name="P13_FOOTER_BADGE">
            <a:extLst xmlns:a="http://schemas.openxmlformats.org/drawingml/2006/main">
              <a:ext uri="{FF2B5EF4-FFF2-40B4-BE49-F238E27FC236}">
                <a16:creationId xmlns:a16="http://schemas.microsoft.com/office/drawing/2014/main" id="{0F5E7E3A-A148-48D5-9A97-45A1BC2D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8" name="P13_FOOTER_LABEL">
            <a:extLst xmlns:a="http://schemas.openxmlformats.org/drawingml/2006/main">
              <a:ext uri="{FF2B5EF4-FFF2-40B4-BE49-F238E27FC236}">
                <a16:creationId xmlns:a16="http://schemas.microsoft.com/office/drawing/2014/main" id="{B9999141-DD2A-476C-86A5-439D61FA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P13_FOOTER_TEXT">
            <a:extLst xmlns:a="http://schemas.openxmlformats.org/drawingml/2006/main">
              <a:ext uri="{FF2B5EF4-FFF2-40B4-BE49-F238E27FC236}">
                <a16:creationId xmlns:a16="http://schemas.microsoft.com/office/drawing/2014/main" id="{73649AF4-4C69-4A90-B2AA-F7237FB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中游这一层，日本的墙开始变厚</a:t>
            </a:r>
          </a:p>
        </p:txBody>
      </p:sp>
      <p:sp>
        <p:nvSpPr>
          <p:cNvPr id="20" name="P13_FOOTER_LINE">
            <a:extLst xmlns:a="http://schemas.openxmlformats.org/drawingml/2006/main">
              <a:ext uri="{FF2B5EF4-FFF2-40B4-BE49-F238E27FC236}">
                <a16:creationId xmlns:a16="http://schemas.microsoft.com/office/drawing/2014/main" id="{2E807D87-C821-4819-9C58-36C8D872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59447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14_DOT">
            <a:extLst xmlns:a="http://schemas.openxmlformats.org/drawingml/2006/main">
              <a:ext uri="{FF2B5EF4-FFF2-40B4-BE49-F238E27FC236}">
                <a16:creationId xmlns:a16="http://schemas.microsoft.com/office/drawing/2014/main" id="{CD572149-35D3-4C23-B754-E0D06897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4_EYEBROW">
            <a:extLst xmlns:a="http://schemas.openxmlformats.org/drawingml/2006/main">
              <a:ext uri="{FF2B5EF4-FFF2-40B4-BE49-F238E27FC236}">
                <a16:creationId xmlns:a16="http://schemas.microsoft.com/office/drawing/2014/main" id="{E4583C8F-3E25-480F-8668-C7B0B411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减薄与划片 · 国产追赶</a:t>
            </a:r>
          </a:p>
        </p:txBody>
      </p:sp>
      <p:sp>
        <p:nvSpPr>
          <p:cNvPr id="3" name="P14_TITLE">
            <a:extLst xmlns:a="http://schemas.openxmlformats.org/drawingml/2006/main">
              <a:ext uri="{FF2B5EF4-FFF2-40B4-BE49-F238E27FC236}">
                <a16:creationId xmlns:a16="http://schemas.microsoft.com/office/drawing/2014/main" id="{C446BF04-8EA5-4922-A4E1-0F3F7AD4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减薄划片机，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中游国产追得最快的一环</a:t>
            </a:r>
          </a:p>
        </p:txBody>
      </p:sp>
      <p:sp>
        <p:nvSpPr>
          <p:cNvPr id="4" name="P14_BULLET_MARK_1">
            <a:extLst xmlns:a="http://schemas.openxmlformats.org/drawingml/2006/main">
              <a:ext uri="{FF2B5EF4-FFF2-40B4-BE49-F238E27FC236}">
                <a16:creationId xmlns:a16="http://schemas.microsoft.com/office/drawing/2014/main" id="{8916111D-BAB9-4C63-82DE-9B668BAF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4_BULLET_1">
            <a:extLst xmlns:a="http://schemas.openxmlformats.org/drawingml/2006/main">
              <a:ext uri="{FF2B5EF4-FFF2-40B4-BE49-F238E27FC236}">
                <a16:creationId xmlns:a16="http://schemas.microsoft.com/office/drawing/2014/main" id="{BBBE3B28-FBF8-4E8A-9EED-B1267805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HBM要把十几层裸die磨到几十微米，再完成高精度划片</a:t>
            </a:r>
          </a:p>
        </p:txBody>
      </p:sp>
      <p:sp>
        <p:nvSpPr>
          <p:cNvPr id="6" name="P14_BULLET_MARK_2">
            <a:extLst xmlns:a="http://schemas.openxmlformats.org/drawingml/2006/main">
              <a:ext uri="{FF2B5EF4-FFF2-40B4-BE49-F238E27FC236}">
                <a16:creationId xmlns:a16="http://schemas.microsoft.com/office/drawing/2014/main" id="{13D6366E-E83E-40C2-9B8D-A7DD4FD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4_BULLET_2">
            <a:extLst xmlns:a="http://schemas.openxmlformats.org/drawingml/2006/main">
              <a:ext uri="{FF2B5EF4-FFF2-40B4-BE49-F238E27FC236}">
                <a16:creationId xmlns:a16="http://schemas.microsoft.com/office/drawing/2014/main" id="{F93FCABD-EE08-49B1-B838-1F4A02D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高端市场长期由日本DISCO主导，AI存储起量后交期一度拖到1.5年</a:t>
            </a:r>
          </a:p>
        </p:txBody>
      </p:sp>
      <p:sp>
        <p:nvSpPr>
          <p:cNvPr id="8" name="P14_BULLET_MARK_3">
            <a:extLst xmlns:a="http://schemas.openxmlformats.org/drawingml/2006/main">
              <a:ext uri="{FF2B5EF4-FFF2-40B4-BE49-F238E27FC236}">
                <a16:creationId xmlns:a16="http://schemas.microsoft.com/office/drawing/2014/main" id="{CAF1C983-005B-4DB8-9B01-1D9BAFC7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4_BULLET_3">
            <a:extLst xmlns:a="http://schemas.openxmlformats.org/drawingml/2006/main">
              <a:ext uri="{FF2B5EF4-FFF2-40B4-BE49-F238E27FC236}">
                <a16:creationId xmlns:a16="http://schemas.microsoft.com/office/drawing/2014/main" id="{C4EE24CA-0372-4C9B-BFD6-9F7BA28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交期本身形成窗口，国产设备从几十台开始进入存储和封测线</a:t>
            </a:r>
          </a:p>
        </p:txBody>
      </p:sp>
      <p:sp>
        <p:nvSpPr>
          <p:cNvPr id="10" name="P14_EQ_ARROW_1">
            <a:extLst xmlns:a="http://schemas.openxmlformats.org/drawingml/2006/main">
              <a:ext uri="{FF2B5EF4-FFF2-40B4-BE49-F238E27FC236}">
                <a16:creationId xmlns:a16="http://schemas.microsoft.com/office/drawing/2014/main" id="{3629F436-2D75-45F2-AAF2-CA9C9A2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2432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1" name="P14_EQ_ARROW_2">
            <a:extLst xmlns:a="http://schemas.openxmlformats.org/drawingml/2006/main">
              <a:ext uri="{FF2B5EF4-FFF2-40B4-BE49-F238E27FC236}">
                <a16:creationId xmlns:a16="http://schemas.microsoft.com/office/drawing/2014/main" id="{EA8AAB07-905F-49FB-A909-5435E171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solidFill>
              <a:srgbClr val="D8D8CE"/>
            </a:solidFill>
            <a:prstDash val="solid"/>
          </a:ln>
        </p:spPr>
      </p:sp>
      <p:sp>
        <p:nvSpPr>
          <p:cNvPr id="12" name="P14_EQ_1">
            <a:extLst xmlns:a="http://schemas.openxmlformats.org/drawingml/2006/main">
              <a:ext uri="{FF2B5EF4-FFF2-40B4-BE49-F238E27FC236}">
                <a16:creationId xmlns:a16="http://schemas.microsoft.com/office/drawing/2014/main" id="{A211FB8E-BF40-4069-AA7A-F95B4211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571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3" name="P14_EQ_1_TITLE">
            <a:extLst xmlns:a="http://schemas.openxmlformats.org/drawingml/2006/main">
              <a:ext uri="{FF2B5EF4-FFF2-40B4-BE49-F238E27FC236}">
                <a16:creationId xmlns:a16="http://schemas.microsoft.com/office/drawing/2014/main" id="{6018959D-FD72-4A97-9A1A-36AC2FE3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高端设备</a:t>
            </a:r>
          </a:p>
        </p:txBody>
      </p:sp>
      <p:sp>
        <p:nvSpPr>
          <p:cNvPr id="14" name="P14_EQ_1_BODY">
            <a:extLst xmlns:a="http://schemas.openxmlformats.org/drawingml/2006/main">
              <a:ext uri="{FF2B5EF4-FFF2-40B4-BE49-F238E27FC236}">
                <a16:creationId xmlns:a16="http://schemas.microsoft.com/office/drawing/2014/main" id="{8A85147C-7509-49F3-98B7-DFFE7171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2228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DISCO长期主导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交期一度1.5年</a:t>
            </a:r>
          </a:p>
        </p:txBody>
      </p:sp>
      <p:sp>
        <p:nvSpPr>
          <p:cNvPr id="15" name="P14_EQ_2">
            <a:extLst xmlns:a="http://schemas.openxmlformats.org/drawingml/2006/main">
              <a:ext uri="{FF2B5EF4-FFF2-40B4-BE49-F238E27FC236}">
                <a16:creationId xmlns:a16="http://schemas.microsoft.com/office/drawing/2014/main" id="{81BEA3D6-D072-4C54-9258-02E7EEB4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6" name="P14_EQ_2_TITLE">
            <a:extLst xmlns:a="http://schemas.openxmlformats.org/drawingml/2006/main">
              <a:ext uri="{FF2B5EF4-FFF2-40B4-BE49-F238E27FC236}">
                <a16:creationId xmlns:a16="http://schemas.microsoft.com/office/drawing/2014/main" id="{CD6FED46-39D5-43FF-91BD-5DAC5D11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国产窗口</a:t>
            </a:r>
          </a:p>
        </p:txBody>
      </p:sp>
      <p:sp>
        <p:nvSpPr>
          <p:cNvPr id="17" name="P14_EQ_2_BODY">
            <a:extLst xmlns:a="http://schemas.openxmlformats.org/drawingml/2006/main">
              <a:ext uri="{FF2B5EF4-FFF2-40B4-BE49-F238E27FC236}">
                <a16:creationId xmlns:a16="http://schemas.microsoft.com/office/drawing/2014/main" id="{5A0C9F4F-E21D-4EC8-9602-420DBB66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71925"/>
            <a:ext cx="2419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从几十台起量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一体机进入验证</a:t>
            </a:r>
          </a:p>
        </p:txBody>
      </p:sp>
      <p:sp>
        <p:nvSpPr>
          <p:cNvPr id="18" name="P14_EQ_3">
            <a:extLst xmlns:a="http://schemas.openxmlformats.org/drawingml/2006/main">
              <a:ext uri="{FF2B5EF4-FFF2-40B4-BE49-F238E27FC236}">
                <a16:creationId xmlns:a16="http://schemas.microsoft.com/office/drawing/2014/main" id="{5832D145-081B-400D-9D9D-E390539F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9" name="P14_EQ_3_TITLE">
            <a:extLst xmlns:a="http://schemas.openxmlformats.org/drawingml/2006/main">
              <a:ext uri="{FF2B5EF4-FFF2-40B4-BE49-F238E27FC236}">
                <a16:creationId xmlns:a16="http://schemas.microsoft.com/office/drawing/2014/main" id="{BAB793DB-3473-4E18-93C8-7F4D72D7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批量进场</a:t>
            </a:r>
          </a:p>
        </p:txBody>
      </p:sp>
      <p:sp>
        <p:nvSpPr>
          <p:cNvPr id="20" name="P14_EQ_3_BODY">
            <a:extLst xmlns:a="http://schemas.openxmlformats.org/drawingml/2006/main">
              <a:ext uri="{FF2B5EF4-FFF2-40B4-BE49-F238E27FC236}">
                <a16:creationId xmlns:a16="http://schemas.microsoft.com/office/drawing/2014/main" id="{6C3F6857-4130-448B-B41A-12398E41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71925"/>
            <a:ext cx="2514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进入存储与封测线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交期变成替代机会</a:t>
            </a:r>
          </a:p>
        </p:txBody>
      </p:sp>
      <p:sp>
        <p:nvSpPr>
          <p:cNvPr id="21" name="P14_FOOTER_BADGE">
            <a:extLst xmlns:a="http://schemas.openxmlformats.org/drawingml/2006/main">
              <a:ext uri="{FF2B5EF4-FFF2-40B4-BE49-F238E27FC236}">
                <a16:creationId xmlns:a16="http://schemas.microsoft.com/office/drawing/2014/main" id="{C15C7B82-F810-46D9-8FDD-38E15A4E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2" name="P14_FOOTER_LABEL">
            <a:extLst xmlns:a="http://schemas.openxmlformats.org/drawingml/2006/main">
              <a:ext uri="{FF2B5EF4-FFF2-40B4-BE49-F238E27FC236}">
                <a16:creationId xmlns:a16="http://schemas.microsoft.com/office/drawing/2014/main" id="{6576061C-5DFF-4350-888E-A349F59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14_FOOTER_TEXT">
            <a:extLst xmlns:a="http://schemas.openxmlformats.org/drawingml/2006/main">
              <a:ext uri="{FF2B5EF4-FFF2-40B4-BE49-F238E27FC236}">
                <a16:creationId xmlns:a16="http://schemas.microsoft.com/office/drawing/2014/main" id="{3D107440-3B02-4ED1-AFB9-1D70ABF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国产正借窗口批量进场</a:t>
            </a:r>
          </a:p>
        </p:txBody>
      </p:sp>
      <p:sp>
        <p:nvSpPr>
          <p:cNvPr id="24" name="P14_FOOTER_LINE">
            <a:extLst xmlns:a="http://schemas.openxmlformats.org/drawingml/2006/main">
              <a:ext uri="{FF2B5EF4-FFF2-40B4-BE49-F238E27FC236}">
                <a16:creationId xmlns:a16="http://schemas.microsoft.com/office/drawing/2014/main" id="{1CBD53A3-773F-4F20-A236-76BE6F5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8746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15_DOT">
            <a:extLst xmlns:a="http://schemas.openxmlformats.org/drawingml/2006/main">
              <a:ext uri="{FF2B5EF4-FFF2-40B4-BE49-F238E27FC236}">
                <a16:creationId xmlns:a16="http://schemas.microsoft.com/office/drawing/2014/main" id="{AF832ABE-3536-4FAE-90D1-26040F66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5_EYEBROW">
            <a:extLst xmlns:a="http://schemas.openxmlformats.org/drawingml/2006/main">
              <a:ext uri="{FF2B5EF4-FFF2-40B4-BE49-F238E27FC236}">
                <a16:creationId xmlns:a16="http://schemas.microsoft.com/office/drawing/2014/main" id="{77856E2A-B94B-4529-9EC6-CB750F86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被低估的瓶颈 · 测试</a:t>
            </a:r>
          </a:p>
        </p:txBody>
      </p:sp>
      <p:sp>
        <p:nvSpPr>
          <p:cNvPr id="3" name="P15_TITLE">
            <a:extLst xmlns:a="http://schemas.openxmlformats.org/drawingml/2006/main">
              <a:ext uri="{FF2B5EF4-FFF2-40B4-BE49-F238E27FC236}">
                <a16:creationId xmlns:a16="http://schemas.microsoft.com/office/drawing/2014/main" id="{46F3CCEB-83B3-436D-9596-A2AF4880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测试，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AI芯片堆密度的硬约束</a:t>
            </a:r>
          </a:p>
        </p:txBody>
      </p:sp>
      <p:sp>
        <p:nvSpPr>
          <p:cNvPr id="4" name="P15_BULLET_MARK_1">
            <a:extLst xmlns:a="http://schemas.openxmlformats.org/drawingml/2006/main">
              <a:ext uri="{FF2B5EF4-FFF2-40B4-BE49-F238E27FC236}">
                <a16:creationId xmlns:a16="http://schemas.microsoft.com/office/drawing/2014/main" id="{55630000-4F0E-4A4B-9218-39CCA396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5_BULLET_1">
            <a:extLst xmlns:a="http://schemas.openxmlformats.org/drawingml/2006/main">
              <a:ext uri="{FF2B5EF4-FFF2-40B4-BE49-F238E27FC236}">
                <a16:creationId xmlns:a16="http://schemas.microsoft.com/office/drawing/2014/main" id="{B8DAA77F-EA66-4BA6-B08C-EA2E4A3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AI芯片越堆越密，每颗都要被逐层测试；HBM又是其中最难测的一类</a:t>
            </a:r>
          </a:p>
        </p:txBody>
      </p:sp>
      <p:sp>
        <p:nvSpPr>
          <p:cNvPr id="6" name="P15_BULLET_MARK_2">
            <a:extLst xmlns:a="http://schemas.openxmlformats.org/drawingml/2006/main">
              <a:ext uri="{FF2B5EF4-FFF2-40B4-BE49-F238E27FC236}">
                <a16:creationId xmlns:a16="http://schemas.microsoft.com/office/drawing/2014/main" id="{7BF8DC8D-1949-4217-91CB-A4EEE76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5_BULLET_2">
            <a:extLst xmlns:a="http://schemas.openxmlformats.org/drawingml/2006/main">
              <a:ext uri="{FF2B5EF4-FFF2-40B4-BE49-F238E27FC236}">
                <a16:creationId xmlns:a16="http://schemas.microsoft.com/office/drawing/2014/main" id="{4A3534A2-0542-4E54-A36C-46AAD5C0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测试需求由层数与单层点数相乘，层数翻倍时测试量接近翻倍</a:t>
            </a:r>
          </a:p>
        </p:txBody>
      </p:sp>
      <p:sp>
        <p:nvSpPr>
          <p:cNvPr id="8" name="P15_BULLET_MARK_3">
            <a:extLst xmlns:a="http://schemas.openxmlformats.org/drawingml/2006/main">
              <a:ext uri="{FF2B5EF4-FFF2-40B4-BE49-F238E27FC236}">
                <a16:creationId xmlns:a16="http://schemas.microsoft.com/office/drawing/2014/main" id="{BDA25128-A96A-4D98-94F2-6B1598F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5_BULLET_3">
            <a:extLst xmlns:a="http://schemas.openxmlformats.org/drawingml/2006/main">
              <a:ext uri="{FF2B5EF4-FFF2-40B4-BE49-F238E27FC236}">
                <a16:creationId xmlns:a16="http://schemas.microsoft.com/office/drawing/2014/main" id="{4083C79F-6CBA-4F7A-9AA8-6D07CFC1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HBM测试机主要由爱德万与泰瑞达供应，国产代差仍明显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143000" y="3028950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da770ff6334638"/>
          </a:graphicData>
        </a:graphic>
      </p:graphicFrame>
      <p:sp>
        <p:nvSpPr>
          <p:cNvPr id="11" name="P15_TEST_FORMULA">
            <a:extLst xmlns:a="http://schemas.openxmlformats.org/drawingml/2006/main">
              <a:ext uri="{FF2B5EF4-FFF2-40B4-BE49-F238E27FC236}">
                <a16:creationId xmlns:a16="http://schemas.microsoft.com/office/drawing/2014/main" id="{B4435571-3101-4613-8BA4-594899A5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14700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2" name="P15_TEST_FORMULA_TITLE">
            <a:extLst xmlns:a="http://schemas.openxmlformats.org/drawingml/2006/main">
              <a:ext uri="{FF2B5EF4-FFF2-40B4-BE49-F238E27FC236}">
                <a16:creationId xmlns:a16="http://schemas.microsoft.com/office/drawing/2014/main" id="{67EF9C43-B701-43EA-9E37-65659869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290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测试量 =</a:t>
            </a:r>
          </a:p>
        </p:txBody>
      </p:sp>
      <p:sp>
        <p:nvSpPr>
          <p:cNvPr id="13" name="P15_TEST_FORMULA_BODY">
            <a:extLst xmlns:a="http://schemas.openxmlformats.org/drawingml/2006/main">
              <a:ext uri="{FF2B5EF4-FFF2-40B4-BE49-F238E27FC236}">
                <a16:creationId xmlns:a16="http://schemas.microsoft.com/office/drawing/2014/main" id="{DBC51256-B212-436F-9A15-63514000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62375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层数 × 单层点数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层数翻倍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测试量接近翻倍</a:t>
            </a:r>
          </a:p>
        </p:txBody>
      </p:sp>
      <p:sp>
        <p:nvSpPr>
          <p:cNvPr id="14" name="P15_FOOTER_BADGE">
            <a:extLst xmlns:a="http://schemas.openxmlformats.org/drawingml/2006/main">
              <a:ext uri="{FF2B5EF4-FFF2-40B4-BE49-F238E27FC236}">
                <a16:creationId xmlns:a16="http://schemas.microsoft.com/office/drawing/2014/main" id="{A6AA440E-0A19-468E-ACDB-6C33F48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5" name="P15_FOOTER_LABEL">
            <a:extLst xmlns:a="http://schemas.openxmlformats.org/drawingml/2006/main">
              <a:ext uri="{FF2B5EF4-FFF2-40B4-BE49-F238E27FC236}">
                <a16:creationId xmlns:a16="http://schemas.microsoft.com/office/drawing/2014/main" id="{F2968899-143E-4708-A969-A56467A0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6" name="P15_FOOTER_TEXT">
            <a:extLst xmlns:a="http://schemas.openxmlformats.org/drawingml/2006/main">
              <a:ext uri="{FF2B5EF4-FFF2-40B4-BE49-F238E27FC236}">
                <a16:creationId xmlns:a16="http://schemas.microsoft.com/office/drawing/2014/main" id="{A0A0EF26-491A-4129-8870-98C230B1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测试，被严重低估的一道关</a:t>
            </a:r>
          </a:p>
        </p:txBody>
      </p:sp>
      <p:sp>
        <p:nvSpPr>
          <p:cNvPr id="17" name="P15_FOOTER_LINE">
            <a:extLst xmlns:a="http://schemas.openxmlformats.org/drawingml/2006/main">
              <a:ext uri="{FF2B5EF4-FFF2-40B4-BE49-F238E27FC236}">
                <a16:creationId xmlns:a16="http://schemas.microsoft.com/office/drawing/2014/main" id="{CFA795B5-2910-4FC0-8D5C-C216918B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3707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16_DOT">
            <a:extLst xmlns:a="http://schemas.openxmlformats.org/drawingml/2006/main">
              <a:ext uri="{FF2B5EF4-FFF2-40B4-BE49-F238E27FC236}">
                <a16:creationId xmlns:a16="http://schemas.microsoft.com/office/drawing/2014/main" id="{7D715E04-958C-4195-8F6A-851C52C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6_EYEBROW">
            <a:extLst xmlns:a="http://schemas.openxmlformats.org/drawingml/2006/main">
              <a:ext uri="{FF2B5EF4-FFF2-40B4-BE49-F238E27FC236}">
                <a16:creationId xmlns:a16="http://schemas.microsoft.com/office/drawing/2014/main" id="{A8E530F4-297A-411F-8CCE-3513FF19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涂胶显影 · 一家近九成</a:t>
            </a:r>
          </a:p>
        </p:txBody>
      </p:sp>
      <p:sp>
        <p:nvSpPr>
          <p:cNvPr id="3" name="P16_TITLE">
            <a:extLst xmlns:a="http://schemas.openxmlformats.org/drawingml/2006/main">
              <a:ext uri="{FF2B5EF4-FFF2-40B4-BE49-F238E27FC236}">
                <a16:creationId xmlns:a16="http://schemas.microsoft.com/office/drawing/2014/main" id="{23E3301F-AC55-44FA-8F0A-70BBF11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涂胶显影机，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国产刚破门未放量</a:t>
            </a:r>
          </a:p>
        </p:txBody>
      </p:sp>
      <p:sp>
        <p:nvSpPr>
          <p:cNvPr id="4" name="P16_BULLET_MARK_1">
            <a:extLst xmlns:a="http://schemas.openxmlformats.org/drawingml/2006/main">
              <a:ext uri="{FF2B5EF4-FFF2-40B4-BE49-F238E27FC236}">
                <a16:creationId xmlns:a16="http://schemas.microsoft.com/office/drawing/2014/main" id="{4CA07C39-7866-4C40-9F57-8593B80B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6_BULLET_1">
            <a:extLst xmlns:a="http://schemas.openxmlformats.org/drawingml/2006/main">
              <a:ext uri="{FF2B5EF4-FFF2-40B4-BE49-F238E27FC236}">
                <a16:creationId xmlns:a16="http://schemas.microsoft.com/office/drawing/2014/main" id="{B6681087-13E2-4CCC-BC07-CF97F56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光刻前涂胶、光刻后显影由同一台设备完成，必须与扫描机严丝合缝联调</a:t>
            </a:r>
          </a:p>
        </p:txBody>
      </p:sp>
      <p:sp>
        <p:nvSpPr>
          <p:cNvPr id="6" name="P16_BULLET_MARK_2">
            <a:extLst xmlns:a="http://schemas.openxmlformats.org/drawingml/2006/main">
              <a:ext uri="{FF2B5EF4-FFF2-40B4-BE49-F238E27FC236}">
                <a16:creationId xmlns:a16="http://schemas.microsoft.com/office/drawing/2014/main" id="{EEF4985F-BFCA-4082-9613-F742827A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6_BULLET_2">
            <a:extLst xmlns:a="http://schemas.openxmlformats.org/drawingml/2006/main">
              <a:ext uri="{FF2B5EF4-FFF2-40B4-BE49-F238E27FC236}">
                <a16:creationId xmlns:a16="http://schemas.microsoft.com/office/drawing/2014/main" id="{46951EC0-1171-42E0-950B-A56AF7D0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东京电子TEL在高端市场占比接近九成，是中游卡得最死的一环</a:t>
            </a:r>
          </a:p>
        </p:txBody>
      </p:sp>
      <p:sp>
        <p:nvSpPr>
          <p:cNvPr id="8" name="P16_BULLET_MARK_3">
            <a:extLst xmlns:a="http://schemas.openxmlformats.org/drawingml/2006/main">
              <a:ext uri="{FF2B5EF4-FFF2-40B4-BE49-F238E27FC236}">
                <a16:creationId xmlns:a16="http://schemas.microsoft.com/office/drawing/2014/main" id="{FD556C8B-763B-4BF6-BCF7-E68A58C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6_BULLET_3">
            <a:extLst xmlns:a="http://schemas.openxmlformats.org/drawingml/2006/main">
              <a:ext uri="{FF2B5EF4-FFF2-40B4-BE49-F238E27FC236}">
                <a16:creationId xmlns:a16="http://schemas.microsoft.com/office/drawing/2014/main" id="{8D170601-CC41-4011-A9F6-24CAF6DA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国产前道机已经进线但尚未放量，TEL同时用价格战压缩验证窗口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047750" y="304800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de037147144b0"/>
          </a:graphicData>
        </a:graphic>
      </p:graphicFrame>
      <p:sp>
        <p:nvSpPr>
          <p:cNvPr id="11" name="P16_TEL_1">
            <a:extLst xmlns:a="http://schemas.openxmlformats.org/drawingml/2006/main">
              <a:ext uri="{FF2B5EF4-FFF2-40B4-BE49-F238E27FC236}">
                <a16:creationId xmlns:a16="http://schemas.microsoft.com/office/drawing/2014/main" id="{375F6E62-86CD-401B-9E67-458C1568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095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2" name="P16_TEL_1_TITLE">
            <a:extLst xmlns:a="http://schemas.openxmlformats.org/drawingml/2006/main">
              <a:ext uri="{FF2B5EF4-FFF2-40B4-BE49-F238E27FC236}">
                <a16:creationId xmlns:a16="http://schemas.microsoft.com/office/drawing/2014/main" id="{7E0FB899-A4BC-41FA-B21D-E58FEDF7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壁垒不只在设备</a:t>
            </a:r>
          </a:p>
        </p:txBody>
      </p:sp>
      <p:sp>
        <p:nvSpPr>
          <p:cNvPr id="13" name="P16_TEL_1_BODY">
            <a:extLst xmlns:a="http://schemas.openxmlformats.org/drawingml/2006/main">
              <a:ext uri="{FF2B5EF4-FFF2-40B4-BE49-F238E27FC236}">
                <a16:creationId xmlns:a16="http://schemas.microsoft.com/office/drawing/2014/main" id="{E419156E-2B12-4001-BA8B-54096D32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67125"/>
            <a:ext cx="3752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还在与扫描机联调认证</a:t>
            </a:r>
          </a:p>
        </p:txBody>
      </p:sp>
      <p:sp>
        <p:nvSpPr>
          <p:cNvPr id="14" name="P16_TEL_2">
            <a:extLst xmlns:a="http://schemas.openxmlformats.org/drawingml/2006/main">
              <a:ext uri="{FF2B5EF4-FFF2-40B4-BE49-F238E27FC236}">
                <a16:creationId xmlns:a16="http://schemas.microsoft.com/office/drawing/2014/main" id="{F80F11A5-2083-4455-813E-8BD09A98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095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5" name="P16_TEL_2_TITLE">
            <a:extLst xmlns:a="http://schemas.openxmlformats.org/drawingml/2006/main">
              <a:ext uri="{FF2B5EF4-FFF2-40B4-BE49-F238E27FC236}">
                <a16:creationId xmlns:a16="http://schemas.microsoft.com/office/drawing/2014/main" id="{739E3BC8-77B3-4741-8824-41971909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国产刚破门</a:t>
            </a:r>
          </a:p>
        </p:txBody>
      </p:sp>
      <p:sp>
        <p:nvSpPr>
          <p:cNvPr id="16" name="P16_TEL_2_BODY">
            <a:extLst xmlns:a="http://schemas.openxmlformats.org/drawingml/2006/main">
              <a:ext uri="{FF2B5EF4-FFF2-40B4-BE49-F238E27FC236}">
                <a16:creationId xmlns:a16="http://schemas.microsoft.com/office/drawing/2014/main" id="{5428DA13-55EF-4DB1-8226-6B80085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72025"/>
            <a:ext cx="3752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前道机已进线，但尚未放量</a:t>
            </a:r>
          </a:p>
        </p:txBody>
      </p:sp>
      <p:sp>
        <p:nvSpPr>
          <p:cNvPr id="17" name="P16_FOOTER_BADGE">
            <a:extLst xmlns:a="http://schemas.openxmlformats.org/drawingml/2006/main">
              <a:ext uri="{FF2B5EF4-FFF2-40B4-BE49-F238E27FC236}">
                <a16:creationId xmlns:a16="http://schemas.microsoft.com/office/drawing/2014/main" id="{C5AECD69-0144-4BD4-84D1-8922B5DB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8" name="P16_FOOTER_LABEL">
            <a:extLst xmlns:a="http://schemas.openxmlformats.org/drawingml/2006/main">
              <a:ext uri="{FF2B5EF4-FFF2-40B4-BE49-F238E27FC236}">
                <a16:creationId xmlns:a16="http://schemas.microsoft.com/office/drawing/2014/main" id="{F0E09E2A-2211-493F-BF5A-0A33D881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P16_FOOTER_TEXT">
            <a:extLst xmlns:a="http://schemas.openxmlformats.org/drawingml/2006/main">
              <a:ext uri="{FF2B5EF4-FFF2-40B4-BE49-F238E27FC236}">
                <a16:creationId xmlns:a16="http://schemas.microsoft.com/office/drawing/2014/main" id="{55251FAF-F996-4E11-A775-7D5138B3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卡得最死的一环，国产刚破门未放量</a:t>
            </a:r>
          </a:p>
        </p:txBody>
      </p:sp>
      <p:sp>
        <p:nvSpPr>
          <p:cNvPr id="20" name="P16_FOOTER_LINE">
            <a:extLst xmlns:a="http://schemas.openxmlformats.org/drawingml/2006/main">
              <a:ext uri="{FF2B5EF4-FFF2-40B4-BE49-F238E27FC236}">
                <a16:creationId xmlns:a16="http://schemas.microsoft.com/office/drawing/2014/main" id="{D167368D-ED3B-42FC-8ED6-B543E1C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3068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17_DOT">
            <a:extLst xmlns:a="http://schemas.openxmlformats.org/drawingml/2006/main">
              <a:ext uri="{FF2B5EF4-FFF2-40B4-BE49-F238E27FC236}">
                <a16:creationId xmlns:a16="http://schemas.microsoft.com/office/drawing/2014/main" id="{E1A18B2D-443D-4CC3-BCA1-C729DA2A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7_EYEBROW">
            <a:extLst xmlns:a="http://schemas.openxmlformats.org/drawingml/2006/main">
              <a:ext uri="{FF2B5EF4-FFF2-40B4-BE49-F238E27FC236}">
                <a16:creationId xmlns:a16="http://schemas.microsoft.com/office/drawing/2014/main" id="{B15926DA-7B91-4E97-8FCA-705BE38D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清洗与量测 · 分前后道</a:t>
            </a:r>
          </a:p>
        </p:txBody>
      </p:sp>
      <p:sp>
        <p:nvSpPr>
          <p:cNvPr id="3" name="P17_TITLE">
            <a:extLst xmlns:a="http://schemas.openxmlformats.org/drawingml/2006/main">
              <a:ext uri="{FF2B5EF4-FFF2-40B4-BE49-F238E27FC236}">
                <a16:creationId xmlns:a16="http://schemas.microsoft.com/office/drawing/2014/main" id="{383E8BE2-5D13-4312-9AC7-23007AEE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清洗别笼统，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真卡前道硫酸和量测眼睛</a:t>
            </a:r>
          </a:p>
        </p:txBody>
      </p:sp>
      <p:sp>
        <p:nvSpPr>
          <p:cNvPr id="4" name="P17_BULLET_MARK_1">
            <a:extLst xmlns:a="http://schemas.openxmlformats.org/drawingml/2006/main">
              <a:ext uri="{FF2B5EF4-FFF2-40B4-BE49-F238E27FC236}">
                <a16:creationId xmlns:a16="http://schemas.microsoft.com/office/drawing/2014/main" id="{B1401394-755B-4314-BA85-4FE7E79C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7_BULLET_1">
            <a:extLst xmlns:a="http://schemas.openxmlformats.org/drawingml/2006/main">
              <a:ext uri="{FF2B5EF4-FFF2-40B4-BE49-F238E27FC236}">
                <a16:creationId xmlns:a16="http://schemas.microsoft.com/office/drawing/2014/main" id="{95844BA4-2E3E-416A-AFE0-25F356E1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清洗不能笼统看：后道国产基本拿下，前道接触最敏感的栅极和沟道</a:t>
            </a:r>
          </a:p>
        </p:txBody>
      </p:sp>
      <p:sp>
        <p:nvSpPr>
          <p:cNvPr id="6" name="P17_BULLET_MARK_2">
            <a:extLst xmlns:a="http://schemas.openxmlformats.org/drawingml/2006/main">
              <a:ext uri="{FF2B5EF4-FFF2-40B4-BE49-F238E27FC236}">
                <a16:creationId xmlns:a16="http://schemas.microsoft.com/office/drawing/2014/main" id="{8CFCEE3B-1C9E-4F4F-A8E7-20F0084D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7_BULLET_2">
            <a:extLst xmlns:a="http://schemas.openxmlformats.org/drawingml/2006/main">
              <a:ext uri="{FF2B5EF4-FFF2-40B4-BE49-F238E27FC236}">
                <a16:creationId xmlns:a16="http://schemas.microsoft.com/office/drawing/2014/main" id="{FFAB2B80-E39E-4D03-B583-C8B1E59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前道SPM硫酸清洗日系约60%，CD-SEM量测中日立约65%</a:t>
            </a:r>
          </a:p>
        </p:txBody>
      </p:sp>
      <p:sp>
        <p:nvSpPr>
          <p:cNvPr id="8" name="P17_BULLET_MARK_3">
            <a:extLst xmlns:a="http://schemas.openxmlformats.org/drawingml/2006/main">
              <a:ext uri="{FF2B5EF4-FFF2-40B4-BE49-F238E27FC236}">
                <a16:creationId xmlns:a16="http://schemas.microsoft.com/office/drawing/2014/main" id="{99627009-9A0C-4974-AA3C-F59CE88C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7_BULLET_3">
            <a:extLst xmlns:a="http://schemas.openxmlformats.org/drawingml/2006/main">
              <a:ext uri="{FF2B5EF4-FFF2-40B4-BE49-F238E27FC236}">
                <a16:creationId xmlns:a16="http://schemas.microsoft.com/office/drawing/2014/main" id="{36A9933F-A049-4E90-849C-B80340AD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前道验证最保守；量测设备又是控制关键尺寸的“眼睛”</a:t>
            </a:r>
          </a:p>
        </p:txBody>
      </p:sp>
      <p:sp>
        <p:nvSpPr>
          <p:cNvPr id="10" name="P17_FRONT_TABLE_CELL_0_0">
            <a:extLst xmlns:a="http://schemas.openxmlformats.org/drawingml/2006/main">
              <a:ext uri="{FF2B5EF4-FFF2-40B4-BE49-F238E27FC236}">
                <a16:creationId xmlns:a16="http://schemas.microsoft.com/office/drawing/2014/main" id="{2D9851EC-9324-430F-A06B-A501D4B5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382336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1" name="P17_FRONT_TABLE_TEXT_0_0">
            <a:extLst xmlns:a="http://schemas.openxmlformats.org/drawingml/2006/main">
              <a:ext uri="{FF2B5EF4-FFF2-40B4-BE49-F238E27FC236}">
                <a16:creationId xmlns:a16="http://schemas.microsoft.com/office/drawing/2014/main" id="{641705E8-D27E-4B1C-A023-7EFE34EB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363286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卡点</a:t>
            </a:r>
          </a:p>
        </p:txBody>
      </p:sp>
      <p:sp>
        <p:nvSpPr>
          <p:cNvPr id="12" name="P17_FRONT_TABLE_CELL_0_1">
            <a:extLst xmlns:a="http://schemas.openxmlformats.org/drawingml/2006/main">
              <a:ext uri="{FF2B5EF4-FFF2-40B4-BE49-F238E27FC236}">
                <a16:creationId xmlns:a16="http://schemas.microsoft.com/office/drawing/2014/main" id="{E08E99FF-6CA2-451A-88A1-6C8297D1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368" y="3362325"/>
            <a:ext cx="2606842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3" name="P17_FRONT_TABLE_TEXT_0_1">
            <a:extLst xmlns:a="http://schemas.openxmlformats.org/drawingml/2006/main">
              <a:ext uri="{FF2B5EF4-FFF2-40B4-BE49-F238E27FC236}">
                <a16:creationId xmlns:a16="http://schemas.microsoft.com/office/drawing/2014/main" id="{1D41BFCA-8C54-4F43-9B17-C59D2475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618" y="3390900"/>
            <a:ext cx="241634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海外格局</a:t>
            </a:r>
          </a:p>
        </p:txBody>
      </p:sp>
      <p:sp>
        <p:nvSpPr>
          <p:cNvPr id="14" name="P17_FRONT_TABLE_CELL_0_2">
            <a:extLst xmlns:a="http://schemas.openxmlformats.org/drawingml/2006/main">
              <a:ext uri="{FF2B5EF4-FFF2-40B4-BE49-F238E27FC236}">
                <a16:creationId xmlns:a16="http://schemas.microsoft.com/office/drawing/2014/main" id="{23AFD9D3-66EC-420E-9CBB-BAC78B8B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211" y="3362325"/>
            <a:ext cx="347578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5" name="P17_FRONT_TABLE_TEXT_0_2">
            <a:extLst xmlns:a="http://schemas.openxmlformats.org/drawingml/2006/main">
              <a:ext uri="{FF2B5EF4-FFF2-40B4-BE49-F238E27FC236}">
                <a16:creationId xmlns:a16="http://schemas.microsoft.com/office/drawing/2014/main" id="{44D97F4F-7A2D-4457-8C65-62B533F2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461" y="3390900"/>
            <a:ext cx="328528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国产进度</a:t>
            </a:r>
          </a:p>
        </p:txBody>
      </p:sp>
      <p:sp>
        <p:nvSpPr>
          <p:cNvPr id="16" name="P17_FRONT_TABLE_CELL_1_0">
            <a:extLst xmlns:a="http://schemas.openxmlformats.org/drawingml/2006/main">
              <a:ext uri="{FF2B5EF4-FFF2-40B4-BE49-F238E27FC236}">
                <a16:creationId xmlns:a16="http://schemas.microsoft.com/office/drawing/2014/main" id="{C69B0804-CB37-46A3-B626-BC1E5297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382336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7" name="P17_FRONT_TABLE_TEXT_1_0">
            <a:extLst xmlns:a="http://schemas.openxmlformats.org/drawingml/2006/main">
              <a:ext uri="{FF2B5EF4-FFF2-40B4-BE49-F238E27FC236}">
                <a16:creationId xmlns:a16="http://schemas.microsoft.com/office/drawing/2014/main" id="{9B809F85-9927-4AE8-92A7-DA252632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63286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前道SPM硫酸清洗</a:t>
            </a:r>
          </a:p>
        </p:txBody>
      </p:sp>
      <p:sp>
        <p:nvSpPr>
          <p:cNvPr id="18" name="P17_FRONT_TABLE_CELL_1_1">
            <a:extLst xmlns:a="http://schemas.openxmlformats.org/drawingml/2006/main">
              <a:ext uri="{FF2B5EF4-FFF2-40B4-BE49-F238E27FC236}">
                <a16:creationId xmlns:a16="http://schemas.microsoft.com/office/drawing/2014/main" id="{BDD86A8F-8CC8-4E09-888D-A1849DD3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368" y="3952875"/>
            <a:ext cx="2606842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9" name="P17_FRONT_TABLE_TEXT_1_1">
            <a:extLst xmlns:a="http://schemas.openxmlformats.org/drawingml/2006/main">
              <a:ext uri="{FF2B5EF4-FFF2-40B4-BE49-F238E27FC236}">
                <a16:creationId xmlns:a16="http://schemas.microsoft.com/office/drawing/2014/main" id="{3F5D1789-7F96-4711-84DA-E80E4CF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618" y="3981450"/>
            <a:ext cx="241634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日系约60%</a:t>
            </a:r>
          </a:p>
        </p:txBody>
      </p:sp>
      <p:sp>
        <p:nvSpPr>
          <p:cNvPr id="20" name="P17_FRONT_TABLE_CELL_1_2">
            <a:extLst xmlns:a="http://schemas.openxmlformats.org/drawingml/2006/main">
              <a:ext uri="{FF2B5EF4-FFF2-40B4-BE49-F238E27FC236}">
                <a16:creationId xmlns:a16="http://schemas.microsoft.com/office/drawing/2014/main" id="{1B38E368-43EF-40A7-8DA0-9675BFB5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211" y="3952875"/>
            <a:ext cx="347578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1" name="P17_FRONT_TABLE_TEXT_1_2">
            <a:extLst xmlns:a="http://schemas.openxmlformats.org/drawingml/2006/main">
              <a:ext uri="{FF2B5EF4-FFF2-40B4-BE49-F238E27FC236}">
                <a16:creationId xmlns:a16="http://schemas.microsoft.com/office/drawing/2014/main" id="{8815CABB-4838-434F-901B-D5561E80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461" y="3981450"/>
            <a:ext cx="328528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验证最保守</a:t>
            </a:r>
          </a:p>
        </p:txBody>
      </p:sp>
      <p:sp>
        <p:nvSpPr>
          <p:cNvPr id="22" name="P17_FRONT_TABLE_CELL_2_0">
            <a:extLst xmlns:a="http://schemas.openxmlformats.org/drawingml/2006/main">
              <a:ext uri="{FF2B5EF4-FFF2-40B4-BE49-F238E27FC236}">
                <a16:creationId xmlns:a16="http://schemas.microsoft.com/office/drawing/2014/main" id="{C79A5254-940B-4BC8-AABD-8E8DE29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382336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3" name="P17_FRONT_TABLE_TEXT_2_0">
            <a:extLst xmlns:a="http://schemas.openxmlformats.org/drawingml/2006/main">
              <a:ext uri="{FF2B5EF4-FFF2-40B4-BE49-F238E27FC236}">
                <a16:creationId xmlns:a16="http://schemas.microsoft.com/office/drawing/2014/main" id="{9595FBDE-349D-4A2F-A902-D0221146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363286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CD-SEM量测</a:t>
            </a:r>
          </a:p>
        </p:txBody>
      </p:sp>
      <p:sp>
        <p:nvSpPr>
          <p:cNvPr id="24" name="P17_FRONT_TABLE_CELL_2_1">
            <a:extLst xmlns:a="http://schemas.openxmlformats.org/drawingml/2006/main">
              <a:ext uri="{FF2B5EF4-FFF2-40B4-BE49-F238E27FC236}">
                <a16:creationId xmlns:a16="http://schemas.microsoft.com/office/drawing/2014/main" id="{2EE5075C-0BAE-4F89-8CAB-58E3311E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368" y="4543425"/>
            <a:ext cx="2606842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5" name="P17_FRONT_TABLE_TEXT_2_1">
            <a:extLst xmlns:a="http://schemas.openxmlformats.org/drawingml/2006/main">
              <a:ext uri="{FF2B5EF4-FFF2-40B4-BE49-F238E27FC236}">
                <a16:creationId xmlns:a16="http://schemas.microsoft.com/office/drawing/2014/main" id="{8AAEAE6B-0804-4BBA-92BD-CA6B83E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618" y="4572000"/>
            <a:ext cx="241634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日立约65%</a:t>
            </a:r>
          </a:p>
        </p:txBody>
      </p:sp>
      <p:sp>
        <p:nvSpPr>
          <p:cNvPr id="26" name="P17_FRONT_TABLE_CELL_2_2">
            <a:extLst xmlns:a="http://schemas.openxmlformats.org/drawingml/2006/main">
              <a:ext uri="{FF2B5EF4-FFF2-40B4-BE49-F238E27FC236}">
                <a16:creationId xmlns:a16="http://schemas.microsoft.com/office/drawing/2014/main" id="{9791D965-32C9-47F4-9E20-8851C19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211" y="4543425"/>
            <a:ext cx="347578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7" name="P17_FRONT_TABLE_TEXT_2_2">
            <a:extLst xmlns:a="http://schemas.openxmlformats.org/drawingml/2006/main">
              <a:ext uri="{FF2B5EF4-FFF2-40B4-BE49-F238E27FC236}">
                <a16:creationId xmlns:a16="http://schemas.microsoft.com/office/drawing/2014/main" id="{BD518A14-460F-420C-B046-D4A782F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461" y="4572000"/>
            <a:ext cx="328528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样机早期</a:t>
            </a:r>
          </a:p>
        </p:txBody>
      </p:sp>
      <p:sp>
        <p:nvSpPr>
          <p:cNvPr id="28" name="P17_FRONT_TABLE_CELL_3_0">
            <a:extLst xmlns:a="http://schemas.openxmlformats.org/drawingml/2006/main">
              <a:ext uri="{FF2B5EF4-FFF2-40B4-BE49-F238E27FC236}">
                <a16:creationId xmlns:a16="http://schemas.microsoft.com/office/drawing/2014/main" id="{C35D0548-C03E-46C5-846E-22C764F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33975"/>
            <a:ext cx="382336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9" name="P17_FRONT_TABLE_TEXT_3_0">
            <a:extLst xmlns:a="http://schemas.openxmlformats.org/drawingml/2006/main">
              <a:ext uri="{FF2B5EF4-FFF2-40B4-BE49-F238E27FC236}">
                <a16:creationId xmlns:a16="http://schemas.microsoft.com/office/drawing/2014/main" id="{1852D3D6-C1DD-4391-B82A-1A3CA79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363286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后道清洗</a:t>
            </a:r>
          </a:p>
        </p:txBody>
      </p:sp>
      <p:sp>
        <p:nvSpPr>
          <p:cNvPr id="30" name="P17_FRONT_TABLE_CELL_3_1">
            <a:extLst xmlns:a="http://schemas.openxmlformats.org/drawingml/2006/main">
              <a:ext uri="{FF2B5EF4-FFF2-40B4-BE49-F238E27FC236}">
                <a16:creationId xmlns:a16="http://schemas.microsoft.com/office/drawing/2014/main" id="{C08CF638-203D-4A82-9B73-D1AA6E5A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368" y="5133975"/>
            <a:ext cx="2606842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1" name="P17_FRONT_TABLE_TEXT_3_1">
            <a:extLst xmlns:a="http://schemas.openxmlformats.org/drawingml/2006/main">
              <a:ext uri="{FF2B5EF4-FFF2-40B4-BE49-F238E27FC236}">
                <a16:creationId xmlns:a16="http://schemas.microsoft.com/office/drawing/2014/main" id="{4DC92A29-08BB-41E5-AFC5-9339846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618" y="5162550"/>
            <a:ext cx="241634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集中度下降</a:t>
            </a:r>
          </a:p>
        </p:txBody>
      </p:sp>
      <p:sp>
        <p:nvSpPr>
          <p:cNvPr id="32" name="P17_FRONT_TABLE_CELL_3_2">
            <a:extLst xmlns:a="http://schemas.openxmlformats.org/drawingml/2006/main">
              <a:ext uri="{FF2B5EF4-FFF2-40B4-BE49-F238E27FC236}">
                <a16:creationId xmlns:a16="http://schemas.microsoft.com/office/drawing/2014/main" id="{CAF91172-E72F-4CAD-8AC4-66D1B776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211" y="5133975"/>
            <a:ext cx="3475789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3" name="P17_FRONT_TABLE_TEXT_3_2">
            <a:extLst xmlns:a="http://schemas.openxmlformats.org/drawingml/2006/main">
              <a:ext uri="{FF2B5EF4-FFF2-40B4-BE49-F238E27FC236}">
                <a16:creationId xmlns:a16="http://schemas.microsoft.com/office/drawing/2014/main" id="{3D85280B-55F9-4C8A-8F70-754B79B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461" y="5162550"/>
            <a:ext cx="328528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国产基本拿下</a:t>
            </a:r>
          </a:p>
        </p:txBody>
      </p:sp>
      <p:sp>
        <p:nvSpPr>
          <p:cNvPr id="34" name="P17_FOOTER_BADGE">
            <a:extLst xmlns:a="http://schemas.openxmlformats.org/drawingml/2006/main">
              <a:ext uri="{FF2B5EF4-FFF2-40B4-BE49-F238E27FC236}">
                <a16:creationId xmlns:a16="http://schemas.microsoft.com/office/drawing/2014/main" id="{BAEF8F75-F21C-4035-85BA-B3B8D905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35" name="P17_FOOTER_LABEL">
            <a:extLst xmlns:a="http://schemas.openxmlformats.org/drawingml/2006/main">
              <a:ext uri="{FF2B5EF4-FFF2-40B4-BE49-F238E27FC236}">
                <a16:creationId xmlns:a16="http://schemas.microsoft.com/office/drawing/2014/main" id="{F471097D-21CD-41B3-8E0F-22975490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6" name="P17_FOOTER_TEXT">
            <a:extLst xmlns:a="http://schemas.openxmlformats.org/drawingml/2006/main">
              <a:ext uri="{FF2B5EF4-FFF2-40B4-BE49-F238E27FC236}">
                <a16:creationId xmlns:a16="http://schemas.microsoft.com/office/drawing/2014/main" id="{1176289D-83A7-40A2-B933-6FAAE83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后道已替，真卡前道和量测眼睛</a:t>
            </a:r>
          </a:p>
        </p:txBody>
      </p:sp>
      <p:sp>
        <p:nvSpPr>
          <p:cNvPr id="37" name="P17_FOOTER_LINE">
            <a:extLst xmlns:a="http://schemas.openxmlformats.org/drawingml/2006/main">
              <a:ext uri="{FF2B5EF4-FFF2-40B4-BE49-F238E27FC236}">
                <a16:creationId xmlns:a16="http://schemas.microsoft.com/office/drawing/2014/main" id="{1D881F71-D133-49BB-94A3-25BAB9AD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99131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18_DOT">
            <a:extLst xmlns:a="http://schemas.openxmlformats.org/drawingml/2006/main">
              <a:ext uri="{FF2B5EF4-FFF2-40B4-BE49-F238E27FC236}">
                <a16:creationId xmlns:a16="http://schemas.microsoft.com/office/drawing/2014/main" id="{0718CC21-EF39-4CC0-86F0-DAE40EF3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8_EYEBROW">
            <a:extLst xmlns:a="http://schemas.openxmlformats.org/drawingml/2006/main">
              <a:ext uri="{FF2B5EF4-FFF2-40B4-BE49-F238E27FC236}">
                <a16:creationId xmlns:a16="http://schemas.microsoft.com/office/drawing/2014/main" id="{7826655B-141B-4A7D-BE6B-CD9C1655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ABF膜 · 味之素95%</a:t>
            </a:r>
          </a:p>
        </p:txBody>
      </p:sp>
      <p:sp>
        <p:nvSpPr>
          <p:cNvPr id="3" name="P18_TITLE">
            <a:extLst xmlns:a="http://schemas.openxmlformats.org/drawingml/2006/main">
              <a:ext uri="{FF2B5EF4-FFF2-40B4-BE49-F238E27FC236}">
                <a16:creationId xmlns:a16="http://schemas.microsoft.com/office/drawing/2014/main" id="{FC4E6FF4-A9B7-4B14-81D6-478094A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ABF膜，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短期内几乎无解</a:t>
            </a:r>
          </a:p>
        </p:txBody>
      </p:sp>
      <p:sp>
        <p:nvSpPr>
          <p:cNvPr id="4" name="P18_BULLET_MARK_1">
            <a:extLst xmlns:a="http://schemas.openxmlformats.org/drawingml/2006/main">
              <a:ext uri="{FF2B5EF4-FFF2-40B4-BE49-F238E27FC236}">
                <a16:creationId xmlns:a16="http://schemas.microsoft.com/office/drawing/2014/main" id="{2DE117B5-B497-420D-B6AB-DDEA992D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8_BULLET_1">
            <a:extLst xmlns:a="http://schemas.openxmlformats.org/drawingml/2006/main">
              <a:ext uri="{FF2B5EF4-FFF2-40B4-BE49-F238E27FC236}">
                <a16:creationId xmlns:a16="http://schemas.microsoft.com/office/drawing/2014/main" id="{4E2E00E1-E4EA-4FC8-9BCD-098A38F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GPU封装载板里有一层关键绝缘膜ABF，全球约95%来自味之素</a:t>
            </a:r>
          </a:p>
        </p:txBody>
      </p:sp>
      <p:sp>
        <p:nvSpPr>
          <p:cNvPr id="6" name="P18_BULLET_MARK_2">
            <a:extLst xmlns:a="http://schemas.openxmlformats.org/drawingml/2006/main">
              <a:ext uri="{FF2B5EF4-FFF2-40B4-BE49-F238E27FC236}">
                <a16:creationId xmlns:a16="http://schemas.microsoft.com/office/drawing/2014/main" id="{3FEEFD71-E7B4-466C-9A09-A540139C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8_BULLET_2">
            <a:extLst xmlns:a="http://schemas.openxmlformats.org/drawingml/2006/main">
              <a:ext uri="{FF2B5EF4-FFF2-40B4-BE49-F238E27FC236}">
                <a16:creationId xmlns:a16="http://schemas.microsoft.com/office/drawing/2014/main" id="{44D70AB0-8DBE-4351-8FC8-B1F4B239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卡点是材料配方而不是工艺：工艺经验可追，配方难以逆向复现</a:t>
            </a:r>
          </a:p>
        </p:txBody>
      </p:sp>
      <p:sp>
        <p:nvSpPr>
          <p:cNvPr id="8" name="P18_BULLET_MARK_3">
            <a:extLst xmlns:a="http://schemas.openxmlformats.org/drawingml/2006/main">
              <a:ext uri="{FF2B5EF4-FFF2-40B4-BE49-F238E27FC236}">
                <a16:creationId xmlns:a16="http://schemas.microsoft.com/office/drawing/2014/main" id="{C2EEA83A-139E-4943-B6DE-9A4B43C9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8_BULLET_3">
            <a:extLst xmlns:a="http://schemas.openxmlformats.org/drawingml/2006/main">
              <a:ext uri="{FF2B5EF4-FFF2-40B4-BE49-F238E27FC236}">
                <a16:creationId xmlns:a16="http://schemas.microsoft.com/office/drawing/2014/main" id="{91FCDB52-AC6B-43D2-A6C2-9B4C3C7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新产线建设约需4年，需求缺口可能延续到2032年前后</a:t>
            </a:r>
          </a:p>
        </p:txBody>
      </p:sp>
      <p:sp>
        <p:nvSpPr>
          <p:cNvPr id="10" name="P18_ABF_95">
            <a:extLst xmlns:a="http://schemas.openxmlformats.org/drawingml/2006/main">
              <a:ext uri="{FF2B5EF4-FFF2-40B4-BE49-F238E27FC236}">
                <a16:creationId xmlns:a16="http://schemas.microsoft.com/office/drawing/2014/main" id="{EF7DF45A-0706-451B-A42C-DB71A2CC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D86E49"/>
                </a:solidFill>
                <a:latin typeface="SimSun"/>
                <a:ea typeface="SimSun"/>
                <a:cs typeface="SimSun"/>
              </a:defRPr>
            </a:pPr>
            <a:r>
              <a:rPr sz="690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95%</a:t>
            </a:r>
          </a:p>
        </p:txBody>
      </p:sp>
      <p:sp>
        <p:nvSpPr>
          <p:cNvPr id="11" name="P18_ABF_LABEL">
            <a:extLst xmlns:a="http://schemas.openxmlformats.org/drawingml/2006/main">
              <a:ext uri="{FF2B5EF4-FFF2-40B4-BE49-F238E27FC236}">
                <a16:creationId xmlns:a16="http://schemas.microsoft.com/office/drawing/2014/main" id="{7739FDD9-4F89-4EE6-A4C8-1C55AE05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00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味之素全球份额</a:t>
            </a:r>
          </a:p>
        </p:txBody>
      </p:sp>
      <p:sp>
        <p:nvSpPr>
          <p:cNvPr id="12" name="P18_ABF_1">
            <a:extLst xmlns:a="http://schemas.openxmlformats.org/drawingml/2006/main">
              <a:ext uri="{FF2B5EF4-FFF2-40B4-BE49-F238E27FC236}">
                <a16:creationId xmlns:a16="http://schemas.microsoft.com/office/drawing/2014/main" id="{25641971-5D2B-4045-BFEC-D6FCD2DA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3" name="P18_ABF_1_TITLE">
            <a:extLst xmlns:a="http://schemas.openxmlformats.org/drawingml/2006/main">
              <a:ext uri="{FF2B5EF4-FFF2-40B4-BE49-F238E27FC236}">
                <a16:creationId xmlns:a16="http://schemas.microsoft.com/office/drawing/2014/main" id="{AF6C821B-17C2-4959-ACF8-20CBE68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528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配方壁垒</a:t>
            </a:r>
          </a:p>
        </p:txBody>
      </p:sp>
      <p:sp>
        <p:nvSpPr>
          <p:cNvPr id="14" name="P18_ABF_1_BODY">
            <a:extLst xmlns:a="http://schemas.openxmlformats.org/drawingml/2006/main">
              <a:ext uri="{FF2B5EF4-FFF2-40B4-BE49-F238E27FC236}">
                <a16:creationId xmlns:a16="http://schemas.microsoft.com/office/drawing/2014/main" id="{F0D0A130-A464-41FB-BB7F-D6925A52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86175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卡材料配方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不只卡制造工艺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逆向难、验证慢</a:t>
            </a:r>
          </a:p>
        </p:txBody>
      </p:sp>
      <p:sp>
        <p:nvSpPr>
          <p:cNvPr id="15" name="P18_ABF_2">
            <a:extLst xmlns:a="http://schemas.openxmlformats.org/drawingml/2006/main">
              <a:ext uri="{FF2B5EF4-FFF2-40B4-BE49-F238E27FC236}">
                <a16:creationId xmlns:a16="http://schemas.microsoft.com/office/drawing/2014/main" id="{3C0CFA31-1067-4EF0-8389-B02008D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38500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6" name="P18_ABF_2_TITLE">
            <a:extLst xmlns:a="http://schemas.openxmlformats.org/drawingml/2006/main">
              <a:ext uri="{FF2B5EF4-FFF2-40B4-BE49-F238E27FC236}">
                <a16:creationId xmlns:a16="http://schemas.microsoft.com/office/drawing/2014/main" id="{53F1B7AB-46E3-4F8B-825B-C879175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528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扩产壁垒</a:t>
            </a:r>
          </a:p>
        </p:txBody>
      </p:sp>
      <p:sp>
        <p:nvSpPr>
          <p:cNvPr id="17" name="P18_ABF_2_BODY">
            <a:extLst xmlns:a="http://schemas.openxmlformats.org/drawingml/2006/main">
              <a:ext uri="{FF2B5EF4-FFF2-40B4-BE49-F238E27FC236}">
                <a16:creationId xmlns:a16="http://schemas.microsoft.com/office/drawing/2014/main" id="{6C820E78-B224-491E-8E26-29323DF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86175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新产线约4年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缺口可能延续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至2032年前后</a:t>
            </a:r>
          </a:p>
        </p:txBody>
      </p:sp>
      <p:sp>
        <p:nvSpPr>
          <p:cNvPr id="18" name="P18_FOOTER_BADGE">
            <a:extLst xmlns:a="http://schemas.openxmlformats.org/drawingml/2006/main">
              <a:ext uri="{FF2B5EF4-FFF2-40B4-BE49-F238E27FC236}">
                <a16:creationId xmlns:a16="http://schemas.microsoft.com/office/drawing/2014/main" id="{C3AA9DA2-5802-4DFF-858B-29D9C12A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9" name="P18_FOOTER_LABEL">
            <a:extLst xmlns:a="http://schemas.openxmlformats.org/drawingml/2006/main">
              <a:ext uri="{FF2B5EF4-FFF2-40B4-BE49-F238E27FC236}">
                <a16:creationId xmlns:a16="http://schemas.microsoft.com/office/drawing/2014/main" id="{B8DE6EBC-17F0-4536-B499-AC821DF9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0" name="P18_FOOTER_TEXT">
            <a:extLst xmlns:a="http://schemas.openxmlformats.org/drawingml/2006/main">
              <a:ext uri="{FF2B5EF4-FFF2-40B4-BE49-F238E27FC236}">
                <a16:creationId xmlns:a16="http://schemas.microsoft.com/office/drawing/2014/main" id="{FD7DEAF2-8C5D-448F-9F5D-EB42953A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材料壁垒与扩产周期锁死短期</a:t>
            </a:r>
          </a:p>
        </p:txBody>
      </p:sp>
      <p:sp>
        <p:nvSpPr>
          <p:cNvPr id="21" name="P18_FOOTER_LINE">
            <a:extLst xmlns:a="http://schemas.openxmlformats.org/drawingml/2006/main">
              <a:ext uri="{FF2B5EF4-FFF2-40B4-BE49-F238E27FC236}">
                <a16:creationId xmlns:a16="http://schemas.microsoft.com/office/drawing/2014/main" id="{6D3201AF-A083-4D6E-9D17-46711DAB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2407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19_DOT">
            <a:extLst xmlns:a="http://schemas.openxmlformats.org/drawingml/2006/main">
              <a:ext uri="{FF2B5EF4-FFF2-40B4-BE49-F238E27FC236}">
                <a16:creationId xmlns:a16="http://schemas.microsoft.com/office/drawing/2014/main" id="{7AE867E8-3887-4422-BDDA-04B2CF3B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19_EYEBROW">
            <a:extLst xmlns:a="http://schemas.openxmlformats.org/drawingml/2006/main">
              <a:ext uri="{FF2B5EF4-FFF2-40B4-BE49-F238E27FC236}">
                <a16:creationId xmlns:a16="http://schemas.microsoft.com/office/drawing/2014/main" id="{4DE19189-0537-4C0F-A0D7-9A3F6B2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载板CCL · 隐藏卡点</a:t>
            </a:r>
          </a:p>
        </p:txBody>
      </p:sp>
      <p:sp>
        <p:nvSpPr>
          <p:cNvPr id="3" name="P19_TITLE">
            <a:extLst xmlns:a="http://schemas.openxmlformats.org/drawingml/2006/main">
              <a:ext uri="{FF2B5EF4-FFF2-40B4-BE49-F238E27FC236}">
                <a16:creationId xmlns:a16="http://schemas.microsoft.com/office/drawing/2014/main" id="{CD6AA825-3793-4FC8-8E0D-BC25403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膜底下还有一层板，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又被一家日本独供</a:t>
            </a:r>
          </a:p>
        </p:txBody>
      </p:sp>
      <p:sp>
        <p:nvSpPr>
          <p:cNvPr id="4" name="P19_BULLET_MARK_1">
            <a:extLst xmlns:a="http://schemas.openxmlformats.org/drawingml/2006/main">
              <a:ext uri="{FF2B5EF4-FFF2-40B4-BE49-F238E27FC236}">
                <a16:creationId xmlns:a16="http://schemas.microsoft.com/office/drawing/2014/main" id="{6EF8DF64-3919-4DAB-922D-DD8B291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19_BULLET_1">
            <a:extLst xmlns:a="http://schemas.openxmlformats.org/drawingml/2006/main">
              <a:ext uri="{FF2B5EF4-FFF2-40B4-BE49-F238E27FC236}">
                <a16:creationId xmlns:a16="http://schemas.microsoft.com/office/drawing/2014/main" id="{7825BBB3-C11E-4F34-96D0-9CB9549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ABF膜要贴在带铜的大载板CCL上，板材本体同样是关键材料</a:t>
            </a:r>
          </a:p>
        </p:txBody>
      </p:sp>
      <p:sp>
        <p:nvSpPr>
          <p:cNvPr id="6" name="P19_BULLET_MARK_2">
            <a:extLst xmlns:a="http://schemas.openxmlformats.org/drawingml/2006/main">
              <a:ext uri="{FF2B5EF4-FFF2-40B4-BE49-F238E27FC236}">
                <a16:creationId xmlns:a16="http://schemas.microsoft.com/office/drawing/2014/main" id="{994A4BEF-ADEA-45AC-A370-4891A255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19_BULLET_2">
            <a:extLst xmlns:a="http://schemas.openxmlformats.org/drawingml/2006/main">
              <a:ext uri="{FF2B5EF4-FFF2-40B4-BE49-F238E27FC236}">
                <a16:creationId xmlns:a16="http://schemas.microsoft.com/office/drawing/2014/main" id="{2FE76C8B-F722-4F2C-B556-E005AFD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高端载板CCL本体主要由日本Resonac供应，壁垒与ABF膜相似</a:t>
            </a:r>
          </a:p>
        </p:txBody>
      </p:sp>
      <p:sp>
        <p:nvSpPr>
          <p:cNvPr id="8" name="P19_BULLET_MARK_3">
            <a:extLst xmlns:a="http://schemas.openxmlformats.org/drawingml/2006/main">
              <a:ext uri="{FF2B5EF4-FFF2-40B4-BE49-F238E27FC236}">
                <a16:creationId xmlns:a16="http://schemas.microsoft.com/office/drawing/2014/main" id="{729FCB99-96CC-448F-A2C5-2CD24A58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19_BULLET_3">
            <a:extLst xmlns:a="http://schemas.openxmlformats.org/drawingml/2006/main">
              <a:ext uri="{FF2B5EF4-FFF2-40B4-BE49-F238E27FC236}">
                <a16:creationId xmlns:a16="http://schemas.microsoft.com/office/drawing/2014/main" id="{29044A24-568A-420D-B5A3-0233F6A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国产目前更多停留在载板成品组装，尚未跨过CCL本体认证门槛</a:t>
            </a:r>
          </a:p>
        </p:txBody>
      </p:sp>
      <p:sp>
        <p:nvSpPr>
          <p:cNvPr id="10" name="P19_STACK_1">
            <a:extLst xmlns:a="http://schemas.openxmlformats.org/drawingml/2006/main">
              <a:ext uri="{FF2B5EF4-FFF2-40B4-BE49-F238E27FC236}">
                <a16:creationId xmlns:a16="http://schemas.microsoft.com/office/drawing/2014/main" id="{5698948F-077C-4DDE-9B45-D758CC3C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857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3"/>
          </a:solidFill>
          <a:ln xmlns:a="http://schemas.openxmlformats.org/drawingml/2006/main" w="0">
            <a:solidFill>
              <a:srgbClr val="171813"/>
            </a:solidFill>
            <a:prstDash val="solid"/>
          </a:ln>
        </p:spPr>
      </p:sp>
      <p:sp>
        <p:nvSpPr>
          <p:cNvPr id="11" name="P19_STACK_TEXT_1">
            <a:extLst xmlns:a="http://schemas.openxmlformats.org/drawingml/2006/main">
              <a:ext uri="{FF2B5EF4-FFF2-40B4-BE49-F238E27FC236}">
                <a16:creationId xmlns:a16="http://schemas.microsoft.com/office/drawing/2014/main" id="{DA440EC3-D015-440C-9C6E-E12A69E8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 / AI封装</a:t>
            </a:r>
          </a:p>
        </p:txBody>
      </p:sp>
      <p:sp>
        <p:nvSpPr>
          <p:cNvPr id="12" name="P19_STACK_2">
            <a:extLst xmlns:a="http://schemas.openxmlformats.org/drawingml/2006/main">
              <a:ext uri="{FF2B5EF4-FFF2-40B4-BE49-F238E27FC236}">
                <a16:creationId xmlns:a16="http://schemas.microsoft.com/office/drawing/2014/main" id="{845148A7-95C8-40D1-AD56-579F092E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3" name="P19_STACK_TEXT_2">
            <a:extLst xmlns:a="http://schemas.openxmlformats.org/drawingml/2006/main">
              <a:ext uri="{FF2B5EF4-FFF2-40B4-BE49-F238E27FC236}">
                <a16:creationId xmlns:a16="http://schemas.microsoft.com/office/drawing/2014/main" id="{B69436CD-F242-49B7-8ECD-D45DFAF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ABF绝缘膜 · 味之素约95%</a:t>
            </a:r>
          </a:p>
        </p:txBody>
      </p:sp>
      <p:sp>
        <p:nvSpPr>
          <p:cNvPr id="14" name="P19_STACK_3">
            <a:extLst xmlns:a="http://schemas.openxmlformats.org/drawingml/2006/main">
              <a:ext uri="{FF2B5EF4-FFF2-40B4-BE49-F238E27FC236}">
                <a16:creationId xmlns:a16="http://schemas.microsoft.com/office/drawing/2014/main" id="{59341741-DDDC-4B87-BE63-76053C5B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86A9C1"/>
          </a:solidFill>
          <a:ln xmlns:a="http://schemas.openxmlformats.org/drawingml/2006/main" w="0">
            <a:solidFill>
              <a:srgbClr val="86A9C1"/>
            </a:solidFill>
            <a:prstDash val="solid"/>
          </a:ln>
        </p:spPr>
      </p:sp>
      <p:sp>
        <p:nvSpPr>
          <p:cNvPr id="15" name="P19_STACK_TEXT_3">
            <a:extLst xmlns:a="http://schemas.openxmlformats.org/drawingml/2006/main">
              <a:ext uri="{FF2B5EF4-FFF2-40B4-BE49-F238E27FC236}">
                <a16:creationId xmlns:a16="http://schemas.microsoft.com/office/drawing/2014/main" id="{9CDA8211-1284-4C93-9318-20ED535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大载板CCL本体 · Resonac主导</a:t>
            </a:r>
          </a:p>
        </p:txBody>
      </p:sp>
      <p:sp>
        <p:nvSpPr>
          <p:cNvPr id="16" name="P19_FOOTER_BADGE">
            <a:extLst xmlns:a="http://schemas.openxmlformats.org/drawingml/2006/main">
              <a:ext uri="{FF2B5EF4-FFF2-40B4-BE49-F238E27FC236}">
                <a16:creationId xmlns:a16="http://schemas.microsoft.com/office/drawing/2014/main" id="{A7F4F0E8-7482-4DCE-8EE8-852150F0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7" name="P19_FOOTER_LABEL">
            <a:extLst xmlns:a="http://schemas.openxmlformats.org/drawingml/2006/main">
              <a:ext uri="{FF2B5EF4-FFF2-40B4-BE49-F238E27FC236}">
                <a16:creationId xmlns:a16="http://schemas.microsoft.com/office/drawing/2014/main" id="{922B5C8C-DC99-411E-B2BF-D428B9C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P19_FOOTER_TEXT">
            <a:extLst xmlns:a="http://schemas.openxmlformats.org/drawingml/2006/main">
              <a:ext uri="{FF2B5EF4-FFF2-40B4-BE49-F238E27FC236}">
                <a16:creationId xmlns:a16="http://schemas.microsoft.com/office/drawing/2014/main" id="{754AEC79-23F4-4485-9785-91A95E1A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膜和板各卡一层，国产还没过认证</a:t>
            </a:r>
          </a:p>
        </p:txBody>
      </p:sp>
      <p:sp>
        <p:nvSpPr>
          <p:cNvPr id="19" name="P19_FOOTER_LINE">
            <a:extLst xmlns:a="http://schemas.openxmlformats.org/drawingml/2006/main">
              <a:ext uri="{FF2B5EF4-FFF2-40B4-BE49-F238E27FC236}">
                <a16:creationId xmlns:a16="http://schemas.microsoft.com/office/drawing/2014/main" id="{38523211-0D6B-48AC-B083-7C6CAD56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18663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20_DOT">
            <a:extLst xmlns:a="http://schemas.openxmlformats.org/drawingml/2006/main">
              <a:ext uri="{FF2B5EF4-FFF2-40B4-BE49-F238E27FC236}">
                <a16:creationId xmlns:a16="http://schemas.microsoft.com/office/drawing/2014/main" id="{1187B95D-99CD-4F70-837B-8B3168D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0_EYEBROW">
            <a:extLst xmlns:a="http://schemas.openxmlformats.org/drawingml/2006/main">
              <a:ext uri="{FF2B5EF4-FFF2-40B4-BE49-F238E27FC236}">
                <a16:creationId xmlns:a16="http://schemas.microsoft.com/office/drawing/2014/main" id="{5611E427-0601-45C0-8B7E-E77FA49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封装材料 · 机制复用</a:t>
            </a:r>
          </a:p>
        </p:txBody>
      </p:sp>
      <p:sp>
        <p:nvSpPr>
          <p:cNvPr id="3" name="P20_TITLE">
            <a:extLst xmlns:a="http://schemas.openxmlformats.org/drawingml/2006/main">
              <a:ext uri="{FF2B5EF4-FFF2-40B4-BE49-F238E27FC236}">
                <a16:creationId xmlns:a16="http://schemas.microsoft.com/office/drawing/2014/main" id="{B86F4339-01D6-4A7B-B65E-2B991808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封装两样高端料，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同一个材料机制</a:t>
            </a:r>
          </a:p>
        </p:txBody>
      </p:sp>
      <p:sp>
        <p:nvSpPr>
          <p:cNvPr id="4" name="P20_BULLET_MARK_1">
            <a:extLst xmlns:a="http://schemas.openxmlformats.org/drawingml/2006/main">
              <a:ext uri="{FF2B5EF4-FFF2-40B4-BE49-F238E27FC236}">
                <a16:creationId xmlns:a16="http://schemas.microsoft.com/office/drawing/2014/main" id="{03035AAC-7761-49C5-AB97-DA6C663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0_BULLET_1">
            <a:extLst xmlns:a="http://schemas.openxmlformats.org/drawingml/2006/main">
              <a:ext uri="{FF2B5EF4-FFF2-40B4-BE49-F238E27FC236}">
                <a16:creationId xmlns:a16="http://schemas.microsoft.com/office/drawing/2014/main" id="{DC85C7E8-B2C7-4B67-B0FF-BF08B697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封装还要两类高端料：低Dk/Df PI膜和塑封料EMC</a:t>
            </a:r>
          </a:p>
        </p:txBody>
      </p:sp>
      <p:sp>
        <p:nvSpPr>
          <p:cNvPr id="6" name="P20_BULLET_MARK_2">
            <a:extLst xmlns:a="http://schemas.openxmlformats.org/drawingml/2006/main">
              <a:ext uri="{FF2B5EF4-FFF2-40B4-BE49-F238E27FC236}">
                <a16:creationId xmlns:a16="http://schemas.microsoft.com/office/drawing/2014/main" id="{1DEC92DC-E2C6-4E70-BA1E-3867757C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0_BULLET_2">
            <a:extLst xmlns:a="http://schemas.openxmlformats.org/drawingml/2006/main">
              <a:ext uri="{FF2B5EF4-FFF2-40B4-BE49-F238E27FC236}">
                <a16:creationId xmlns:a16="http://schemas.microsoft.com/office/drawing/2014/main" id="{C73F472C-B5B5-43AA-BF40-0711326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PI膜由旭化成、富士、钟渊等掌握；高端EMC由住友电木等主导</a:t>
            </a:r>
          </a:p>
        </p:txBody>
      </p:sp>
      <p:sp>
        <p:nvSpPr>
          <p:cNvPr id="8" name="P20_BULLET_MARK_3">
            <a:extLst xmlns:a="http://schemas.openxmlformats.org/drawingml/2006/main">
              <a:ext uri="{FF2B5EF4-FFF2-40B4-BE49-F238E27FC236}">
                <a16:creationId xmlns:a16="http://schemas.microsoft.com/office/drawing/2014/main" id="{9C181DDF-1C51-4054-8B79-D22321A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0_BULLET_3">
            <a:extLst xmlns:a="http://schemas.openxmlformats.org/drawingml/2006/main">
              <a:ext uri="{FF2B5EF4-FFF2-40B4-BE49-F238E27FC236}">
                <a16:creationId xmlns:a16="http://schemas.microsoft.com/office/drawing/2014/main" id="{C91035EE-5C9D-43BC-954C-C8BA886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缺货涨价最终由封测厂承担，议价权仍牢牢留在材料端</a:t>
            </a:r>
          </a:p>
        </p:txBody>
      </p:sp>
      <p:sp>
        <p:nvSpPr>
          <p:cNvPr id="10" name="P20_PACK_TABLE_CELL_0_0">
            <a:extLst xmlns:a="http://schemas.openxmlformats.org/drawingml/2006/main">
              <a:ext uri="{FF2B5EF4-FFF2-40B4-BE49-F238E27FC236}">
                <a16:creationId xmlns:a16="http://schemas.microsoft.com/office/drawing/2014/main" id="{2A1CC534-3E3E-4AF6-88F2-BF2A869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3001818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1" name="P20_PACK_TABLE_TEXT_0_0">
            <a:extLst xmlns:a="http://schemas.openxmlformats.org/drawingml/2006/main">
              <a:ext uri="{FF2B5EF4-FFF2-40B4-BE49-F238E27FC236}">
                <a16:creationId xmlns:a16="http://schemas.microsoft.com/office/drawing/2014/main" id="{BECF5C2C-D6F1-4BF4-B6DC-B9EE7EA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281131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封装材料</a:t>
            </a:r>
          </a:p>
        </p:txBody>
      </p:sp>
      <p:sp>
        <p:nvSpPr>
          <p:cNvPr id="12" name="P20_PACK_TABLE_CELL_0_1">
            <a:extLst xmlns:a="http://schemas.openxmlformats.org/drawingml/2006/main">
              <a:ext uri="{FF2B5EF4-FFF2-40B4-BE49-F238E27FC236}">
                <a16:creationId xmlns:a16="http://schemas.microsoft.com/office/drawing/2014/main" id="{7FDAB7AE-D7EB-4A96-9C0D-5DB9ED1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18" y="3362325"/>
            <a:ext cx="3602182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3" name="P20_PACK_TABLE_TEXT_0_1">
            <a:extLst xmlns:a="http://schemas.openxmlformats.org/drawingml/2006/main">
              <a:ext uri="{FF2B5EF4-FFF2-40B4-BE49-F238E27FC236}">
                <a16:creationId xmlns:a16="http://schemas.microsoft.com/office/drawing/2014/main" id="{C87D139C-0DAE-4407-ADC5-2338784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068" y="3390900"/>
            <a:ext cx="341168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海外格局</a:t>
            </a:r>
          </a:p>
        </p:txBody>
      </p:sp>
      <p:sp>
        <p:nvSpPr>
          <p:cNvPr id="14" name="P20_PACK_TABLE_CELL_0_2">
            <a:extLst xmlns:a="http://schemas.openxmlformats.org/drawingml/2006/main">
              <a:ext uri="{FF2B5EF4-FFF2-40B4-BE49-F238E27FC236}">
                <a16:creationId xmlns:a16="http://schemas.microsoft.com/office/drawing/2014/main" id="{2E7F0FE3-DFBF-4988-B65F-01AF3961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3362325"/>
            <a:ext cx="330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5" name="P20_PACK_TABLE_TEXT_0_2">
            <a:extLst xmlns:a="http://schemas.openxmlformats.org/drawingml/2006/main">
              <a:ext uri="{FF2B5EF4-FFF2-40B4-BE49-F238E27FC236}">
                <a16:creationId xmlns:a16="http://schemas.microsoft.com/office/drawing/2014/main" id="{579F180C-CA9B-4017-8BD9-7188BED9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3390900"/>
            <a:ext cx="31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国产进度</a:t>
            </a:r>
          </a:p>
        </p:txBody>
      </p:sp>
      <p:sp>
        <p:nvSpPr>
          <p:cNvPr id="16" name="P20_PACK_TABLE_CELL_1_0">
            <a:extLst xmlns:a="http://schemas.openxmlformats.org/drawingml/2006/main">
              <a:ext uri="{FF2B5EF4-FFF2-40B4-BE49-F238E27FC236}">
                <a16:creationId xmlns:a16="http://schemas.microsoft.com/office/drawing/2014/main" id="{1C70DA30-E2CD-4B91-866C-43D809B4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3001818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7" name="P20_PACK_TABLE_TEXT_1_0">
            <a:extLst xmlns:a="http://schemas.openxmlformats.org/drawingml/2006/main">
              <a:ext uri="{FF2B5EF4-FFF2-40B4-BE49-F238E27FC236}">
                <a16:creationId xmlns:a16="http://schemas.microsoft.com/office/drawing/2014/main" id="{9241F3DC-6984-4112-B568-F104A5F0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281131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低Dk/Df PI膜</a:t>
            </a:r>
          </a:p>
        </p:txBody>
      </p:sp>
      <p:sp>
        <p:nvSpPr>
          <p:cNvPr id="18" name="P20_PACK_TABLE_CELL_1_1">
            <a:extLst xmlns:a="http://schemas.openxmlformats.org/drawingml/2006/main">
              <a:ext uri="{FF2B5EF4-FFF2-40B4-BE49-F238E27FC236}">
                <a16:creationId xmlns:a16="http://schemas.microsoft.com/office/drawing/2014/main" id="{6319D028-4D38-46FD-AB1B-C6C14A80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18" y="3990975"/>
            <a:ext cx="3602182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9" name="P20_PACK_TABLE_TEXT_1_1">
            <a:extLst xmlns:a="http://schemas.openxmlformats.org/drawingml/2006/main">
              <a:ext uri="{FF2B5EF4-FFF2-40B4-BE49-F238E27FC236}">
                <a16:creationId xmlns:a16="http://schemas.microsoft.com/office/drawing/2014/main" id="{BA005A5E-B190-4217-A9A8-D8EBEFA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068" y="4019550"/>
            <a:ext cx="341168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旭化成、富士、钟渊</a:t>
            </a:r>
          </a:p>
        </p:txBody>
      </p:sp>
      <p:sp>
        <p:nvSpPr>
          <p:cNvPr id="20" name="P20_PACK_TABLE_CELL_1_2">
            <a:extLst xmlns:a="http://schemas.openxmlformats.org/drawingml/2006/main">
              <a:ext uri="{FF2B5EF4-FFF2-40B4-BE49-F238E27FC236}">
                <a16:creationId xmlns:a16="http://schemas.microsoft.com/office/drawing/2014/main" id="{F783AA5A-FEEB-4013-9F16-2BE0ECFF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3990975"/>
            <a:ext cx="330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1" name="P20_PACK_TABLE_TEXT_1_2">
            <a:extLst xmlns:a="http://schemas.openxmlformats.org/drawingml/2006/main">
              <a:ext uri="{FF2B5EF4-FFF2-40B4-BE49-F238E27FC236}">
                <a16:creationId xmlns:a16="http://schemas.microsoft.com/office/drawing/2014/main" id="{755C9A29-F632-4216-B366-9E5824C5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4019550"/>
            <a:ext cx="31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A股几乎空白</a:t>
            </a:r>
          </a:p>
        </p:txBody>
      </p:sp>
      <p:sp>
        <p:nvSpPr>
          <p:cNvPr id="22" name="P20_PACK_TABLE_CELL_2_0">
            <a:extLst xmlns:a="http://schemas.openxmlformats.org/drawingml/2006/main">
              <a:ext uri="{FF2B5EF4-FFF2-40B4-BE49-F238E27FC236}">
                <a16:creationId xmlns:a16="http://schemas.microsoft.com/office/drawing/2014/main" id="{B16E9339-494C-4C5A-BA9E-D8208B8A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3001818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3" name="P20_PACK_TABLE_TEXT_2_0">
            <a:extLst xmlns:a="http://schemas.openxmlformats.org/drawingml/2006/main">
              <a:ext uri="{FF2B5EF4-FFF2-40B4-BE49-F238E27FC236}">
                <a16:creationId xmlns:a16="http://schemas.microsoft.com/office/drawing/2014/main" id="{8CB676E9-6CE4-4F3C-832D-94DADC41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281131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高端塑封料EMC</a:t>
            </a:r>
          </a:p>
        </p:txBody>
      </p:sp>
      <p:sp>
        <p:nvSpPr>
          <p:cNvPr id="24" name="P20_PACK_TABLE_CELL_2_1">
            <a:extLst xmlns:a="http://schemas.openxmlformats.org/drawingml/2006/main">
              <a:ext uri="{FF2B5EF4-FFF2-40B4-BE49-F238E27FC236}">
                <a16:creationId xmlns:a16="http://schemas.microsoft.com/office/drawing/2014/main" id="{2354D6E2-1AC6-4678-B324-D4028194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18" y="4619625"/>
            <a:ext cx="3602182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5" name="P20_PACK_TABLE_TEXT_2_1">
            <a:extLst xmlns:a="http://schemas.openxmlformats.org/drawingml/2006/main">
              <a:ext uri="{FF2B5EF4-FFF2-40B4-BE49-F238E27FC236}">
                <a16:creationId xmlns:a16="http://schemas.microsoft.com/office/drawing/2014/main" id="{FC597737-09B7-4509-A90F-6AF16B9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068" y="4648200"/>
            <a:ext cx="341168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住友电木等</a:t>
            </a:r>
          </a:p>
        </p:txBody>
      </p:sp>
      <p:sp>
        <p:nvSpPr>
          <p:cNvPr id="26" name="P20_PACK_TABLE_CELL_2_2">
            <a:extLst xmlns:a="http://schemas.openxmlformats.org/drawingml/2006/main">
              <a:ext uri="{FF2B5EF4-FFF2-40B4-BE49-F238E27FC236}">
                <a16:creationId xmlns:a16="http://schemas.microsoft.com/office/drawing/2014/main" id="{44169F39-FB45-46E7-BA6F-F929CD5B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4619625"/>
            <a:ext cx="330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7" name="P20_PACK_TABLE_TEXT_2_2">
            <a:extLst xmlns:a="http://schemas.openxmlformats.org/drawingml/2006/main">
              <a:ext uri="{FF2B5EF4-FFF2-40B4-BE49-F238E27FC236}">
                <a16:creationId xmlns:a16="http://schemas.microsoft.com/office/drawing/2014/main" id="{9948E291-E556-43B5-8E59-0DD4C77B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4648200"/>
            <a:ext cx="31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国产验证导入</a:t>
            </a:r>
          </a:p>
        </p:txBody>
      </p:sp>
      <p:sp>
        <p:nvSpPr>
          <p:cNvPr id="28" name="P20_PACK_NOTE">
            <a:extLst xmlns:a="http://schemas.openxmlformats.org/drawingml/2006/main">
              <a:ext uri="{FF2B5EF4-FFF2-40B4-BE49-F238E27FC236}">
                <a16:creationId xmlns:a16="http://schemas.microsoft.com/office/drawing/2014/main" id="{2179874E-7811-435A-B14F-410C76DE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6257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材料端议价 → 成本最终传导给封测厂</a:t>
            </a:r>
          </a:p>
        </p:txBody>
      </p:sp>
      <p:sp>
        <p:nvSpPr>
          <p:cNvPr id="29" name="P20_FOOTER_BADGE">
            <a:extLst xmlns:a="http://schemas.openxmlformats.org/drawingml/2006/main">
              <a:ext uri="{FF2B5EF4-FFF2-40B4-BE49-F238E27FC236}">
                <a16:creationId xmlns:a16="http://schemas.microsoft.com/office/drawing/2014/main" id="{1347674E-5F63-4C9D-B8B4-AD87794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30" name="P20_FOOTER_LABEL">
            <a:extLst xmlns:a="http://schemas.openxmlformats.org/drawingml/2006/main">
              <a:ext uri="{FF2B5EF4-FFF2-40B4-BE49-F238E27FC236}">
                <a16:creationId xmlns:a16="http://schemas.microsoft.com/office/drawing/2014/main" id="{1BC1C8EF-B3AB-473C-A55E-7A7E572F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1" name="P20_FOOTER_TEXT">
            <a:extLst xmlns:a="http://schemas.openxmlformats.org/drawingml/2006/main">
              <a:ext uri="{FF2B5EF4-FFF2-40B4-BE49-F238E27FC236}">
                <a16:creationId xmlns:a16="http://schemas.microsoft.com/office/drawing/2014/main" id="{5986EAE9-0FDE-4178-8B5E-B74CAAC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封测厂吃成本，却换不掉料</a:t>
            </a:r>
          </a:p>
        </p:txBody>
      </p:sp>
      <p:sp>
        <p:nvSpPr>
          <p:cNvPr id="32" name="P20_FOOTER_LINE">
            <a:extLst xmlns:a="http://schemas.openxmlformats.org/drawingml/2006/main">
              <a:ext uri="{FF2B5EF4-FFF2-40B4-BE49-F238E27FC236}">
                <a16:creationId xmlns:a16="http://schemas.microsoft.com/office/drawing/2014/main" id="{E73D4D2C-F035-4EC3-9910-51BEA39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97445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21_DOT">
            <a:extLst xmlns:a="http://schemas.openxmlformats.org/drawingml/2006/main">
              <a:ext uri="{FF2B5EF4-FFF2-40B4-BE49-F238E27FC236}">
                <a16:creationId xmlns:a16="http://schemas.microsoft.com/office/drawing/2014/main" id="{CBCD9F58-A885-4756-8D36-FC5654E4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1_EYEBROW">
            <a:extLst xmlns:a="http://schemas.openxmlformats.org/drawingml/2006/main">
              <a:ext uri="{FF2B5EF4-FFF2-40B4-BE49-F238E27FC236}">
                <a16:creationId xmlns:a16="http://schemas.microsoft.com/office/drawing/2014/main" id="{D2A7D0D5-E2C3-487C-87F0-E41E988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键合丝 · 份额与趋势</a:t>
            </a:r>
          </a:p>
        </p:txBody>
      </p:sp>
      <p:sp>
        <p:nvSpPr>
          <p:cNvPr id="3" name="P21_TITLE">
            <a:extLst xmlns:a="http://schemas.openxmlformats.org/drawingml/2006/main">
              <a:ext uri="{FF2B5EF4-FFF2-40B4-BE49-F238E27FC236}">
                <a16:creationId xmlns:a16="http://schemas.microsoft.com/office/drawing/2014/main" id="{81007A44-C961-4371-8450-A992B4C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键合丝份额高，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但这个环节正在萎缩</a:t>
            </a:r>
          </a:p>
        </p:txBody>
      </p:sp>
      <p:sp>
        <p:nvSpPr>
          <p:cNvPr id="4" name="P21_BULLET_MARK_1">
            <a:extLst xmlns:a="http://schemas.openxmlformats.org/drawingml/2006/main">
              <a:ext uri="{FF2B5EF4-FFF2-40B4-BE49-F238E27FC236}">
                <a16:creationId xmlns:a16="http://schemas.microsoft.com/office/drawing/2014/main" id="{1C0DA7BB-4320-42C5-856F-FF1462A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1_BULLET_1">
            <a:extLst xmlns:a="http://schemas.openxmlformats.org/drawingml/2006/main">
              <a:ext uri="{FF2B5EF4-FFF2-40B4-BE49-F238E27FC236}">
                <a16:creationId xmlns:a16="http://schemas.microsoft.com/office/drawing/2014/main" id="{D62291B3-D7E6-4BD5-B3CE-210EA43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日系键合丝合计份额约六成五，表面上仍然高度集中</a:t>
            </a:r>
          </a:p>
        </p:txBody>
      </p:sp>
      <p:sp>
        <p:nvSpPr>
          <p:cNvPr id="6" name="P21_BULLET_MARK_2">
            <a:extLst xmlns:a="http://schemas.openxmlformats.org/drawingml/2006/main">
              <a:ext uri="{FF2B5EF4-FFF2-40B4-BE49-F238E27FC236}">
                <a16:creationId xmlns:a16="http://schemas.microsoft.com/office/drawing/2014/main" id="{10BA82DD-A3B8-41E7-8BF0-ED9319B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1_BULLET_2">
            <a:extLst xmlns:a="http://schemas.openxmlformats.org/drawingml/2006/main">
              <a:ext uri="{FF2B5EF4-FFF2-40B4-BE49-F238E27FC236}">
                <a16:creationId xmlns:a16="http://schemas.microsoft.com/office/drawing/2014/main" id="{B06D8CDF-68C1-4F30-BC0F-07D66E0F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HBM正在从金线转向TSV和混合键合，引线被新工艺物理绕开</a:t>
            </a:r>
          </a:p>
        </p:txBody>
      </p:sp>
      <p:sp>
        <p:nvSpPr>
          <p:cNvPr id="8" name="P21_BULLET_MARK_3">
            <a:extLst xmlns:a="http://schemas.openxmlformats.org/drawingml/2006/main">
              <a:ext uri="{FF2B5EF4-FFF2-40B4-BE49-F238E27FC236}">
                <a16:creationId xmlns:a16="http://schemas.microsoft.com/office/drawing/2014/main" id="{D5C6A2FD-D91C-4B77-A104-39BDEA0D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1_BULLET_3">
            <a:extLst xmlns:a="http://schemas.openxmlformats.org/drawingml/2006/main">
              <a:ext uri="{FF2B5EF4-FFF2-40B4-BE49-F238E27FC236}">
                <a16:creationId xmlns:a16="http://schemas.microsoft.com/office/drawing/2014/main" id="{24891552-DD40-416C-861E-66EEAF3C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份额再高，只要需求面萎缩，垄断的战略意义也会下降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143000" y="3048000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454e0121e48a1"/>
          </a:graphicData>
        </a:graphic>
      </p:graphicFrame>
      <p:sp>
        <p:nvSpPr>
          <p:cNvPr id="11" name="P21_BOND_NOTE">
            <a:extLst xmlns:a="http://schemas.openxmlformats.org/drawingml/2006/main">
              <a:ext uri="{FF2B5EF4-FFF2-40B4-BE49-F238E27FC236}">
                <a16:creationId xmlns:a16="http://schemas.microsoft.com/office/drawing/2014/main" id="{B2BE9C16-6938-4CB5-8C9F-2DABA8F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812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2" name="P21_BOND_NOTE_TITLE">
            <a:extLst xmlns:a="http://schemas.openxmlformats.org/drawingml/2006/main">
              <a:ext uri="{FF2B5EF4-FFF2-40B4-BE49-F238E27FC236}">
                <a16:creationId xmlns:a16="http://schemas.microsoft.com/office/drawing/2014/main" id="{887F7A4C-4797-4A77-A63D-51CAB5B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份额 ≠ 价值</a:t>
            </a:r>
          </a:p>
        </p:txBody>
      </p:sp>
      <p:sp>
        <p:nvSpPr>
          <p:cNvPr id="13" name="P21_BOND_NOTE_BODY">
            <a:extLst xmlns:a="http://schemas.openxmlformats.org/drawingml/2006/main">
              <a:ext uri="{FF2B5EF4-FFF2-40B4-BE49-F238E27FC236}">
                <a16:creationId xmlns:a16="http://schemas.microsoft.com/office/drawing/2014/main" id="{3EE330CF-BFE2-437B-AD1E-446789A1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81425"/>
            <a:ext cx="20383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日系份额约65%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但需求面持续萎缩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垄断意义下降</a:t>
            </a:r>
          </a:p>
        </p:txBody>
      </p:sp>
      <p:sp>
        <p:nvSpPr>
          <p:cNvPr id="14" name="P21_FOOTER_BADGE">
            <a:extLst xmlns:a="http://schemas.openxmlformats.org/drawingml/2006/main">
              <a:ext uri="{FF2B5EF4-FFF2-40B4-BE49-F238E27FC236}">
                <a16:creationId xmlns:a16="http://schemas.microsoft.com/office/drawing/2014/main" id="{89055C84-AE41-4F8B-9E4C-10AA7C0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5" name="P21_FOOTER_LABEL">
            <a:extLst xmlns:a="http://schemas.openxmlformats.org/drawingml/2006/main">
              <a:ext uri="{FF2B5EF4-FFF2-40B4-BE49-F238E27FC236}">
                <a16:creationId xmlns:a16="http://schemas.microsoft.com/office/drawing/2014/main" id="{72A6D82A-3E41-47B5-8D58-71491803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6" name="P21_FOOTER_TEXT">
            <a:extLst xmlns:a="http://schemas.openxmlformats.org/drawingml/2006/main">
              <a:ext uri="{FF2B5EF4-FFF2-40B4-BE49-F238E27FC236}">
                <a16:creationId xmlns:a16="http://schemas.microsoft.com/office/drawing/2014/main" id="{6498A3B4-D52E-4C39-8D8B-2F7F604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份额高但环节萎缩，垄断意义下降</a:t>
            </a:r>
          </a:p>
        </p:txBody>
      </p:sp>
      <p:sp>
        <p:nvSpPr>
          <p:cNvPr id="17" name="P21_FOOTER_LINE">
            <a:extLst xmlns:a="http://schemas.openxmlformats.org/drawingml/2006/main">
              <a:ext uri="{FF2B5EF4-FFF2-40B4-BE49-F238E27FC236}">
                <a16:creationId xmlns:a16="http://schemas.microsoft.com/office/drawing/2014/main" id="{FC3BCA89-6250-4722-A007-734D976A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80624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22_DOT">
            <a:extLst xmlns:a="http://schemas.openxmlformats.org/drawingml/2006/main">
              <a:ext uri="{FF2B5EF4-FFF2-40B4-BE49-F238E27FC236}">
                <a16:creationId xmlns:a16="http://schemas.microsoft.com/office/drawing/2014/main" id="{41E1CF84-ECE8-431F-A19E-5A9E97E4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2_EYEBROW">
            <a:extLst xmlns:a="http://schemas.openxmlformats.org/drawingml/2006/main">
              <a:ext uri="{FF2B5EF4-FFF2-40B4-BE49-F238E27FC236}">
                <a16:creationId xmlns:a16="http://schemas.microsoft.com/office/drawing/2014/main" id="{7E71780B-0D5D-407E-8D74-DA091E44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一条分界 · 解释中游</a:t>
            </a:r>
          </a:p>
        </p:txBody>
      </p:sp>
      <p:sp>
        <p:nvSpPr>
          <p:cNvPr id="3" name="P22_TITLE">
            <a:extLst xmlns:a="http://schemas.openxmlformats.org/drawingml/2006/main">
              <a:ext uri="{FF2B5EF4-FFF2-40B4-BE49-F238E27FC236}">
                <a16:creationId xmlns:a16="http://schemas.microsoft.com/office/drawing/2014/main" id="{93C77936-EFDC-48AD-BEE0-4B669EC2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中游胜负的分界，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是材料还是工艺</a:t>
            </a:r>
          </a:p>
        </p:txBody>
      </p:sp>
      <p:sp>
        <p:nvSpPr>
          <p:cNvPr id="4" name="P22_BULLET_MARK_1">
            <a:extLst xmlns:a="http://schemas.openxmlformats.org/drawingml/2006/main">
              <a:ext uri="{FF2B5EF4-FFF2-40B4-BE49-F238E27FC236}">
                <a16:creationId xmlns:a16="http://schemas.microsoft.com/office/drawing/2014/main" id="{C70CD6C2-675B-4211-AE8F-0C94BC7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2_BULLET_1">
            <a:extLst xmlns:a="http://schemas.openxmlformats.org/drawingml/2006/main">
              <a:ext uri="{FF2B5EF4-FFF2-40B4-BE49-F238E27FC236}">
                <a16:creationId xmlns:a16="http://schemas.microsoft.com/office/drawing/2014/main" id="{5B75910D-6438-4B96-9B73-AD207E4E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中游是系列的分水岭：一边是材料配方，一边是工艺设备</a:t>
            </a:r>
          </a:p>
        </p:txBody>
      </p:sp>
      <p:sp>
        <p:nvSpPr>
          <p:cNvPr id="6" name="P22_BULLET_MARK_2">
            <a:extLst xmlns:a="http://schemas.openxmlformats.org/drawingml/2006/main">
              <a:ext uri="{FF2B5EF4-FFF2-40B4-BE49-F238E27FC236}">
                <a16:creationId xmlns:a16="http://schemas.microsoft.com/office/drawing/2014/main" id="{A503A88A-0E17-4163-9A74-7E981525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2_BULLET_2">
            <a:extLst xmlns:a="http://schemas.openxmlformats.org/drawingml/2006/main">
              <a:ext uri="{FF2B5EF4-FFF2-40B4-BE49-F238E27FC236}">
                <a16:creationId xmlns:a16="http://schemas.microsoft.com/office/drawing/2014/main" id="{15D150CD-CA88-4E54-A9F3-82157528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材料端的ABF膜、CCL和关键化学品锁在分子与长期数据里，国产难插入</a:t>
            </a:r>
          </a:p>
        </p:txBody>
      </p:sp>
      <p:sp>
        <p:nvSpPr>
          <p:cNvPr id="8" name="P22_BULLET_MARK_3">
            <a:extLst xmlns:a="http://schemas.openxmlformats.org/drawingml/2006/main">
              <a:ext uri="{FF2B5EF4-FFF2-40B4-BE49-F238E27FC236}">
                <a16:creationId xmlns:a16="http://schemas.microsoft.com/office/drawing/2014/main" id="{52784C16-E76E-4AA1-8386-5D220920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2_BULLET_3">
            <a:extLst xmlns:a="http://schemas.openxmlformats.org/drawingml/2006/main">
              <a:ext uri="{FF2B5EF4-FFF2-40B4-BE49-F238E27FC236}">
                <a16:creationId xmlns:a16="http://schemas.microsoft.com/office/drawing/2014/main" id="{7A698991-5EBE-4C8F-B7A6-52ED79E2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工艺端的减薄、划片和键合更依赖精度与迭代，国产能追或被新路线替代</a:t>
            </a:r>
          </a:p>
        </p:txBody>
      </p:sp>
      <p:sp>
        <p:nvSpPr>
          <p:cNvPr id="10" name="P22_VS_LEFT">
            <a:extLst xmlns:a="http://schemas.openxmlformats.org/drawingml/2006/main">
              <a:ext uri="{FF2B5EF4-FFF2-40B4-BE49-F238E27FC236}">
                <a16:creationId xmlns:a16="http://schemas.microsoft.com/office/drawing/2014/main" id="{DA154FB0-E67D-49E7-9DE2-E245B4A2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476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1" name="P22_VS_LEFT_TITLE">
            <a:extLst xmlns:a="http://schemas.openxmlformats.org/drawingml/2006/main">
              <a:ext uri="{FF2B5EF4-FFF2-40B4-BE49-F238E27FC236}">
                <a16:creationId xmlns:a16="http://schemas.microsoft.com/office/drawing/2014/main" id="{9731990F-0C61-4BF5-8D1F-66033E9E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工艺 · 设备</a:t>
            </a:r>
          </a:p>
        </p:txBody>
      </p:sp>
      <p:sp>
        <p:nvSpPr>
          <p:cNvPr id="12" name="P22_VS_LEFT_BODY">
            <a:extLst xmlns:a="http://schemas.openxmlformats.org/drawingml/2006/main">
              <a:ext uri="{FF2B5EF4-FFF2-40B4-BE49-F238E27FC236}">
                <a16:creationId xmlns:a16="http://schemas.microsoft.com/office/drawing/2014/main" id="{7E3492A3-1BEF-47C6-A80F-55BB3A0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62375"/>
            <a:ext cx="41338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减薄 / 划片 / 键合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靠精度、经验和迭代速度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国产能追，或被新路线替代</a:t>
            </a:r>
          </a:p>
        </p:txBody>
      </p:sp>
      <p:sp>
        <p:nvSpPr>
          <p:cNvPr id="13" name="P22_VS_LABEL">
            <a:extLst xmlns:a="http://schemas.openxmlformats.org/drawingml/2006/main">
              <a:ext uri="{FF2B5EF4-FFF2-40B4-BE49-F238E27FC236}">
                <a16:creationId xmlns:a16="http://schemas.microsoft.com/office/drawing/2014/main" id="{52CF6929-B5DC-4C5B-9B47-3E6B75C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4" name="P22_VS_RIGHT">
            <a:extLst xmlns:a="http://schemas.openxmlformats.org/drawingml/2006/main">
              <a:ext uri="{FF2B5EF4-FFF2-40B4-BE49-F238E27FC236}">
                <a16:creationId xmlns:a16="http://schemas.microsoft.com/office/drawing/2014/main" id="{7D4A949B-2C52-466E-B44C-FF1ADAA0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476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5" name="P22_VS_RIGHT_TITLE">
            <a:extLst xmlns:a="http://schemas.openxmlformats.org/drawingml/2006/main">
              <a:ext uri="{FF2B5EF4-FFF2-40B4-BE49-F238E27FC236}">
                <a16:creationId xmlns:a16="http://schemas.microsoft.com/office/drawing/2014/main" id="{1773A437-AF1F-4471-BAB9-8D2E260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29000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材料 · 配方</a:t>
            </a:r>
          </a:p>
        </p:txBody>
      </p:sp>
      <p:sp>
        <p:nvSpPr>
          <p:cNvPr id="16" name="P22_VS_RIGHT_BODY">
            <a:extLst xmlns:a="http://schemas.openxmlformats.org/drawingml/2006/main">
              <a:ext uri="{FF2B5EF4-FFF2-40B4-BE49-F238E27FC236}">
                <a16:creationId xmlns:a16="http://schemas.microsoft.com/office/drawing/2014/main" id="{811B1D7C-D9CA-4B49-8834-10D0A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41338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ABF膜 / CCL / 高纯材料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锁在分子结构与长期数据里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日本卡到九成，国产难插入</a:t>
            </a:r>
          </a:p>
        </p:txBody>
      </p:sp>
      <p:sp>
        <p:nvSpPr>
          <p:cNvPr id="17" name="P22_FOOTER_BADGE">
            <a:extLst xmlns:a="http://schemas.openxmlformats.org/drawingml/2006/main">
              <a:ext uri="{FF2B5EF4-FFF2-40B4-BE49-F238E27FC236}">
                <a16:creationId xmlns:a16="http://schemas.microsoft.com/office/drawing/2014/main" id="{B77EFC4B-16F8-4B14-8A98-B376D8E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8" name="P22_FOOTER_LABEL">
            <a:extLst xmlns:a="http://schemas.openxmlformats.org/drawingml/2006/main">
              <a:ext uri="{FF2B5EF4-FFF2-40B4-BE49-F238E27FC236}">
                <a16:creationId xmlns:a16="http://schemas.microsoft.com/office/drawing/2014/main" id="{311172D4-6568-435D-9224-1D8C882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P22_FOOTER_TEXT">
            <a:extLst xmlns:a="http://schemas.openxmlformats.org/drawingml/2006/main">
              <a:ext uri="{FF2B5EF4-FFF2-40B4-BE49-F238E27FC236}">
                <a16:creationId xmlns:a16="http://schemas.microsoft.com/office/drawing/2014/main" id="{53CE123A-AA64-497D-BCF6-EF70289C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卡配方追不动，卡工艺靠精度能追</a:t>
            </a:r>
          </a:p>
        </p:txBody>
      </p:sp>
      <p:sp>
        <p:nvSpPr>
          <p:cNvPr id="20" name="P22_FOOTER_LINE">
            <a:extLst xmlns:a="http://schemas.openxmlformats.org/drawingml/2006/main">
              <a:ext uri="{FF2B5EF4-FFF2-40B4-BE49-F238E27FC236}">
                <a16:creationId xmlns:a16="http://schemas.microsoft.com/office/drawing/2014/main" id="{3BB0DA46-D0F2-43CD-AD45-51CB705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68602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23_DOT">
            <a:extLst xmlns:a="http://schemas.openxmlformats.org/drawingml/2006/main">
              <a:ext uri="{FF2B5EF4-FFF2-40B4-BE49-F238E27FC236}">
                <a16:creationId xmlns:a16="http://schemas.microsoft.com/office/drawing/2014/main" id="{E7E42084-08D8-45BA-BA39-7D11979A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3_EYEBROW">
            <a:extLst xmlns:a="http://schemas.openxmlformats.org/drawingml/2006/main">
              <a:ext uri="{FF2B5EF4-FFF2-40B4-BE49-F238E27FC236}">
                <a16:creationId xmlns:a16="http://schemas.microsoft.com/office/drawing/2014/main" id="{5244E121-19B7-4732-8C08-FCD90A08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日本卡脖子 · 下游一层</a:t>
            </a:r>
          </a:p>
        </p:txBody>
      </p:sp>
      <p:sp>
        <p:nvSpPr>
          <p:cNvPr id="3" name="P23_TITLE">
            <a:extLst xmlns:a="http://schemas.openxmlformats.org/drawingml/2006/main">
              <a:ext uri="{FF2B5EF4-FFF2-40B4-BE49-F238E27FC236}">
                <a16:creationId xmlns:a16="http://schemas.microsoft.com/office/drawing/2014/main" id="{69BAA569-09E3-43C2-AB07-AB994675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你的GPU旁边那块板子，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过去全靠日本</a:t>
            </a:r>
          </a:p>
        </p:txBody>
      </p:sp>
      <p:sp>
        <p:nvSpPr>
          <p:cNvPr id="4" name="P23_BULLET_MARK_1">
            <a:extLst xmlns:a="http://schemas.openxmlformats.org/drawingml/2006/main">
              <a:ext uri="{FF2B5EF4-FFF2-40B4-BE49-F238E27FC236}">
                <a16:creationId xmlns:a16="http://schemas.microsoft.com/office/drawing/2014/main" id="{B341BAFE-6745-4DE2-B613-F959EB66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3_BULLET_1">
            <a:extLst xmlns:a="http://schemas.openxmlformats.org/drawingml/2006/main">
              <a:ext uri="{FF2B5EF4-FFF2-40B4-BE49-F238E27FC236}">
                <a16:creationId xmlns:a16="http://schemas.microsoft.com/office/drawing/2014/main" id="{BF1AAC69-26D6-4C67-8F80-E1FF15BB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巴掌大的板子里，玻璃布、电容、光模块晶体过去都高度依赖日本</a:t>
            </a:r>
          </a:p>
        </p:txBody>
      </p:sp>
      <p:sp>
        <p:nvSpPr>
          <p:cNvPr id="6" name="P23_BULLET_MARK_2">
            <a:extLst xmlns:a="http://schemas.openxmlformats.org/drawingml/2006/main">
              <a:ext uri="{FF2B5EF4-FFF2-40B4-BE49-F238E27FC236}">
                <a16:creationId xmlns:a16="http://schemas.microsoft.com/office/drawing/2014/main" id="{4A76091A-427F-4AF0-83B7-EB83B8E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3_BULLET_2">
            <a:extLst xmlns:a="http://schemas.openxmlformats.org/drawingml/2006/main">
              <a:ext uri="{FF2B5EF4-FFF2-40B4-BE49-F238E27FC236}">
                <a16:creationId xmlns:a16="http://schemas.microsoft.com/office/drawing/2014/main" id="{AE179020-4245-46CF-92DC-1336C1B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下游更接近整机，是中国追赶最积极、与日本差距最小的一层</a:t>
            </a:r>
          </a:p>
        </p:txBody>
      </p:sp>
      <p:sp>
        <p:nvSpPr>
          <p:cNvPr id="8" name="P23_BULLET_MARK_3">
            <a:extLst xmlns:a="http://schemas.openxmlformats.org/drawingml/2006/main">
              <a:ext uri="{FF2B5EF4-FFF2-40B4-BE49-F238E27FC236}">
                <a16:creationId xmlns:a16="http://schemas.microsoft.com/office/drawing/2014/main" id="{A1D35AA6-C31F-48A3-BF08-9BEC1A22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3_BULLET_3">
            <a:extLst xmlns:a="http://schemas.openxmlformats.org/drawingml/2006/main">
              <a:ext uri="{FF2B5EF4-FFF2-40B4-BE49-F238E27FC236}">
                <a16:creationId xmlns:a16="http://schemas.microsoft.com/office/drawing/2014/main" id="{F24D3EC1-432C-42AA-BEB3-68BEA7B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越靠近整机，日本的墙越薄；越往上游材料端，墙越厚</a:t>
            </a:r>
          </a:p>
        </p:txBody>
      </p:sp>
      <p:sp>
        <p:nvSpPr>
          <p:cNvPr id="10" name="P23_UP_BAR_1">
            <a:extLst xmlns:a="http://schemas.openxmlformats.org/drawingml/2006/main">
              <a:ext uri="{FF2B5EF4-FFF2-40B4-BE49-F238E27FC236}">
                <a16:creationId xmlns:a16="http://schemas.microsoft.com/office/drawing/2014/main" id="{30291F67-922D-4AC7-81D9-7284E901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1" name="P23_UP_BAR_LABEL_1">
            <a:extLst xmlns:a="http://schemas.openxmlformats.org/drawingml/2006/main">
              <a:ext uri="{FF2B5EF4-FFF2-40B4-BE49-F238E27FC236}">
                <a16:creationId xmlns:a16="http://schemas.microsoft.com/office/drawing/2014/main" id="{B3361034-AD6A-485B-B58F-7EEBDF0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下游</a:t>
            </a:r>
          </a:p>
        </p:txBody>
      </p:sp>
      <p:sp>
        <p:nvSpPr>
          <p:cNvPr id="12" name="P23_UP_BAR_SUB_1">
            <a:extLst xmlns:a="http://schemas.openxmlformats.org/drawingml/2006/main">
              <a:ext uri="{FF2B5EF4-FFF2-40B4-BE49-F238E27FC236}">
                <a16:creationId xmlns:a16="http://schemas.microsoft.com/office/drawing/2014/main" id="{ED34EB53-1428-44D2-9170-A790B861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离整机最近</a:t>
            </a:r>
          </a:p>
        </p:txBody>
      </p:sp>
      <p:sp>
        <p:nvSpPr>
          <p:cNvPr id="13" name="P23_UP_BAR_2">
            <a:extLst xmlns:a="http://schemas.openxmlformats.org/drawingml/2006/main">
              <a:ext uri="{FF2B5EF4-FFF2-40B4-BE49-F238E27FC236}">
                <a16:creationId xmlns:a16="http://schemas.microsoft.com/office/drawing/2014/main" id="{C2D899BF-0D64-4905-A0FC-C61F05BD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1714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9AF"/>
          </a:solidFill>
          <a:ln xmlns:a="http://schemas.openxmlformats.org/drawingml/2006/main" w="0">
            <a:solidFill>
              <a:srgbClr val="8F89AF"/>
            </a:solidFill>
            <a:prstDash val="solid"/>
          </a:ln>
        </p:spPr>
      </p:sp>
      <p:sp>
        <p:nvSpPr>
          <p:cNvPr id="14" name="P23_UP_BAR_LABEL_2">
            <a:extLst xmlns:a="http://schemas.openxmlformats.org/drawingml/2006/main">
              <a:ext uri="{FF2B5EF4-FFF2-40B4-BE49-F238E27FC236}">
                <a16:creationId xmlns:a16="http://schemas.microsoft.com/office/drawing/2014/main" id="{B0B7A07D-3098-4B3F-8ACE-53F913FF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中游</a:t>
            </a:r>
          </a:p>
        </p:txBody>
      </p:sp>
      <p:sp>
        <p:nvSpPr>
          <p:cNvPr id="15" name="P23_UP_BAR_SUB_2">
            <a:extLst xmlns:a="http://schemas.openxmlformats.org/drawingml/2006/main">
              <a:ext uri="{FF2B5EF4-FFF2-40B4-BE49-F238E27FC236}">
                <a16:creationId xmlns:a16="http://schemas.microsoft.com/office/drawing/2014/main" id="{00F28D98-DCEF-4A13-9687-0517CEEA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封装与设备</a:t>
            </a:r>
          </a:p>
        </p:txBody>
      </p:sp>
      <p:sp>
        <p:nvSpPr>
          <p:cNvPr id="16" name="P23_UP_BAR_3">
            <a:extLst xmlns:a="http://schemas.openxmlformats.org/drawingml/2006/main">
              <a:ext uri="{FF2B5EF4-FFF2-40B4-BE49-F238E27FC236}">
                <a16:creationId xmlns:a16="http://schemas.microsoft.com/office/drawing/2014/main" id="{0357AD38-799B-4EF5-99F2-D9B0A58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1714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3"/>
          </a:solidFill>
          <a:ln xmlns:a="http://schemas.openxmlformats.org/drawingml/2006/main" w="0">
            <a:solidFill>
              <a:srgbClr val="171813"/>
            </a:solidFill>
            <a:prstDash val="solid"/>
          </a:ln>
        </p:spPr>
      </p:sp>
      <p:sp>
        <p:nvSpPr>
          <p:cNvPr id="17" name="P23_UP_BAR_LABEL_3">
            <a:extLst xmlns:a="http://schemas.openxmlformats.org/drawingml/2006/main">
              <a:ext uri="{FF2B5EF4-FFF2-40B4-BE49-F238E27FC236}">
                <a16:creationId xmlns:a16="http://schemas.microsoft.com/office/drawing/2014/main" id="{0CC2FD15-09BA-4CF9-8D99-9A736AA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</a:t>
            </a:r>
          </a:p>
        </p:txBody>
      </p:sp>
      <p:sp>
        <p:nvSpPr>
          <p:cNvPr id="18" name="P23_UP_BAR_SUB_3">
            <a:extLst xmlns:a="http://schemas.openxmlformats.org/drawingml/2006/main">
              <a:ext uri="{FF2B5EF4-FFF2-40B4-BE49-F238E27FC236}">
                <a16:creationId xmlns:a16="http://schemas.microsoft.com/office/drawing/2014/main" id="{2B3817D3-A0C8-49A2-993C-B3315BF2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最源头材料</a:t>
            </a:r>
          </a:p>
        </p:txBody>
      </p:sp>
      <p:sp>
        <p:nvSpPr>
          <p:cNvPr id="19" name="P23_UP_LOW">
            <a:extLst xmlns:a="http://schemas.openxmlformats.org/drawingml/2006/main">
              <a:ext uri="{FF2B5EF4-FFF2-40B4-BE49-F238E27FC236}">
                <a16:creationId xmlns:a16="http://schemas.microsoft.com/office/drawing/2014/main" id="{8B61A10B-2D58-44F6-9133-75961521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差距最小</a:t>
            </a:r>
          </a:p>
        </p:txBody>
      </p:sp>
      <p:sp>
        <p:nvSpPr>
          <p:cNvPr id="20" name="P23_UP_HIGH">
            <a:extLst xmlns:a="http://schemas.openxmlformats.org/drawingml/2006/main">
              <a:ext uri="{FF2B5EF4-FFF2-40B4-BE49-F238E27FC236}">
                <a16:creationId xmlns:a16="http://schemas.microsoft.com/office/drawing/2014/main" id="{CB953FEA-2BF4-45F3-B450-3BDD592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几乎无解</a:t>
            </a:r>
          </a:p>
        </p:txBody>
      </p:sp>
      <p:sp>
        <p:nvSpPr>
          <p:cNvPr id="21" name="P23_FOOTER_BADGE">
            <a:extLst xmlns:a="http://schemas.openxmlformats.org/drawingml/2006/main">
              <a:ext uri="{FF2B5EF4-FFF2-40B4-BE49-F238E27FC236}">
                <a16:creationId xmlns:a16="http://schemas.microsoft.com/office/drawing/2014/main" id="{962CF96A-6BF7-438A-875C-2D332FE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2" name="P23_FOOTER_LABEL">
            <a:extLst xmlns:a="http://schemas.openxmlformats.org/drawingml/2006/main">
              <a:ext uri="{FF2B5EF4-FFF2-40B4-BE49-F238E27FC236}">
                <a16:creationId xmlns:a16="http://schemas.microsoft.com/office/drawing/2014/main" id="{4497818C-FC38-4D9D-904C-CF6BB83B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23_FOOTER_TEXT">
            <a:extLst xmlns:a="http://schemas.openxmlformats.org/drawingml/2006/main">
              <a:ext uri="{FF2B5EF4-FFF2-40B4-BE49-F238E27FC236}">
                <a16:creationId xmlns:a16="http://schemas.microsoft.com/office/drawing/2014/main" id="{7DB15AB9-77DD-4EC8-9CD2-BE27E51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下游的好消息，就从这一层开始</a:t>
            </a:r>
          </a:p>
        </p:txBody>
      </p:sp>
      <p:sp>
        <p:nvSpPr>
          <p:cNvPr id="24" name="P23_FOOTER_LINE">
            <a:extLst xmlns:a="http://schemas.openxmlformats.org/drawingml/2006/main">
              <a:ext uri="{FF2B5EF4-FFF2-40B4-BE49-F238E27FC236}">
                <a16:creationId xmlns:a16="http://schemas.microsoft.com/office/drawing/2014/main" id="{A02277A8-4911-4FAA-927B-E8BA7D4C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2118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24_DOT">
            <a:extLst xmlns:a="http://schemas.openxmlformats.org/drawingml/2006/main">
              <a:ext uri="{FF2B5EF4-FFF2-40B4-BE49-F238E27FC236}">
                <a16:creationId xmlns:a16="http://schemas.microsoft.com/office/drawing/2014/main" id="{27FA10F2-741D-4CAE-84F5-EA9C6AAC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4_EYEBROW">
            <a:extLst xmlns:a="http://schemas.openxmlformats.org/drawingml/2006/main">
              <a:ext uri="{FF2B5EF4-FFF2-40B4-BE49-F238E27FC236}">
                <a16:creationId xmlns:a16="http://schemas.microsoft.com/office/drawing/2014/main" id="{0A5374A7-DE1A-4371-A981-B8215948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日本卡脖子 · 下游一层</a:t>
            </a:r>
          </a:p>
        </p:txBody>
      </p:sp>
      <p:sp>
        <p:nvSpPr>
          <p:cNvPr id="3" name="P24_TITLE">
            <a:extLst xmlns:a="http://schemas.openxmlformats.org/drawingml/2006/main">
              <a:ext uri="{FF2B5EF4-FFF2-40B4-BE49-F238E27FC236}">
                <a16:creationId xmlns:a16="http://schemas.microsoft.com/office/drawing/2014/main" id="{392F5AB1-0AA2-429B-9673-205D0B77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你的GPU旁边那块板子，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过去全靠日本</a:t>
            </a:r>
          </a:p>
        </p:txBody>
      </p:sp>
      <p:sp>
        <p:nvSpPr>
          <p:cNvPr id="4" name="P24_BULLET_MARK_1">
            <a:extLst xmlns:a="http://schemas.openxmlformats.org/drawingml/2006/main">
              <a:ext uri="{FF2B5EF4-FFF2-40B4-BE49-F238E27FC236}">
                <a16:creationId xmlns:a16="http://schemas.microsoft.com/office/drawing/2014/main" id="{01B3C5AC-8DCE-46B0-A8FE-53D0AF09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4_BULLET_1">
            <a:extLst xmlns:a="http://schemas.openxmlformats.org/drawingml/2006/main">
              <a:ext uri="{FF2B5EF4-FFF2-40B4-BE49-F238E27FC236}">
                <a16:creationId xmlns:a16="http://schemas.microsoft.com/office/drawing/2014/main" id="{85CF175A-9389-4E95-AC07-CF57028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巴掌大的板子里，玻璃布、电容、光模块晶体过去都高度依赖日本</a:t>
            </a:r>
          </a:p>
        </p:txBody>
      </p:sp>
      <p:sp>
        <p:nvSpPr>
          <p:cNvPr id="6" name="P24_BULLET_MARK_2">
            <a:extLst xmlns:a="http://schemas.openxmlformats.org/drawingml/2006/main">
              <a:ext uri="{FF2B5EF4-FFF2-40B4-BE49-F238E27FC236}">
                <a16:creationId xmlns:a16="http://schemas.microsoft.com/office/drawing/2014/main" id="{DBB5BB1F-E713-444F-9A97-6D95887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4_BULLET_2">
            <a:extLst xmlns:a="http://schemas.openxmlformats.org/drawingml/2006/main">
              <a:ext uri="{FF2B5EF4-FFF2-40B4-BE49-F238E27FC236}">
                <a16:creationId xmlns:a16="http://schemas.microsoft.com/office/drawing/2014/main" id="{C8B1D05D-AEA6-4E8B-A33A-D1699AF6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下游更接近整机，是中国追赶最积极、与日本差距最小的一层</a:t>
            </a:r>
          </a:p>
        </p:txBody>
      </p:sp>
      <p:sp>
        <p:nvSpPr>
          <p:cNvPr id="8" name="P24_BULLET_MARK_3">
            <a:extLst xmlns:a="http://schemas.openxmlformats.org/drawingml/2006/main">
              <a:ext uri="{FF2B5EF4-FFF2-40B4-BE49-F238E27FC236}">
                <a16:creationId xmlns:a16="http://schemas.microsoft.com/office/drawing/2014/main" id="{75DDB2BC-6D0F-4174-9C60-874BB13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4_BULLET_3">
            <a:extLst xmlns:a="http://schemas.openxmlformats.org/drawingml/2006/main">
              <a:ext uri="{FF2B5EF4-FFF2-40B4-BE49-F238E27FC236}">
                <a16:creationId xmlns:a16="http://schemas.microsoft.com/office/drawing/2014/main" id="{95AAA7A9-49DA-4CA5-A287-69AE7BC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越靠近整机，日本的墙越薄；越往上游材料端，墙越厚</a:t>
            </a:r>
          </a:p>
        </p:txBody>
      </p:sp>
      <p:sp>
        <p:nvSpPr>
          <p:cNvPr id="10" name="P24_UP_BAR_1">
            <a:extLst xmlns:a="http://schemas.openxmlformats.org/drawingml/2006/main">
              <a:ext uri="{FF2B5EF4-FFF2-40B4-BE49-F238E27FC236}">
                <a16:creationId xmlns:a16="http://schemas.microsoft.com/office/drawing/2014/main" id="{87193B41-C28C-444A-8615-FE99915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1" name="P24_UP_BAR_LABEL_1">
            <a:extLst xmlns:a="http://schemas.openxmlformats.org/drawingml/2006/main">
              <a:ext uri="{FF2B5EF4-FFF2-40B4-BE49-F238E27FC236}">
                <a16:creationId xmlns:a16="http://schemas.microsoft.com/office/drawing/2014/main" id="{1C8523EE-1342-4F42-A576-6D6BCEA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下游</a:t>
            </a:r>
          </a:p>
        </p:txBody>
      </p:sp>
      <p:sp>
        <p:nvSpPr>
          <p:cNvPr id="12" name="P24_UP_BAR_SUB_1">
            <a:extLst xmlns:a="http://schemas.openxmlformats.org/drawingml/2006/main">
              <a:ext uri="{FF2B5EF4-FFF2-40B4-BE49-F238E27FC236}">
                <a16:creationId xmlns:a16="http://schemas.microsoft.com/office/drawing/2014/main" id="{A4002D8A-E2A2-440E-A559-F49FC02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离整机最近</a:t>
            </a:r>
          </a:p>
        </p:txBody>
      </p:sp>
      <p:sp>
        <p:nvSpPr>
          <p:cNvPr id="13" name="P24_UP_BAR_2">
            <a:extLst xmlns:a="http://schemas.openxmlformats.org/drawingml/2006/main">
              <a:ext uri="{FF2B5EF4-FFF2-40B4-BE49-F238E27FC236}">
                <a16:creationId xmlns:a16="http://schemas.microsoft.com/office/drawing/2014/main" id="{526D32DF-5343-49B1-B816-A347FF6A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1714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9AF"/>
          </a:solidFill>
          <a:ln xmlns:a="http://schemas.openxmlformats.org/drawingml/2006/main" w="0">
            <a:solidFill>
              <a:srgbClr val="8F89AF"/>
            </a:solidFill>
            <a:prstDash val="solid"/>
          </a:ln>
        </p:spPr>
      </p:sp>
      <p:sp>
        <p:nvSpPr>
          <p:cNvPr id="14" name="P24_UP_BAR_LABEL_2">
            <a:extLst xmlns:a="http://schemas.openxmlformats.org/drawingml/2006/main">
              <a:ext uri="{FF2B5EF4-FFF2-40B4-BE49-F238E27FC236}">
                <a16:creationId xmlns:a16="http://schemas.microsoft.com/office/drawing/2014/main" id="{7097740E-1C18-4A33-BB87-44418BC0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中游</a:t>
            </a:r>
          </a:p>
        </p:txBody>
      </p:sp>
      <p:sp>
        <p:nvSpPr>
          <p:cNvPr id="15" name="P24_UP_BAR_SUB_2">
            <a:extLst xmlns:a="http://schemas.openxmlformats.org/drawingml/2006/main">
              <a:ext uri="{FF2B5EF4-FFF2-40B4-BE49-F238E27FC236}">
                <a16:creationId xmlns:a16="http://schemas.microsoft.com/office/drawing/2014/main" id="{CE63A48B-C7C5-4A45-80DF-C877F0D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封装与设备</a:t>
            </a:r>
          </a:p>
        </p:txBody>
      </p:sp>
      <p:sp>
        <p:nvSpPr>
          <p:cNvPr id="16" name="P24_UP_BAR_3">
            <a:extLst xmlns:a="http://schemas.openxmlformats.org/drawingml/2006/main">
              <a:ext uri="{FF2B5EF4-FFF2-40B4-BE49-F238E27FC236}">
                <a16:creationId xmlns:a16="http://schemas.microsoft.com/office/drawing/2014/main" id="{73E913ED-4AA2-420C-A4C4-87250302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1714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3"/>
          </a:solidFill>
          <a:ln xmlns:a="http://schemas.openxmlformats.org/drawingml/2006/main" w="0">
            <a:solidFill>
              <a:srgbClr val="171813"/>
            </a:solidFill>
            <a:prstDash val="solid"/>
          </a:ln>
        </p:spPr>
      </p:sp>
      <p:sp>
        <p:nvSpPr>
          <p:cNvPr id="17" name="P24_UP_BAR_LABEL_3">
            <a:extLst xmlns:a="http://schemas.openxmlformats.org/drawingml/2006/main">
              <a:ext uri="{FF2B5EF4-FFF2-40B4-BE49-F238E27FC236}">
                <a16:creationId xmlns:a16="http://schemas.microsoft.com/office/drawing/2014/main" id="{2D200D6F-FD85-452C-82E9-50DF9B5E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</a:t>
            </a:r>
          </a:p>
        </p:txBody>
      </p:sp>
      <p:sp>
        <p:nvSpPr>
          <p:cNvPr id="18" name="P24_UP_BAR_SUB_3">
            <a:extLst xmlns:a="http://schemas.openxmlformats.org/drawingml/2006/main">
              <a:ext uri="{FF2B5EF4-FFF2-40B4-BE49-F238E27FC236}">
                <a16:creationId xmlns:a16="http://schemas.microsoft.com/office/drawing/2014/main" id="{6CA148B0-BF4F-4313-B5B7-136CDB2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最源头材料</a:t>
            </a:r>
          </a:p>
        </p:txBody>
      </p:sp>
      <p:sp>
        <p:nvSpPr>
          <p:cNvPr id="19" name="P24_UP_LOW">
            <a:extLst xmlns:a="http://schemas.openxmlformats.org/drawingml/2006/main">
              <a:ext uri="{FF2B5EF4-FFF2-40B4-BE49-F238E27FC236}">
                <a16:creationId xmlns:a16="http://schemas.microsoft.com/office/drawing/2014/main" id="{40C4D8D0-9C11-4783-81E2-036ADA6E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差距最小</a:t>
            </a:r>
          </a:p>
        </p:txBody>
      </p:sp>
      <p:sp>
        <p:nvSpPr>
          <p:cNvPr id="20" name="P24_UP_HIGH">
            <a:extLst xmlns:a="http://schemas.openxmlformats.org/drawingml/2006/main">
              <a:ext uri="{FF2B5EF4-FFF2-40B4-BE49-F238E27FC236}">
                <a16:creationId xmlns:a16="http://schemas.microsoft.com/office/drawing/2014/main" id="{37070108-0E3A-4E59-BF2E-81F57701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几乎无解</a:t>
            </a:r>
          </a:p>
        </p:txBody>
      </p:sp>
      <p:sp>
        <p:nvSpPr>
          <p:cNvPr id="21" name="P24_FOOTER_BADGE">
            <a:extLst xmlns:a="http://schemas.openxmlformats.org/drawingml/2006/main">
              <a:ext uri="{FF2B5EF4-FFF2-40B4-BE49-F238E27FC236}">
                <a16:creationId xmlns:a16="http://schemas.microsoft.com/office/drawing/2014/main" id="{444C6D5C-E0DF-4623-8B81-D49FBB6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2" name="P24_FOOTER_LABEL">
            <a:extLst xmlns:a="http://schemas.openxmlformats.org/drawingml/2006/main">
              <a:ext uri="{FF2B5EF4-FFF2-40B4-BE49-F238E27FC236}">
                <a16:creationId xmlns:a16="http://schemas.microsoft.com/office/drawing/2014/main" id="{A24796F2-AC6B-47EE-82A7-BC73F65E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24_FOOTER_TEXT">
            <a:extLst xmlns:a="http://schemas.openxmlformats.org/drawingml/2006/main">
              <a:ext uri="{FF2B5EF4-FFF2-40B4-BE49-F238E27FC236}">
                <a16:creationId xmlns:a16="http://schemas.microsoft.com/office/drawing/2014/main" id="{7D6EAD17-6F6C-4655-AB10-4DC32D31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下游的好消息，就从这一层开始</a:t>
            </a:r>
          </a:p>
        </p:txBody>
      </p:sp>
      <p:sp>
        <p:nvSpPr>
          <p:cNvPr id="24" name="P24_FOOTER_LINE">
            <a:extLst xmlns:a="http://schemas.openxmlformats.org/drawingml/2006/main">
              <a:ext uri="{FF2B5EF4-FFF2-40B4-BE49-F238E27FC236}">
                <a16:creationId xmlns:a16="http://schemas.microsoft.com/office/drawing/2014/main" id="{ABCE0354-300F-4B5D-BF2C-F2B6B5F0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4423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25_DOT">
            <a:extLst xmlns:a="http://schemas.openxmlformats.org/drawingml/2006/main">
              <a:ext uri="{FF2B5EF4-FFF2-40B4-BE49-F238E27FC236}">
                <a16:creationId xmlns:a16="http://schemas.microsoft.com/office/drawing/2014/main" id="{05FEBE6C-7B51-4BCA-B0E0-67A485CD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5_EYEBROW">
            <a:extLst xmlns:a="http://schemas.openxmlformats.org/drawingml/2006/main">
              <a:ext uri="{FF2B5EF4-FFF2-40B4-BE49-F238E27FC236}">
                <a16:creationId xmlns:a16="http://schemas.microsoft.com/office/drawing/2014/main" id="{09416D61-7CD5-445D-8720-6680AA4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电子布 · 反超最快的一格</a:t>
            </a:r>
          </a:p>
        </p:txBody>
      </p:sp>
      <p:sp>
        <p:nvSpPr>
          <p:cNvPr id="3" name="P25_TITLE">
            <a:extLst xmlns:a="http://schemas.openxmlformats.org/drawingml/2006/main">
              <a:ext uri="{FF2B5EF4-FFF2-40B4-BE49-F238E27FC236}">
                <a16:creationId xmlns:a16="http://schemas.microsoft.com/office/drawing/2014/main" id="{D5F75127-23D3-4D6B-AC60-9063958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高端电子布，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国产正越过日系</a:t>
            </a:r>
          </a:p>
        </p:txBody>
      </p:sp>
      <p:sp>
        <p:nvSpPr>
          <p:cNvPr id="4" name="P25_BULLET_MARK_1">
            <a:extLst xmlns:a="http://schemas.openxmlformats.org/drawingml/2006/main">
              <a:ext uri="{FF2B5EF4-FFF2-40B4-BE49-F238E27FC236}">
                <a16:creationId xmlns:a16="http://schemas.microsoft.com/office/drawing/2014/main" id="{261B7D12-9C18-418C-B998-F76EC41B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5_BULLET_1">
            <a:extLst xmlns:a="http://schemas.openxmlformats.org/drawingml/2006/main">
              <a:ext uri="{FF2B5EF4-FFF2-40B4-BE49-F238E27FC236}">
                <a16:creationId xmlns:a16="http://schemas.microsoft.com/office/drawing/2014/main" id="{08FDDDE7-9441-4CE2-8015-0EAB939C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AI高速板底材是玻璃布，关键是低介电的高端T布和Q布</a:t>
            </a:r>
          </a:p>
        </p:txBody>
      </p:sp>
      <p:sp>
        <p:nvSpPr>
          <p:cNvPr id="6" name="P25_BULLET_MARK_2">
            <a:extLst xmlns:a="http://schemas.openxmlformats.org/drawingml/2006/main">
              <a:ext uri="{FF2B5EF4-FFF2-40B4-BE49-F238E27FC236}">
                <a16:creationId xmlns:a16="http://schemas.microsoft.com/office/drawing/2014/main" id="{E5038F4E-24D6-4A3B-864A-DA9E31C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5_BULLET_2">
            <a:extLst xmlns:a="http://schemas.openxmlformats.org/drawingml/2006/main">
              <a:ext uri="{FF2B5EF4-FFF2-40B4-BE49-F238E27FC236}">
                <a16:creationId xmlns:a16="http://schemas.microsoft.com/office/drawing/2014/main" id="{EEC86EAA-2F68-4533-AE03-E3FA6C3A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最尖端品级过去由日东纺占据八九成，是下游日系份额最高的材料之一</a:t>
            </a:r>
          </a:p>
        </p:txBody>
      </p:sp>
      <p:sp>
        <p:nvSpPr>
          <p:cNvPr id="8" name="P25_BULLET_MARK_3">
            <a:extLst xmlns:a="http://schemas.openxmlformats.org/drawingml/2006/main">
              <a:ext uri="{FF2B5EF4-FFF2-40B4-BE49-F238E27FC236}">
                <a16:creationId xmlns:a16="http://schemas.microsoft.com/office/drawing/2014/main" id="{DAF53D9B-92F8-4BAC-A120-AD5762E7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5_BULLET_3">
            <a:extLst xmlns:a="http://schemas.openxmlformats.org/drawingml/2006/main">
              <a:ext uri="{FF2B5EF4-FFF2-40B4-BE49-F238E27FC236}">
                <a16:creationId xmlns:a16="http://schemas.microsoft.com/office/drawing/2014/main" id="{45290928-EDEB-494D-B8DA-5FC067F3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国产二代布良率已经追上，2026年出货量有望冲击全球第一</a:t>
            </a:r>
          </a:p>
        </p:txBody>
      </p:sp>
      <p:sp>
        <p:nvSpPr>
          <p:cNvPr id="10" name="P25_ECLOTH_1">
            <a:extLst xmlns:a="http://schemas.openxmlformats.org/drawingml/2006/main">
              <a:ext uri="{FF2B5EF4-FFF2-40B4-BE49-F238E27FC236}">
                <a16:creationId xmlns:a16="http://schemas.microsoft.com/office/drawing/2014/main" id="{73CE337C-B2AC-43D4-B7D4-BDACC29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4288">
            <a:solidFill>
              <a:srgbClr val="7E9066"/>
            </a:solidFill>
            <a:prstDash val="solid"/>
          </a:ln>
        </p:spPr>
      </p:sp>
      <p:sp>
        <p:nvSpPr>
          <p:cNvPr id="11" name="P25_ECLOTH_TITLE_1">
            <a:extLst xmlns:a="http://schemas.openxmlformats.org/drawingml/2006/main">
              <a:ext uri="{FF2B5EF4-FFF2-40B4-BE49-F238E27FC236}">
                <a16:creationId xmlns:a16="http://schemas.microsoft.com/office/drawing/2014/main" id="{776C1A5E-5F87-4B88-9005-899BF38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1957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普通玻璃布</a:t>
            </a:r>
          </a:p>
        </p:txBody>
      </p:sp>
      <p:sp>
        <p:nvSpPr>
          <p:cNvPr id="12" name="P25_ECLOTH_BODY_1">
            <a:extLst xmlns:a="http://schemas.openxmlformats.org/drawingml/2006/main">
              <a:ext uri="{FF2B5EF4-FFF2-40B4-BE49-F238E27FC236}">
                <a16:creationId xmlns:a16="http://schemas.microsoft.com/office/drawing/2014/main" id="{794DF92A-4FF3-4A93-8672-C028BA2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767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国产早已突破</a:t>
            </a:r>
          </a:p>
        </p:txBody>
      </p:sp>
      <p:sp>
        <p:nvSpPr>
          <p:cNvPr id="13" name="P25_ECLOTH_2">
            <a:extLst xmlns:a="http://schemas.openxmlformats.org/drawingml/2006/main">
              <a:ext uri="{FF2B5EF4-FFF2-40B4-BE49-F238E27FC236}">
                <a16:creationId xmlns:a16="http://schemas.microsoft.com/office/drawing/2014/main" id="{81A11D61-0CE5-4C19-B9CF-8255629D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4288">
            <a:solidFill>
              <a:srgbClr val="86A9C1"/>
            </a:solidFill>
            <a:prstDash val="solid"/>
          </a:ln>
        </p:spPr>
      </p:sp>
      <p:sp>
        <p:nvSpPr>
          <p:cNvPr id="14" name="P25_ECLOTH_TITLE_2">
            <a:extLst xmlns:a="http://schemas.openxmlformats.org/drawingml/2006/main">
              <a:ext uri="{FF2B5EF4-FFF2-40B4-BE49-F238E27FC236}">
                <a16:creationId xmlns:a16="http://schemas.microsoft.com/office/drawing/2014/main" id="{816813EB-667D-4B9C-B5F9-DAB9BFF8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高端T/Q布</a:t>
            </a:r>
          </a:p>
        </p:txBody>
      </p:sp>
      <p:sp>
        <p:nvSpPr>
          <p:cNvPr id="15" name="P25_ECLOTH_BODY_2">
            <a:extLst xmlns:a="http://schemas.openxmlformats.org/drawingml/2006/main">
              <a:ext uri="{FF2B5EF4-FFF2-40B4-BE49-F238E27FC236}">
                <a16:creationId xmlns:a16="http://schemas.microsoft.com/office/drawing/2014/main" id="{8F56A495-B84D-424B-828E-54721741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481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国产二代布良率追平</a:t>
            </a:r>
          </a:p>
        </p:txBody>
      </p:sp>
      <p:sp>
        <p:nvSpPr>
          <p:cNvPr id="16" name="P25_ECLOTH_3">
            <a:extLst xmlns:a="http://schemas.openxmlformats.org/drawingml/2006/main">
              <a:ext uri="{FF2B5EF4-FFF2-40B4-BE49-F238E27FC236}">
                <a16:creationId xmlns:a16="http://schemas.microsoft.com/office/drawing/2014/main" id="{37240E9F-B40B-4854-9500-E3DD15A4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4288">
            <a:solidFill>
              <a:srgbClr val="D86E49"/>
            </a:solidFill>
            <a:prstDash val="solid"/>
          </a:ln>
        </p:spPr>
      </p:sp>
      <p:sp>
        <p:nvSpPr>
          <p:cNvPr id="17" name="P25_ECLOTH_TITLE_3">
            <a:extLst xmlns:a="http://schemas.openxmlformats.org/drawingml/2006/main">
              <a:ext uri="{FF2B5EF4-FFF2-40B4-BE49-F238E27FC236}">
                <a16:creationId xmlns:a16="http://schemas.microsoft.com/office/drawing/2014/main" id="{64D1216F-E3B5-4420-9002-9E398F6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2026出货</a:t>
            </a:r>
          </a:p>
        </p:txBody>
      </p:sp>
      <p:sp>
        <p:nvSpPr>
          <p:cNvPr id="18" name="P25_ECLOTH_BODY_3">
            <a:extLst xmlns:a="http://schemas.openxmlformats.org/drawingml/2006/main">
              <a:ext uri="{FF2B5EF4-FFF2-40B4-BE49-F238E27FC236}">
                <a16:creationId xmlns:a16="http://schemas.microsoft.com/office/drawing/2014/main" id="{9874D817-F434-4B31-8CA4-A7EA2DA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有望冲击全球第一</a:t>
            </a:r>
          </a:p>
        </p:txBody>
      </p:sp>
      <p:sp>
        <p:nvSpPr>
          <p:cNvPr id="19" name="P25_FOOTER_BADGE">
            <a:extLst xmlns:a="http://schemas.openxmlformats.org/drawingml/2006/main">
              <a:ext uri="{FF2B5EF4-FFF2-40B4-BE49-F238E27FC236}">
                <a16:creationId xmlns:a16="http://schemas.microsoft.com/office/drawing/2014/main" id="{4CEE5424-AD9E-4806-9499-EF7874B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0" name="P25_FOOTER_LABEL">
            <a:extLst xmlns:a="http://schemas.openxmlformats.org/drawingml/2006/main">
              <a:ext uri="{FF2B5EF4-FFF2-40B4-BE49-F238E27FC236}">
                <a16:creationId xmlns:a16="http://schemas.microsoft.com/office/drawing/2014/main" id="{A06C0004-F45A-4499-98BD-C5071CBE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P25_FOOTER_TEXT">
            <a:extLst xmlns:a="http://schemas.openxmlformats.org/drawingml/2006/main">
              <a:ext uri="{FF2B5EF4-FFF2-40B4-BE49-F238E27FC236}">
                <a16:creationId xmlns:a16="http://schemas.microsoft.com/office/drawing/2014/main" id="{CCFCDE49-6E6E-4753-9C6A-D55E72A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这是中国反超最快的一环</a:t>
            </a:r>
          </a:p>
        </p:txBody>
      </p:sp>
      <p:sp>
        <p:nvSpPr>
          <p:cNvPr id="22" name="P25_FOOTER_LINE">
            <a:extLst xmlns:a="http://schemas.openxmlformats.org/drawingml/2006/main">
              <a:ext uri="{FF2B5EF4-FFF2-40B4-BE49-F238E27FC236}">
                <a16:creationId xmlns:a16="http://schemas.microsoft.com/office/drawing/2014/main" id="{61E67BBA-1D47-46CD-A49C-122CFB9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23034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26_DOT">
            <a:extLst xmlns:a="http://schemas.openxmlformats.org/drawingml/2006/main">
              <a:ext uri="{FF2B5EF4-FFF2-40B4-BE49-F238E27FC236}">
                <a16:creationId xmlns:a16="http://schemas.microsoft.com/office/drawing/2014/main" id="{646F6213-0F9E-4B75-B670-FD9D5D8F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6_EYEBROW">
            <a:extLst xmlns:a="http://schemas.openxmlformats.org/drawingml/2006/main">
              <a:ext uri="{FF2B5EF4-FFF2-40B4-BE49-F238E27FC236}">
                <a16:creationId xmlns:a16="http://schemas.microsoft.com/office/drawing/2014/main" id="{13D908B9-94E7-450C-89F4-6338B9EC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织布机 · 材料松、设备卡</a:t>
            </a:r>
          </a:p>
        </p:txBody>
      </p:sp>
      <p:sp>
        <p:nvSpPr>
          <p:cNvPr id="3" name="P26_TITLE">
            <a:extLst xmlns:a="http://schemas.openxmlformats.org/drawingml/2006/main">
              <a:ext uri="{FF2B5EF4-FFF2-40B4-BE49-F238E27FC236}">
                <a16:creationId xmlns:a16="http://schemas.microsoft.com/office/drawing/2014/main" id="{95FB0758-745C-49C8-B388-D8E45DD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布能追上，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织布的机器追不上</a:t>
            </a:r>
          </a:p>
        </p:txBody>
      </p:sp>
      <p:sp>
        <p:nvSpPr>
          <p:cNvPr id="4" name="P26_BULLET_MARK_1">
            <a:extLst xmlns:a="http://schemas.openxmlformats.org/drawingml/2006/main">
              <a:ext uri="{FF2B5EF4-FFF2-40B4-BE49-F238E27FC236}">
                <a16:creationId xmlns:a16="http://schemas.microsoft.com/office/drawing/2014/main" id="{B7461ADC-0E3A-4651-AE2F-1FCCEBF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6_BULLET_1">
            <a:extLst xmlns:a="http://schemas.openxmlformats.org/drawingml/2006/main">
              <a:ext uri="{FF2B5EF4-FFF2-40B4-BE49-F238E27FC236}">
                <a16:creationId xmlns:a16="http://schemas.microsoft.com/office/drawing/2014/main" id="{4351124D-0FA5-411D-BC0E-D1AA11EA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高端低介电布需要特种喷气织机，全球主要由两家日本公司供应</a:t>
            </a:r>
          </a:p>
        </p:txBody>
      </p:sp>
      <p:sp>
        <p:nvSpPr>
          <p:cNvPr id="6" name="P26_BULLET_MARK_2">
            <a:extLst xmlns:a="http://schemas.openxmlformats.org/drawingml/2006/main">
              <a:ext uri="{FF2B5EF4-FFF2-40B4-BE49-F238E27FC236}">
                <a16:creationId xmlns:a16="http://schemas.microsoft.com/office/drawing/2014/main" id="{B3AE6CFB-FBF2-4D12-8D12-A12461A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6_BULLET_2">
            <a:extLst xmlns:a="http://schemas.openxmlformats.org/drawingml/2006/main">
              <a:ext uri="{FF2B5EF4-FFF2-40B4-BE49-F238E27FC236}">
                <a16:creationId xmlns:a16="http://schemas.microsoft.com/office/drawing/2014/main" id="{5FDDA46D-352D-4E13-9A5B-2440228A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订单已经排到2030年前后，新增织机能力每年约200台</a:t>
            </a:r>
          </a:p>
        </p:txBody>
      </p:sp>
      <p:sp>
        <p:nvSpPr>
          <p:cNvPr id="8" name="P26_BULLET_MARK_3">
            <a:extLst xmlns:a="http://schemas.openxmlformats.org/drawingml/2006/main">
              <a:ext uri="{FF2B5EF4-FFF2-40B4-BE49-F238E27FC236}">
                <a16:creationId xmlns:a16="http://schemas.microsoft.com/office/drawing/2014/main" id="{4152446F-BB56-4578-A985-5F7AEA00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6_BULLET_3">
            <a:extLst xmlns:a="http://schemas.openxmlformats.org/drawingml/2006/main">
              <a:ext uri="{FF2B5EF4-FFF2-40B4-BE49-F238E27FC236}">
                <a16:creationId xmlns:a16="http://schemas.microsoft.com/office/drawing/2014/main" id="{A5B349D0-8153-4A5E-8946-908F6F4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布可以扩产，机器却买不到，瓶颈从材料后退到了设备</a:t>
            </a:r>
          </a:p>
        </p:txBody>
      </p:sp>
      <p:sp>
        <p:nvSpPr>
          <p:cNvPr id="10" name="P26_LOOM_X">
            <a:extLst xmlns:a="http://schemas.openxmlformats.org/drawingml/2006/main">
              <a:ext uri="{FF2B5EF4-FFF2-40B4-BE49-F238E27FC236}">
                <a16:creationId xmlns:a16="http://schemas.microsoft.com/office/drawing/2014/main" id="{61CEE4DC-1535-4FF5-AB08-22239678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P26_LOOM_EQ">
            <a:extLst xmlns:a="http://schemas.openxmlformats.org/drawingml/2006/main">
              <a:ext uri="{FF2B5EF4-FFF2-40B4-BE49-F238E27FC236}">
                <a16:creationId xmlns:a16="http://schemas.microsoft.com/office/drawing/2014/main" id="{E94D8924-4B7D-4BB0-9775-69541D31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2" name="P26_LOOM_1">
            <a:extLst xmlns:a="http://schemas.openxmlformats.org/drawingml/2006/main">
              <a:ext uri="{FF2B5EF4-FFF2-40B4-BE49-F238E27FC236}">
                <a16:creationId xmlns:a16="http://schemas.microsoft.com/office/drawing/2014/main" id="{BB7C90C8-5D5F-4D34-8EA6-874BF03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57575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3" name="P26_LOOM_1_TITLE">
            <a:extLst xmlns:a="http://schemas.openxmlformats.org/drawingml/2006/main">
              <a:ext uri="{FF2B5EF4-FFF2-40B4-BE49-F238E27FC236}">
                <a16:creationId xmlns:a16="http://schemas.microsoft.com/office/drawing/2014/main" id="{DF046723-9AF7-46F2-A4DF-465E9F59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718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新增织机</a:t>
            </a:r>
          </a:p>
        </p:txBody>
      </p:sp>
      <p:sp>
        <p:nvSpPr>
          <p:cNvPr id="14" name="P26_LOOM_1_BODY">
            <a:extLst xmlns:a="http://schemas.openxmlformats.org/drawingml/2006/main">
              <a:ext uri="{FF2B5EF4-FFF2-40B4-BE49-F238E27FC236}">
                <a16:creationId xmlns:a16="http://schemas.microsoft.com/office/drawing/2014/main" id="{2730EF3B-DB33-4258-A7CF-E704886D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324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约200台 / 年</a:t>
            </a:r>
          </a:p>
        </p:txBody>
      </p:sp>
      <p:sp>
        <p:nvSpPr>
          <p:cNvPr id="15" name="P26_LOOM_2">
            <a:extLst xmlns:a="http://schemas.openxmlformats.org/drawingml/2006/main">
              <a:ext uri="{FF2B5EF4-FFF2-40B4-BE49-F238E27FC236}">
                <a16:creationId xmlns:a16="http://schemas.microsoft.com/office/drawing/2014/main" id="{0A73AD88-E10B-4DD2-9176-DDDFE48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57575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6" name="P26_LOOM_2_TITLE">
            <a:extLst xmlns:a="http://schemas.openxmlformats.org/drawingml/2006/main">
              <a:ext uri="{FF2B5EF4-FFF2-40B4-BE49-F238E27FC236}">
                <a16:creationId xmlns:a16="http://schemas.microsoft.com/office/drawing/2014/main" id="{B15C3FB8-D398-491D-B799-A2456E42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718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单机AI布</a:t>
            </a:r>
          </a:p>
        </p:txBody>
      </p:sp>
      <p:sp>
        <p:nvSpPr>
          <p:cNvPr id="17" name="P26_LOOM_2_BODY">
            <a:extLst xmlns:a="http://schemas.openxmlformats.org/drawingml/2006/main">
              <a:ext uri="{FF2B5EF4-FFF2-40B4-BE49-F238E27FC236}">
                <a16:creationId xmlns:a16="http://schemas.microsoft.com/office/drawing/2014/main" id="{77ADEABF-51DF-44C7-92A2-6EFDC00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2324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约7,500米 / 年</a:t>
            </a:r>
          </a:p>
        </p:txBody>
      </p:sp>
      <p:sp>
        <p:nvSpPr>
          <p:cNvPr id="18" name="P26_LOOM_3">
            <a:extLst xmlns:a="http://schemas.openxmlformats.org/drawingml/2006/main">
              <a:ext uri="{FF2B5EF4-FFF2-40B4-BE49-F238E27FC236}">
                <a16:creationId xmlns:a16="http://schemas.microsoft.com/office/drawing/2014/main" id="{4123F1A0-630E-485B-AEC4-4269CE58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57575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9" name="P26_LOOM_3_TITLE">
            <a:extLst xmlns:a="http://schemas.openxmlformats.org/drawingml/2006/main">
              <a:ext uri="{FF2B5EF4-FFF2-40B4-BE49-F238E27FC236}">
                <a16:creationId xmlns:a16="http://schemas.microsoft.com/office/drawing/2014/main" id="{2397B80E-D68D-4877-A93D-807482E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718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一年新增</a:t>
            </a:r>
          </a:p>
        </p:txBody>
      </p:sp>
      <p:sp>
        <p:nvSpPr>
          <p:cNvPr id="20" name="P26_LOOM_3_BODY">
            <a:extLst xmlns:a="http://schemas.openxmlformats.org/drawingml/2006/main">
              <a:ext uri="{FF2B5EF4-FFF2-40B4-BE49-F238E27FC236}">
                <a16:creationId xmlns:a16="http://schemas.microsoft.com/office/drawing/2014/main" id="{B726CCC6-FAD6-49D2-863B-D4F77B9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05250"/>
            <a:ext cx="2324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约150万米</a:t>
            </a:r>
          </a:p>
        </p:txBody>
      </p:sp>
      <p:sp>
        <p:nvSpPr>
          <p:cNvPr id="21" name="P26_FOOTER_BADGE">
            <a:extLst xmlns:a="http://schemas.openxmlformats.org/drawingml/2006/main">
              <a:ext uri="{FF2B5EF4-FFF2-40B4-BE49-F238E27FC236}">
                <a16:creationId xmlns:a16="http://schemas.microsoft.com/office/drawing/2014/main" id="{FE0DF7BC-0682-4096-8B2C-77D6777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2" name="P26_FOOTER_LABEL">
            <a:extLst xmlns:a="http://schemas.openxmlformats.org/drawingml/2006/main">
              <a:ext uri="{FF2B5EF4-FFF2-40B4-BE49-F238E27FC236}">
                <a16:creationId xmlns:a16="http://schemas.microsoft.com/office/drawing/2014/main" id="{EDE65898-08F3-46CA-ABCD-569BC89D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26_FOOTER_TEXT">
            <a:extLst xmlns:a="http://schemas.openxmlformats.org/drawingml/2006/main">
              <a:ext uri="{FF2B5EF4-FFF2-40B4-BE49-F238E27FC236}">
                <a16:creationId xmlns:a16="http://schemas.microsoft.com/office/drawing/2014/main" id="{4C3EED77-4E71-406B-AA88-B6483C50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同一条链，材料先松、设备后卡</a:t>
            </a:r>
          </a:p>
        </p:txBody>
      </p:sp>
      <p:sp>
        <p:nvSpPr>
          <p:cNvPr id="24" name="P26_FOOTER_LINE">
            <a:extLst xmlns:a="http://schemas.openxmlformats.org/drawingml/2006/main">
              <a:ext uri="{FF2B5EF4-FFF2-40B4-BE49-F238E27FC236}">
                <a16:creationId xmlns:a16="http://schemas.microsoft.com/office/drawing/2014/main" id="{EB1E64E0-CBA3-4407-BEBF-24954F12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2832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27_DOT">
            <a:extLst xmlns:a="http://schemas.openxmlformats.org/drawingml/2006/main">
              <a:ext uri="{FF2B5EF4-FFF2-40B4-BE49-F238E27FC236}">
                <a16:creationId xmlns:a16="http://schemas.microsoft.com/office/drawing/2014/main" id="{35543C4B-9510-442E-A433-CFB491BF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7_EYEBROW">
            <a:extLst xmlns:a="http://schemas.openxmlformats.org/drawingml/2006/main">
              <a:ext uri="{FF2B5EF4-FFF2-40B4-BE49-F238E27FC236}">
                <a16:creationId xmlns:a16="http://schemas.microsoft.com/office/drawing/2014/main" id="{64545781-69B3-43AA-8E3B-107A55F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HVLP铜箔 · 良率壁垒</a:t>
            </a:r>
          </a:p>
        </p:txBody>
      </p:sp>
      <p:sp>
        <p:nvSpPr>
          <p:cNvPr id="3" name="P27_TITLE">
            <a:extLst xmlns:a="http://schemas.openxmlformats.org/drawingml/2006/main">
              <a:ext uri="{FF2B5EF4-FFF2-40B4-BE49-F238E27FC236}">
                <a16:creationId xmlns:a16="http://schemas.microsoft.com/office/drawing/2014/main" id="{1253FE90-197F-46FC-B79E-62B4021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高速铜箔，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良率差距约等于八个月</a:t>
            </a:r>
          </a:p>
        </p:txBody>
      </p:sp>
      <p:sp>
        <p:nvSpPr>
          <p:cNvPr id="4" name="P27_BULLET_MARK_1">
            <a:extLst xmlns:a="http://schemas.openxmlformats.org/drawingml/2006/main">
              <a:ext uri="{FF2B5EF4-FFF2-40B4-BE49-F238E27FC236}">
                <a16:creationId xmlns:a16="http://schemas.microsoft.com/office/drawing/2014/main" id="{DC7AF727-F784-4F4B-8CC3-01C45F7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7_BULLET_1">
            <a:extLst xmlns:a="http://schemas.openxmlformats.org/drawingml/2006/main">
              <a:ext uri="{FF2B5EF4-FFF2-40B4-BE49-F238E27FC236}">
                <a16:creationId xmlns:a16="http://schemas.microsoft.com/office/drawing/2014/main" id="{B6F89CD3-A088-4E47-830C-0E0A577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AI高速板使用HVLP铜箔，最尖端品级仍由日本厂商占据八九成</a:t>
            </a:r>
          </a:p>
        </p:txBody>
      </p:sp>
      <p:sp>
        <p:nvSpPr>
          <p:cNvPr id="6" name="P27_BULLET_MARK_2">
            <a:extLst xmlns:a="http://schemas.openxmlformats.org/drawingml/2006/main">
              <a:ext uri="{FF2B5EF4-FFF2-40B4-BE49-F238E27FC236}">
                <a16:creationId xmlns:a16="http://schemas.microsoft.com/office/drawing/2014/main" id="{99583790-DCA3-439B-990E-96D5BB4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7_BULLET_2">
            <a:extLst xmlns:a="http://schemas.openxmlformats.org/drawingml/2006/main">
              <a:ext uri="{FF2B5EF4-FFF2-40B4-BE49-F238E27FC236}">
                <a16:creationId xmlns:a16="http://schemas.microsoft.com/office/drawing/2014/main" id="{56F0E8F9-6DAE-4853-99F6-5CC3AF8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国产仅少数企业能批量供货，良率约30%，海外先进水平约50%</a:t>
            </a:r>
          </a:p>
        </p:txBody>
      </p:sp>
      <p:sp>
        <p:nvSpPr>
          <p:cNvPr id="8" name="P27_BULLET_MARK_3">
            <a:extLst xmlns:a="http://schemas.openxmlformats.org/drawingml/2006/main">
              <a:ext uri="{FF2B5EF4-FFF2-40B4-BE49-F238E27FC236}">
                <a16:creationId xmlns:a16="http://schemas.microsoft.com/office/drawing/2014/main" id="{629EEAAE-C9F9-495F-9EE8-00A66BD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7_BULLET_3">
            <a:extLst xmlns:a="http://schemas.openxmlformats.org/drawingml/2006/main">
              <a:ext uri="{FF2B5EF4-FFF2-40B4-BE49-F238E27FC236}">
                <a16:creationId xmlns:a16="http://schemas.microsoft.com/office/drawing/2014/main" id="{9DEF25C8-D97D-4D25-AA36-9FE982C3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追平相同产量需要多投入约2/3原料，折算成约八个月的壁垒</a:t>
            </a:r>
          </a:p>
        </p:txBody>
      </p:sp>
      <p:sp>
        <p:nvSpPr>
          <p:cNvPr id="10" name="P27_YIELD_OVERSEAS">
            <a:extLst xmlns:a="http://schemas.openxmlformats.org/drawingml/2006/main">
              <a:ext uri="{FF2B5EF4-FFF2-40B4-BE49-F238E27FC236}">
                <a16:creationId xmlns:a16="http://schemas.microsoft.com/office/drawing/2014/main" id="{E55BCCD2-186B-4733-853D-08BF259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48075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8"/>
          </a:solidFill>
          <a:ln xmlns:a="http://schemas.openxmlformats.org/drawingml/2006/main" w="14288">
            <a:solidFill>
              <a:srgbClr val="7E9066"/>
            </a:solidFill>
            <a:prstDash val="solid"/>
          </a:ln>
        </p:spPr>
      </p:sp>
      <p:sp>
        <p:nvSpPr>
          <p:cNvPr id="11" name="P27_YIELD_CN">
            <a:extLst xmlns:a="http://schemas.openxmlformats.org/drawingml/2006/main">
              <a:ext uri="{FF2B5EF4-FFF2-40B4-BE49-F238E27FC236}">
                <a16:creationId xmlns:a16="http://schemas.microsoft.com/office/drawing/2014/main" id="{17401DB6-0B91-4B29-95AE-C145C35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95775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1"/>
          </a:solidFill>
          <a:ln xmlns:a="http://schemas.openxmlformats.org/drawingml/2006/main" w="14288">
            <a:solidFill>
              <a:srgbClr val="D86E49"/>
            </a:solidFill>
            <a:prstDash val="solid"/>
          </a:ln>
        </p:spPr>
      </p:sp>
      <p:sp>
        <p:nvSpPr>
          <p:cNvPr id="12" name="P27_YIELD_50">
            <a:extLst xmlns:a="http://schemas.openxmlformats.org/drawingml/2006/main">
              <a:ext uri="{FF2B5EF4-FFF2-40B4-BE49-F238E27FC236}">
                <a16:creationId xmlns:a16="http://schemas.microsoft.com/office/drawing/2014/main" id="{2A9A11BA-4F84-446C-BAD5-03B45F3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385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13" name="P27_YIELD_30">
            <a:extLst xmlns:a="http://schemas.openxmlformats.org/drawingml/2006/main">
              <a:ext uri="{FF2B5EF4-FFF2-40B4-BE49-F238E27FC236}">
                <a16:creationId xmlns:a16="http://schemas.microsoft.com/office/drawing/2014/main" id="{C7DDFB5A-8A1C-42C0-BD41-CD711BE7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4" name="P27_YIELD_L1">
            <a:extLst xmlns:a="http://schemas.openxmlformats.org/drawingml/2006/main">
              <a:ext uri="{FF2B5EF4-FFF2-40B4-BE49-F238E27FC236}">
                <a16:creationId xmlns:a16="http://schemas.microsoft.com/office/drawing/2014/main" id="{7F79954A-7397-4792-9DAE-98020263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海外良率</a:t>
            </a:r>
          </a:p>
        </p:txBody>
      </p:sp>
      <p:sp>
        <p:nvSpPr>
          <p:cNvPr id="15" name="P27_YIELD_L2">
            <a:extLst xmlns:a="http://schemas.openxmlformats.org/drawingml/2006/main">
              <a:ext uri="{FF2B5EF4-FFF2-40B4-BE49-F238E27FC236}">
                <a16:creationId xmlns:a16="http://schemas.microsoft.com/office/drawing/2014/main" id="{C5D6F3E8-C06B-4C37-B1C4-38410824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14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国产良率</a:t>
            </a:r>
          </a:p>
        </p:txBody>
      </p:sp>
      <p:sp>
        <p:nvSpPr>
          <p:cNvPr id="16" name="P27_YIELD_NOTE">
            <a:extLst xmlns:a="http://schemas.openxmlformats.org/drawingml/2006/main">
              <a:ext uri="{FF2B5EF4-FFF2-40B4-BE49-F238E27FC236}">
                <a16:creationId xmlns:a16="http://schemas.microsoft.com/office/drawing/2014/main" id="{CE8A9440-EE12-45DB-9C01-8903C4B7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7" name="P27_YIELD_NOTE_TITLE">
            <a:extLst xmlns:a="http://schemas.openxmlformats.org/drawingml/2006/main">
              <a:ext uri="{FF2B5EF4-FFF2-40B4-BE49-F238E27FC236}">
                <a16:creationId xmlns:a16="http://schemas.microsoft.com/office/drawing/2014/main" id="{C18F5505-4A93-474B-8ED7-3201FAC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338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追平产量</a:t>
            </a:r>
          </a:p>
        </p:txBody>
      </p:sp>
      <p:sp>
        <p:nvSpPr>
          <p:cNvPr id="18" name="P27_YIELD_NOTE_BODY">
            <a:extLst xmlns:a="http://schemas.openxmlformats.org/drawingml/2006/main">
              <a:ext uri="{FF2B5EF4-FFF2-40B4-BE49-F238E27FC236}">
                <a16:creationId xmlns:a16="http://schemas.microsoft.com/office/drawing/2014/main" id="{E687C1EE-F1ED-47EE-A8D5-1625F31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67175"/>
            <a:ext cx="2228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多投约2/3原料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≈ 增加8个月</a:t>
            </a:r>
          </a:p>
        </p:txBody>
      </p:sp>
      <p:sp>
        <p:nvSpPr>
          <p:cNvPr id="19" name="P27_FOOTER_BADGE">
            <a:extLst xmlns:a="http://schemas.openxmlformats.org/drawingml/2006/main">
              <a:ext uri="{FF2B5EF4-FFF2-40B4-BE49-F238E27FC236}">
                <a16:creationId xmlns:a16="http://schemas.microsoft.com/office/drawing/2014/main" id="{324FB5BA-868B-43BE-BD28-2C824DF9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0" name="P27_FOOTER_LABEL">
            <a:extLst xmlns:a="http://schemas.openxmlformats.org/drawingml/2006/main">
              <a:ext uri="{FF2B5EF4-FFF2-40B4-BE49-F238E27FC236}">
                <a16:creationId xmlns:a16="http://schemas.microsoft.com/office/drawing/2014/main" id="{727234BF-8D72-47AB-9248-0A535C67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P27_FOOTER_TEXT">
            <a:extLst xmlns:a="http://schemas.openxmlformats.org/drawingml/2006/main">
              <a:ext uri="{FF2B5EF4-FFF2-40B4-BE49-F238E27FC236}">
                <a16:creationId xmlns:a16="http://schemas.microsoft.com/office/drawing/2014/main" id="{43E63238-738D-482F-803A-FB6F03A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普通铜箔早已过剩，真坎是这道良率</a:t>
            </a:r>
          </a:p>
        </p:txBody>
      </p:sp>
      <p:sp>
        <p:nvSpPr>
          <p:cNvPr id="22" name="P27_FOOTER_LINE">
            <a:extLst xmlns:a="http://schemas.openxmlformats.org/drawingml/2006/main">
              <a:ext uri="{FF2B5EF4-FFF2-40B4-BE49-F238E27FC236}">
                <a16:creationId xmlns:a16="http://schemas.microsoft.com/office/drawing/2014/main" id="{7BE5DD47-A097-4463-900D-9A1CEA3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4588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28_DOT">
            <a:extLst xmlns:a="http://schemas.openxmlformats.org/drawingml/2006/main">
              <a:ext uri="{FF2B5EF4-FFF2-40B4-BE49-F238E27FC236}">
                <a16:creationId xmlns:a16="http://schemas.microsoft.com/office/drawing/2014/main" id="{FDE5E78D-8B27-40E7-A119-EFF15F8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8_EYEBROW">
            <a:extLst xmlns:a="http://schemas.openxmlformats.org/drawingml/2006/main">
              <a:ext uri="{FF2B5EF4-FFF2-40B4-BE49-F238E27FC236}">
                <a16:creationId xmlns:a16="http://schemas.microsoft.com/office/drawing/2014/main" id="{4F939129-F790-4E67-A7F1-69785E2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微钻头 · 需求乘出来</a:t>
            </a:r>
          </a:p>
        </p:txBody>
      </p:sp>
      <p:sp>
        <p:nvSpPr>
          <p:cNvPr id="3" name="P28_TITLE">
            <a:extLst xmlns:a="http://schemas.openxmlformats.org/drawingml/2006/main">
              <a:ext uri="{FF2B5EF4-FFF2-40B4-BE49-F238E27FC236}">
                <a16:creationId xmlns:a16="http://schemas.microsoft.com/office/drawing/2014/main" id="{C771A908-4FB2-4683-B876-964DD74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一颗一元的钻头，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被AI追成紧俏货</a:t>
            </a:r>
          </a:p>
        </p:txBody>
      </p:sp>
      <p:sp>
        <p:nvSpPr>
          <p:cNvPr id="4" name="P28_BULLET_MARK_1">
            <a:extLst xmlns:a="http://schemas.openxmlformats.org/drawingml/2006/main">
              <a:ext uri="{FF2B5EF4-FFF2-40B4-BE49-F238E27FC236}">
                <a16:creationId xmlns:a16="http://schemas.microsoft.com/office/drawing/2014/main" id="{28778A9F-EA52-4A7A-82F8-DE05E54F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8_BULLET_1">
            <a:extLst xmlns:a="http://schemas.openxmlformats.org/drawingml/2006/main">
              <a:ext uri="{FF2B5EF4-FFF2-40B4-BE49-F238E27FC236}">
                <a16:creationId xmlns:a16="http://schemas.microsoft.com/office/drawing/2014/main" id="{6AA8522D-DAE0-4707-AFCF-B65729D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一块AI主板要钻几万到近十万个微孔，孔径可小于0.1毫米</a:t>
            </a:r>
          </a:p>
        </p:txBody>
      </p:sp>
      <p:sp>
        <p:nvSpPr>
          <p:cNvPr id="6" name="P28_BULLET_MARK_2">
            <a:extLst xmlns:a="http://schemas.openxmlformats.org/drawingml/2006/main">
              <a:ext uri="{FF2B5EF4-FFF2-40B4-BE49-F238E27FC236}">
                <a16:creationId xmlns:a16="http://schemas.microsoft.com/office/drawing/2014/main" id="{608F941B-723C-422F-882C-44437AA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8_BULLET_2">
            <a:extLst xmlns:a="http://schemas.openxmlformats.org/drawingml/2006/main">
              <a:ext uri="{FF2B5EF4-FFF2-40B4-BE49-F238E27FC236}">
                <a16:creationId xmlns:a16="http://schemas.microsoft.com/office/drawing/2014/main" id="{820AAC47-5EA0-4102-B0E7-A894EF30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微钻头由日本Union Tool长期领先，耗材属性带来稳定需求</a:t>
            </a:r>
          </a:p>
        </p:txBody>
      </p:sp>
      <p:sp>
        <p:nvSpPr>
          <p:cNvPr id="8" name="P28_BULLET_MARK_3">
            <a:extLst xmlns:a="http://schemas.openxmlformats.org/drawingml/2006/main">
              <a:ext uri="{FF2B5EF4-FFF2-40B4-BE49-F238E27FC236}">
                <a16:creationId xmlns:a16="http://schemas.microsoft.com/office/drawing/2014/main" id="{CDE4766F-750F-4813-A67F-C67533A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8_BULLET_3">
            <a:extLst xmlns:a="http://schemas.openxmlformats.org/drawingml/2006/main">
              <a:ext uri="{FF2B5EF4-FFF2-40B4-BE49-F238E27FC236}">
                <a16:creationId xmlns:a16="http://schemas.microsoft.com/office/drawing/2014/main" id="{6F3FBEA1-DFF9-415B-9CB5-CA79FD28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需求等于孔数乘以损耗：孔越密、磨损越快、替换越频繁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238250" y="3028950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712b21594044b7"/>
          </a:graphicData>
        </a:graphic>
      </p:graphicFrame>
      <p:sp>
        <p:nvSpPr>
          <p:cNvPr id="11" name="P28_DRILL_NOTE">
            <a:extLst xmlns:a="http://schemas.openxmlformats.org/drawingml/2006/main">
              <a:ext uri="{FF2B5EF4-FFF2-40B4-BE49-F238E27FC236}">
                <a16:creationId xmlns:a16="http://schemas.microsoft.com/office/drawing/2014/main" id="{A0B3218F-1620-409A-A35B-25DF76EB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812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12" name="P28_DRILL_NOTE_TITLE">
            <a:extLst xmlns:a="http://schemas.openxmlformats.org/drawingml/2006/main">
              <a:ext uri="{FF2B5EF4-FFF2-40B4-BE49-F238E27FC236}">
                <a16:creationId xmlns:a16="http://schemas.microsoft.com/office/drawing/2014/main" id="{0898241E-8161-42A5-82BE-8F5655ED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需求公式</a:t>
            </a:r>
          </a:p>
        </p:txBody>
      </p:sp>
      <p:sp>
        <p:nvSpPr>
          <p:cNvPr id="13" name="P28_DRILL_NOTE_BODY">
            <a:extLst xmlns:a="http://schemas.openxmlformats.org/drawingml/2006/main">
              <a:ext uri="{FF2B5EF4-FFF2-40B4-BE49-F238E27FC236}">
                <a16:creationId xmlns:a16="http://schemas.microsoft.com/office/drawing/2014/main" id="{AA35C56C-A157-4470-B6BF-22AFB97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81425"/>
            <a:ext cx="20383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孔数 × 损耗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孔越密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更换越频繁</a:t>
            </a:r>
          </a:p>
        </p:txBody>
      </p:sp>
      <p:sp>
        <p:nvSpPr>
          <p:cNvPr id="14" name="P28_FOOTER_BADGE">
            <a:extLst xmlns:a="http://schemas.openxmlformats.org/drawingml/2006/main">
              <a:ext uri="{FF2B5EF4-FFF2-40B4-BE49-F238E27FC236}">
                <a16:creationId xmlns:a16="http://schemas.microsoft.com/office/drawing/2014/main" id="{DFBEF790-A9B7-4B07-A9B4-DDE3E127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15" name="P28_FOOTER_LABEL">
            <a:extLst xmlns:a="http://schemas.openxmlformats.org/drawingml/2006/main">
              <a:ext uri="{FF2B5EF4-FFF2-40B4-BE49-F238E27FC236}">
                <a16:creationId xmlns:a16="http://schemas.microsoft.com/office/drawing/2014/main" id="{E4F7693D-E0E0-4F95-90EE-FC8C4CD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6" name="P28_FOOTER_TEXT">
            <a:extLst xmlns:a="http://schemas.openxmlformats.org/drawingml/2006/main">
              <a:ext uri="{FF2B5EF4-FFF2-40B4-BE49-F238E27FC236}">
                <a16:creationId xmlns:a16="http://schemas.microsoft.com/office/drawing/2014/main" id="{C735D5BD-A846-4196-A09E-A70A774F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命门没那么高，但需求很确定</a:t>
            </a:r>
          </a:p>
        </p:txBody>
      </p:sp>
      <p:sp>
        <p:nvSpPr>
          <p:cNvPr id="17" name="P28_FOOTER_LINE">
            <a:extLst xmlns:a="http://schemas.openxmlformats.org/drawingml/2006/main">
              <a:ext uri="{FF2B5EF4-FFF2-40B4-BE49-F238E27FC236}">
                <a16:creationId xmlns:a16="http://schemas.microsoft.com/office/drawing/2014/main" id="{2B73E7E8-0D4A-464D-ACCD-FC84254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99169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29_DOT">
            <a:extLst xmlns:a="http://schemas.openxmlformats.org/drawingml/2006/main">
              <a:ext uri="{FF2B5EF4-FFF2-40B4-BE49-F238E27FC236}">
                <a16:creationId xmlns:a16="http://schemas.microsoft.com/office/drawing/2014/main" id="{B15DA682-D3C0-41E1-98A9-39F4881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29_EYEBROW">
            <a:extLst xmlns:a="http://schemas.openxmlformats.org/drawingml/2006/main">
              <a:ext uri="{FF2B5EF4-FFF2-40B4-BE49-F238E27FC236}">
                <a16:creationId xmlns:a16="http://schemas.microsoft.com/office/drawing/2014/main" id="{4C271C63-A088-4F0E-9C8D-8715E06C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MLCC · 塔尖代差</a:t>
            </a:r>
          </a:p>
        </p:txBody>
      </p:sp>
      <p:sp>
        <p:nvSpPr>
          <p:cNvPr id="3" name="P29_TITLE">
            <a:extLst xmlns:a="http://schemas.openxmlformats.org/drawingml/2006/main">
              <a:ext uri="{FF2B5EF4-FFF2-40B4-BE49-F238E27FC236}">
                <a16:creationId xmlns:a16="http://schemas.microsoft.com/office/drawing/2014/main" id="{997C87F8-EFD1-42B1-9A1F-ED22585B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高容MLCC，国产能追；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超高容还差两三代</a:t>
            </a:r>
          </a:p>
        </p:txBody>
      </p:sp>
      <p:sp>
        <p:nvSpPr>
          <p:cNvPr id="4" name="P29_BULLET_MARK_1">
            <a:extLst xmlns:a="http://schemas.openxmlformats.org/drawingml/2006/main">
              <a:ext uri="{FF2B5EF4-FFF2-40B4-BE49-F238E27FC236}">
                <a16:creationId xmlns:a16="http://schemas.microsoft.com/office/drawing/2014/main" id="{EABA7CEC-86BC-4DDD-8D25-05610CF3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29_BULLET_1">
            <a:extLst xmlns:a="http://schemas.openxmlformats.org/drawingml/2006/main">
              <a:ext uri="{FF2B5EF4-FFF2-40B4-BE49-F238E27FC236}">
                <a16:creationId xmlns:a16="http://schemas.microsoft.com/office/drawing/2014/main" id="{54FD208C-9F81-4452-B2E4-38E5DB0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一台AI服务器要使用上万颗MLCC，高端市场仍由村田、TDK等日系主导</a:t>
            </a:r>
          </a:p>
        </p:txBody>
      </p:sp>
      <p:sp>
        <p:nvSpPr>
          <p:cNvPr id="6" name="P29_BULLET_MARK_2">
            <a:extLst xmlns:a="http://schemas.openxmlformats.org/drawingml/2006/main">
              <a:ext uri="{FF2B5EF4-FFF2-40B4-BE49-F238E27FC236}">
                <a16:creationId xmlns:a16="http://schemas.microsoft.com/office/drawing/2014/main" id="{0954C03E-FB85-4671-A309-9A18CDF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29_BULLET_2">
            <a:extLst xmlns:a="http://schemas.openxmlformats.org/drawingml/2006/main">
              <a:ext uri="{FF2B5EF4-FFF2-40B4-BE49-F238E27FC236}">
                <a16:creationId xmlns:a16="http://schemas.microsoft.com/office/drawing/2014/main" id="{E938274B-2203-468C-8652-04DF735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国产高容产品已经做到海外先进水平约七成，并在持续扩产</a:t>
            </a:r>
          </a:p>
        </p:txBody>
      </p:sp>
      <p:sp>
        <p:nvSpPr>
          <p:cNvPr id="8" name="P29_BULLET_MARK_3">
            <a:extLst xmlns:a="http://schemas.openxmlformats.org/drawingml/2006/main">
              <a:ext uri="{FF2B5EF4-FFF2-40B4-BE49-F238E27FC236}">
                <a16:creationId xmlns:a16="http://schemas.microsoft.com/office/drawing/2014/main" id="{3E328A1E-7026-4CE6-9E63-75295523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29_BULLET_3">
            <a:extLst xmlns:a="http://schemas.openxmlformats.org/drawingml/2006/main">
              <a:ext uri="{FF2B5EF4-FFF2-40B4-BE49-F238E27FC236}">
                <a16:creationId xmlns:a16="http://schemas.microsoft.com/office/drawing/2014/main" id="{E6340DD5-34EA-4B10-98A6-40567B2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塔尖的超高容规格仍只有少数日企能批量供货，国产相差两三代</a:t>
            </a:r>
          </a:p>
        </p:txBody>
      </p:sp>
      <p:sp>
        <p:nvSpPr>
          <p:cNvPr id="10" name="P29_MLCC_STEP_1">
            <a:extLst xmlns:a="http://schemas.openxmlformats.org/drawingml/2006/main">
              <a:ext uri="{FF2B5EF4-FFF2-40B4-BE49-F238E27FC236}">
                <a16:creationId xmlns:a16="http://schemas.microsoft.com/office/drawing/2014/main" id="{4BA01AD9-2E39-4C2F-9FF8-3A357F9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62450"/>
            <a:ext cx="2476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4288">
            <a:solidFill>
              <a:srgbClr val="7E9066"/>
            </a:solidFill>
            <a:prstDash val="solid"/>
          </a:ln>
        </p:spPr>
      </p:sp>
      <p:sp>
        <p:nvSpPr>
          <p:cNvPr id="11" name="P29_MLCC_TITLE_1">
            <a:extLst xmlns:a="http://schemas.openxmlformats.org/drawingml/2006/main">
              <a:ext uri="{FF2B5EF4-FFF2-40B4-BE49-F238E27FC236}">
                <a16:creationId xmlns:a16="http://schemas.microsoft.com/office/drawing/2014/main" id="{431523B4-C07A-4CD4-A4BB-165B1C86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通用MLCC</a:t>
            </a:r>
          </a:p>
        </p:txBody>
      </p:sp>
      <p:sp>
        <p:nvSpPr>
          <p:cNvPr id="12" name="P29_MLCC_BODY_1">
            <a:extLst xmlns:a="http://schemas.openxmlformats.org/drawingml/2006/main">
              <a:ext uri="{FF2B5EF4-FFF2-40B4-BE49-F238E27FC236}">
                <a16:creationId xmlns:a16="http://schemas.microsoft.com/office/drawing/2014/main" id="{3C9C4DCC-8758-4689-A793-55457F3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国产已规模供货</a:t>
            </a:r>
          </a:p>
        </p:txBody>
      </p:sp>
      <p:sp>
        <p:nvSpPr>
          <p:cNvPr id="13" name="P29_MLCC_STEP_2">
            <a:extLst xmlns:a="http://schemas.openxmlformats.org/drawingml/2006/main">
              <a:ext uri="{FF2B5EF4-FFF2-40B4-BE49-F238E27FC236}">
                <a16:creationId xmlns:a16="http://schemas.microsoft.com/office/drawing/2014/main" id="{25442949-62EC-4DA8-BA38-4F0C22B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476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4288">
            <a:solidFill>
              <a:srgbClr val="86A9C1"/>
            </a:solidFill>
            <a:prstDash val="solid"/>
          </a:ln>
        </p:spPr>
      </p:sp>
      <p:sp>
        <p:nvSpPr>
          <p:cNvPr id="14" name="P29_MLCC_TITLE_2">
            <a:extLst xmlns:a="http://schemas.openxmlformats.org/drawingml/2006/main">
              <a:ext uri="{FF2B5EF4-FFF2-40B4-BE49-F238E27FC236}">
                <a16:creationId xmlns:a16="http://schemas.microsoft.com/office/drawing/2014/main" id="{3801D93D-738D-43D8-854A-C275DDF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高容档</a:t>
            </a:r>
          </a:p>
        </p:txBody>
      </p:sp>
      <p:sp>
        <p:nvSpPr>
          <p:cNvPr id="15" name="P29_MLCC_BODY_2">
            <a:extLst xmlns:a="http://schemas.openxmlformats.org/drawingml/2006/main">
              <a:ext uri="{FF2B5EF4-FFF2-40B4-BE49-F238E27FC236}">
                <a16:creationId xmlns:a16="http://schemas.microsoft.com/office/drawing/2014/main" id="{4BE92DC6-FAF9-4AD9-908D-85835953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72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国产约七成水平</a:t>
            </a:r>
          </a:p>
        </p:txBody>
      </p:sp>
      <p:sp>
        <p:nvSpPr>
          <p:cNvPr id="16" name="P29_MLCC_STEP_3">
            <a:extLst xmlns:a="http://schemas.openxmlformats.org/drawingml/2006/main">
              <a:ext uri="{FF2B5EF4-FFF2-40B4-BE49-F238E27FC236}">
                <a16:creationId xmlns:a16="http://schemas.microsoft.com/office/drawing/2014/main" id="{EF433A16-D81E-4F00-B829-E73DD78E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14700"/>
            <a:ext cx="2476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4288">
            <a:solidFill>
              <a:srgbClr val="D86E49"/>
            </a:solidFill>
            <a:prstDash val="solid"/>
          </a:ln>
        </p:spPr>
      </p:sp>
      <p:sp>
        <p:nvSpPr>
          <p:cNvPr id="17" name="P29_MLCC_TITLE_3">
            <a:extLst xmlns:a="http://schemas.openxmlformats.org/drawingml/2006/main">
              <a:ext uri="{FF2B5EF4-FFF2-40B4-BE49-F238E27FC236}">
                <a16:creationId xmlns:a16="http://schemas.microsoft.com/office/drawing/2014/main" id="{4C9E095C-6BC3-4036-8697-D9BFEC8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超高容塔尖</a:t>
            </a:r>
          </a:p>
        </p:txBody>
      </p:sp>
      <p:sp>
        <p:nvSpPr>
          <p:cNvPr id="18" name="P29_MLCC_BODY_3">
            <a:extLst xmlns:a="http://schemas.openxmlformats.org/drawingml/2006/main">
              <a:ext uri="{FF2B5EF4-FFF2-40B4-BE49-F238E27FC236}">
                <a16:creationId xmlns:a16="http://schemas.microsoft.com/office/drawing/2014/main" id="{D1A35C7F-6B2E-4050-A223-8709E87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国产差2—3代</a:t>
            </a:r>
          </a:p>
        </p:txBody>
      </p:sp>
      <p:sp>
        <p:nvSpPr>
          <p:cNvPr id="19" name="P29_FOOTER_BADGE">
            <a:extLst xmlns:a="http://schemas.openxmlformats.org/drawingml/2006/main">
              <a:ext uri="{FF2B5EF4-FFF2-40B4-BE49-F238E27FC236}">
                <a16:creationId xmlns:a16="http://schemas.microsoft.com/office/drawing/2014/main" id="{E22B97BF-ACE8-440F-BEB0-9DA3B5D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0" name="P29_FOOTER_LABEL">
            <a:extLst xmlns:a="http://schemas.openxmlformats.org/drawingml/2006/main">
              <a:ext uri="{FF2B5EF4-FFF2-40B4-BE49-F238E27FC236}">
                <a16:creationId xmlns:a16="http://schemas.microsoft.com/office/drawing/2014/main" id="{407B1219-27F9-4944-9DFF-D25905A3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1" name="P29_FOOTER_TEXT">
            <a:extLst xmlns:a="http://schemas.openxmlformats.org/drawingml/2006/main">
              <a:ext uri="{FF2B5EF4-FFF2-40B4-BE49-F238E27FC236}">
                <a16:creationId xmlns:a16="http://schemas.microsoft.com/office/drawing/2014/main" id="{E6F64EFD-D55A-4552-8E83-5563140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能扩产是底气，塔尖才是真功夫</a:t>
            </a:r>
          </a:p>
        </p:txBody>
      </p:sp>
      <p:sp>
        <p:nvSpPr>
          <p:cNvPr id="22" name="P29_FOOTER_LINE">
            <a:extLst xmlns:a="http://schemas.openxmlformats.org/drawingml/2006/main">
              <a:ext uri="{FF2B5EF4-FFF2-40B4-BE49-F238E27FC236}">
                <a16:creationId xmlns:a16="http://schemas.microsoft.com/office/drawing/2014/main" id="{5EBBABD7-8889-41A7-9C02-01B61E86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80595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30_DOT">
            <a:extLst xmlns:a="http://schemas.openxmlformats.org/drawingml/2006/main">
              <a:ext uri="{FF2B5EF4-FFF2-40B4-BE49-F238E27FC236}">
                <a16:creationId xmlns:a16="http://schemas.microsoft.com/office/drawing/2014/main" id="{D8B76E53-668E-467A-9D26-4F60BFAA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30_EYEBROW">
            <a:extLst xmlns:a="http://schemas.openxmlformats.org/drawingml/2006/main">
              <a:ext uri="{FF2B5EF4-FFF2-40B4-BE49-F238E27FC236}">
                <a16:creationId xmlns:a16="http://schemas.microsoft.com/office/drawing/2014/main" id="{E309E004-FE7F-4304-8493-190062A2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MLCC上游 · 三样材料</a:t>
            </a:r>
          </a:p>
        </p:txBody>
      </p:sp>
      <p:sp>
        <p:nvSpPr>
          <p:cNvPr id="3" name="P30_TITLE">
            <a:extLst xmlns:a="http://schemas.openxmlformats.org/drawingml/2006/main">
              <a:ext uri="{FF2B5EF4-FFF2-40B4-BE49-F238E27FC236}">
                <a16:creationId xmlns:a16="http://schemas.microsoft.com/office/drawing/2014/main" id="{0B48F767-3AD6-480C-BBDE-16ED09A5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MLCC上游三样料，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国产正分头突破</a:t>
            </a:r>
          </a:p>
        </p:txBody>
      </p:sp>
      <p:sp>
        <p:nvSpPr>
          <p:cNvPr id="4" name="P30_BULLET_MARK_1">
            <a:extLst xmlns:a="http://schemas.openxmlformats.org/drawingml/2006/main">
              <a:ext uri="{FF2B5EF4-FFF2-40B4-BE49-F238E27FC236}">
                <a16:creationId xmlns:a16="http://schemas.microsoft.com/office/drawing/2014/main" id="{5809E34E-7F22-4759-B651-6314F016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30_BULLET_1">
            <a:extLst xmlns:a="http://schemas.openxmlformats.org/drawingml/2006/main">
              <a:ext uri="{FF2B5EF4-FFF2-40B4-BE49-F238E27FC236}">
                <a16:creationId xmlns:a16="http://schemas.microsoft.com/office/drawing/2014/main" id="{CF8553FA-7FAA-44A4-BAB1-F118E85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MLCC越做越薄，上游同时卡离型膜、纳米陶瓷粉和超细镍粉</a:t>
            </a:r>
          </a:p>
        </p:txBody>
      </p:sp>
      <p:sp>
        <p:nvSpPr>
          <p:cNvPr id="6" name="P30_BULLET_MARK_2">
            <a:extLst xmlns:a="http://schemas.openxmlformats.org/drawingml/2006/main">
              <a:ext uri="{FF2B5EF4-FFF2-40B4-BE49-F238E27FC236}">
                <a16:creationId xmlns:a16="http://schemas.microsoft.com/office/drawing/2014/main" id="{059FEF3A-73F7-4973-BBEC-7A97B8C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30_BULLET_2">
            <a:extLst xmlns:a="http://schemas.openxmlformats.org/drawingml/2006/main">
              <a:ext uri="{FF2B5EF4-FFF2-40B4-BE49-F238E27FC236}">
                <a16:creationId xmlns:a16="http://schemas.microsoft.com/office/drawing/2014/main" id="{C3D4F11B-1DA1-48A1-8864-9585B7EE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离型膜日、韩主导；高端陶瓷粉依赖水热法；超细镍粉长期由日企领先</a:t>
            </a:r>
          </a:p>
        </p:txBody>
      </p:sp>
      <p:sp>
        <p:nvSpPr>
          <p:cNvPr id="8" name="P30_BULLET_MARK_3">
            <a:extLst xmlns:a="http://schemas.openxmlformats.org/drawingml/2006/main">
              <a:ext uri="{FF2B5EF4-FFF2-40B4-BE49-F238E27FC236}">
                <a16:creationId xmlns:a16="http://schemas.microsoft.com/office/drawing/2014/main" id="{F3D8DB78-CE6B-4153-939A-EC1535BA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30_BULLET_3">
            <a:extLst xmlns:a="http://schemas.openxmlformats.org/drawingml/2006/main">
              <a:ext uri="{FF2B5EF4-FFF2-40B4-BE49-F238E27FC236}">
                <a16:creationId xmlns:a16="http://schemas.microsoft.com/office/drawing/2014/main" id="{A3028518-F8DB-42B4-93EE-8C62D73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国产已经分头点火：膜实现全链自制、镍粉进入三星、纳米粉验证中</a:t>
            </a:r>
          </a:p>
        </p:txBody>
      </p:sp>
      <p:sp>
        <p:nvSpPr>
          <p:cNvPr id="10" name="P30_MLCC_MATERIAL_TABLE_CELL_0_0">
            <a:extLst xmlns:a="http://schemas.openxmlformats.org/drawingml/2006/main">
              <a:ext uri="{FF2B5EF4-FFF2-40B4-BE49-F238E27FC236}">
                <a16:creationId xmlns:a16="http://schemas.microsoft.com/office/drawing/2014/main" id="{CE12DB77-FC0B-4197-BE5D-708A137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275015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1" name="P30_MLCC_MATERIAL_TABLE_TEXT_0_0">
            <a:extLst xmlns:a="http://schemas.openxmlformats.org/drawingml/2006/main">
              <a:ext uri="{FF2B5EF4-FFF2-40B4-BE49-F238E27FC236}">
                <a16:creationId xmlns:a16="http://schemas.microsoft.com/office/drawing/2014/main" id="{3CA7BB8F-0EFE-4BDB-A5AB-65151D90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43275"/>
            <a:ext cx="255965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上游材料</a:t>
            </a:r>
          </a:p>
        </p:txBody>
      </p:sp>
      <p:sp>
        <p:nvSpPr>
          <p:cNvPr id="12" name="P30_MLCC_MATERIAL_TABLE_CELL_0_1">
            <a:extLst xmlns:a="http://schemas.openxmlformats.org/drawingml/2006/main">
              <a:ext uri="{FF2B5EF4-FFF2-40B4-BE49-F238E27FC236}">
                <a16:creationId xmlns:a16="http://schemas.microsoft.com/office/drawing/2014/main" id="{0AFB5380-6E67-4950-8444-50906A6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80" y="3314700"/>
            <a:ext cx="3559024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3" name="P30_MLCC_MATERIAL_TABLE_TEXT_0_1">
            <a:extLst xmlns:a="http://schemas.openxmlformats.org/drawingml/2006/main">
              <a:ext uri="{FF2B5EF4-FFF2-40B4-BE49-F238E27FC236}">
                <a16:creationId xmlns:a16="http://schemas.microsoft.com/office/drawing/2014/main" id="{E7910C64-E242-41B9-AF6B-06ED53F9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530" y="3343275"/>
            <a:ext cx="3368524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海外格局</a:t>
            </a:r>
          </a:p>
        </p:txBody>
      </p:sp>
      <p:sp>
        <p:nvSpPr>
          <p:cNvPr id="14" name="P30_MLCC_MATERIAL_TABLE_CELL_0_2">
            <a:extLst xmlns:a="http://schemas.openxmlformats.org/drawingml/2006/main">
              <a:ext uri="{FF2B5EF4-FFF2-40B4-BE49-F238E27FC236}">
                <a16:creationId xmlns:a16="http://schemas.microsoft.com/office/drawing/2014/main" id="{BC0E2A13-03CD-437E-BDA4-B6322B5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304" y="3314700"/>
            <a:ext cx="3882571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5" name="P30_MLCC_MATERIAL_TABLE_TEXT_0_2">
            <a:extLst xmlns:a="http://schemas.openxmlformats.org/drawingml/2006/main">
              <a:ext uri="{FF2B5EF4-FFF2-40B4-BE49-F238E27FC236}">
                <a16:creationId xmlns:a16="http://schemas.microsoft.com/office/drawing/2014/main" id="{107E8B0E-92B4-43DB-9A0A-136138BD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554" y="3343275"/>
            <a:ext cx="369207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国产进度</a:t>
            </a:r>
          </a:p>
        </p:txBody>
      </p:sp>
      <p:sp>
        <p:nvSpPr>
          <p:cNvPr id="16" name="P30_MLCC_MATERIAL_TABLE_CELL_1_0">
            <a:extLst xmlns:a="http://schemas.openxmlformats.org/drawingml/2006/main">
              <a:ext uri="{FF2B5EF4-FFF2-40B4-BE49-F238E27FC236}">
                <a16:creationId xmlns:a16="http://schemas.microsoft.com/office/drawing/2014/main" id="{02766462-F506-4EE6-ABF7-D635EA0F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275015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7" name="P30_MLCC_MATERIAL_TABLE_TEXT_1_0">
            <a:extLst xmlns:a="http://schemas.openxmlformats.org/drawingml/2006/main">
              <a:ext uri="{FF2B5EF4-FFF2-40B4-BE49-F238E27FC236}">
                <a16:creationId xmlns:a16="http://schemas.microsoft.com/office/drawing/2014/main" id="{7763152A-1577-4FDB-B8AB-072FA81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255965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离型膜</a:t>
            </a:r>
          </a:p>
        </p:txBody>
      </p:sp>
      <p:sp>
        <p:nvSpPr>
          <p:cNvPr id="18" name="P30_MLCC_MATERIAL_TABLE_CELL_1_1">
            <a:extLst xmlns:a="http://schemas.openxmlformats.org/drawingml/2006/main">
              <a:ext uri="{FF2B5EF4-FFF2-40B4-BE49-F238E27FC236}">
                <a16:creationId xmlns:a16="http://schemas.microsoft.com/office/drawing/2014/main" id="{6E7E56E2-C8D4-4374-8B45-1CD22228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80" y="3876675"/>
            <a:ext cx="3559024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9" name="P30_MLCC_MATERIAL_TABLE_TEXT_1_1">
            <a:extLst xmlns:a="http://schemas.openxmlformats.org/drawingml/2006/main">
              <a:ext uri="{FF2B5EF4-FFF2-40B4-BE49-F238E27FC236}">
                <a16:creationId xmlns:a16="http://schemas.microsoft.com/office/drawing/2014/main" id="{2431B36D-924A-414B-A848-FFEDF0C9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530" y="3905250"/>
            <a:ext cx="3368524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日、韩主导</a:t>
            </a:r>
          </a:p>
        </p:txBody>
      </p:sp>
      <p:sp>
        <p:nvSpPr>
          <p:cNvPr id="20" name="P30_MLCC_MATERIAL_TABLE_CELL_1_2">
            <a:extLst xmlns:a="http://schemas.openxmlformats.org/drawingml/2006/main">
              <a:ext uri="{FF2B5EF4-FFF2-40B4-BE49-F238E27FC236}">
                <a16:creationId xmlns:a16="http://schemas.microsoft.com/office/drawing/2014/main" id="{BD4F1357-8A9D-40A7-9D9E-0480DA1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304" y="3876675"/>
            <a:ext cx="3882571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1" name="P30_MLCC_MATERIAL_TABLE_TEXT_1_2">
            <a:extLst xmlns:a="http://schemas.openxmlformats.org/drawingml/2006/main">
              <a:ext uri="{FF2B5EF4-FFF2-40B4-BE49-F238E27FC236}">
                <a16:creationId xmlns:a16="http://schemas.microsoft.com/office/drawing/2014/main" id="{7644A085-794E-4BD0-BD4B-D7AE10DE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554" y="3905250"/>
            <a:ext cx="369207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已实现全链自制</a:t>
            </a:r>
          </a:p>
        </p:txBody>
      </p:sp>
      <p:sp>
        <p:nvSpPr>
          <p:cNvPr id="22" name="P30_MLCC_MATERIAL_TABLE_CELL_2_0">
            <a:extLst xmlns:a="http://schemas.openxmlformats.org/drawingml/2006/main">
              <a:ext uri="{FF2B5EF4-FFF2-40B4-BE49-F238E27FC236}">
                <a16:creationId xmlns:a16="http://schemas.microsoft.com/office/drawing/2014/main" id="{2C74F3A1-284D-4851-96D4-622609F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75015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3" name="P30_MLCC_MATERIAL_TABLE_TEXT_2_0">
            <a:extLst xmlns:a="http://schemas.openxmlformats.org/drawingml/2006/main">
              <a:ext uri="{FF2B5EF4-FFF2-40B4-BE49-F238E27FC236}">
                <a16:creationId xmlns:a16="http://schemas.microsoft.com/office/drawing/2014/main" id="{C98795DD-DA54-4106-9A9A-646387A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67225"/>
            <a:ext cx="255965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纳米陶瓷粉</a:t>
            </a:r>
          </a:p>
        </p:txBody>
      </p:sp>
      <p:sp>
        <p:nvSpPr>
          <p:cNvPr id="24" name="P30_MLCC_MATERIAL_TABLE_CELL_2_1">
            <a:extLst xmlns:a="http://schemas.openxmlformats.org/drawingml/2006/main">
              <a:ext uri="{FF2B5EF4-FFF2-40B4-BE49-F238E27FC236}">
                <a16:creationId xmlns:a16="http://schemas.microsoft.com/office/drawing/2014/main" id="{F1574457-9942-4BAC-AC90-40B2BFD3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80" y="4438650"/>
            <a:ext cx="3559024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5" name="P30_MLCC_MATERIAL_TABLE_TEXT_2_1">
            <a:extLst xmlns:a="http://schemas.openxmlformats.org/drawingml/2006/main">
              <a:ext uri="{FF2B5EF4-FFF2-40B4-BE49-F238E27FC236}">
                <a16:creationId xmlns:a16="http://schemas.microsoft.com/office/drawing/2014/main" id="{A4E8638E-DD57-4787-BB98-44561A1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530" y="4467225"/>
            <a:ext cx="3368524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日企水热法领先</a:t>
            </a:r>
          </a:p>
        </p:txBody>
      </p:sp>
      <p:sp>
        <p:nvSpPr>
          <p:cNvPr id="26" name="P30_MLCC_MATERIAL_TABLE_CELL_2_2">
            <a:extLst xmlns:a="http://schemas.openxmlformats.org/drawingml/2006/main">
              <a:ext uri="{FF2B5EF4-FFF2-40B4-BE49-F238E27FC236}">
                <a16:creationId xmlns:a16="http://schemas.microsoft.com/office/drawing/2014/main" id="{5F665832-14C2-41DC-9AF4-94D370F9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304" y="4438650"/>
            <a:ext cx="3882571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7" name="P30_MLCC_MATERIAL_TABLE_TEXT_2_2">
            <a:extLst xmlns:a="http://schemas.openxmlformats.org/drawingml/2006/main">
              <a:ext uri="{FF2B5EF4-FFF2-40B4-BE49-F238E27FC236}">
                <a16:creationId xmlns:a16="http://schemas.microsoft.com/office/drawing/2014/main" id="{50151084-6556-4666-8AF0-9BA22EA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554" y="4467225"/>
            <a:ext cx="369207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处于客户验证</a:t>
            </a:r>
          </a:p>
        </p:txBody>
      </p:sp>
      <p:sp>
        <p:nvSpPr>
          <p:cNvPr id="28" name="P30_MLCC_MATERIAL_TABLE_CELL_3_0">
            <a:extLst xmlns:a="http://schemas.openxmlformats.org/drawingml/2006/main">
              <a:ext uri="{FF2B5EF4-FFF2-40B4-BE49-F238E27FC236}">
                <a16:creationId xmlns:a16="http://schemas.microsoft.com/office/drawing/2014/main" id="{8E9BD3DE-61A1-4EC4-B644-D844CC9A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275015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9" name="P30_MLCC_MATERIAL_TABLE_TEXT_3_0">
            <a:extLst xmlns:a="http://schemas.openxmlformats.org/drawingml/2006/main">
              <a:ext uri="{FF2B5EF4-FFF2-40B4-BE49-F238E27FC236}">
                <a16:creationId xmlns:a16="http://schemas.microsoft.com/office/drawing/2014/main" id="{B696C470-30E8-4163-A58D-05F1D72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29200"/>
            <a:ext cx="255965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超细镍粉</a:t>
            </a:r>
          </a:p>
        </p:txBody>
      </p:sp>
      <p:sp>
        <p:nvSpPr>
          <p:cNvPr id="30" name="P30_MLCC_MATERIAL_TABLE_CELL_3_1">
            <a:extLst xmlns:a="http://schemas.openxmlformats.org/drawingml/2006/main">
              <a:ext uri="{FF2B5EF4-FFF2-40B4-BE49-F238E27FC236}">
                <a16:creationId xmlns:a16="http://schemas.microsoft.com/office/drawing/2014/main" id="{3F718A36-9EC7-4720-80A8-D09385D6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280" y="5000625"/>
            <a:ext cx="3559024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1" name="P30_MLCC_MATERIAL_TABLE_TEXT_3_1">
            <a:extLst xmlns:a="http://schemas.openxmlformats.org/drawingml/2006/main">
              <a:ext uri="{FF2B5EF4-FFF2-40B4-BE49-F238E27FC236}">
                <a16:creationId xmlns:a16="http://schemas.microsoft.com/office/drawing/2014/main" id="{030D8714-93F0-4C73-BB60-D808BEA0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530" y="5029200"/>
            <a:ext cx="3368524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日企长期领先</a:t>
            </a:r>
          </a:p>
        </p:txBody>
      </p:sp>
      <p:sp>
        <p:nvSpPr>
          <p:cNvPr id="32" name="P30_MLCC_MATERIAL_TABLE_CELL_3_2">
            <a:extLst xmlns:a="http://schemas.openxmlformats.org/drawingml/2006/main">
              <a:ext uri="{FF2B5EF4-FFF2-40B4-BE49-F238E27FC236}">
                <a16:creationId xmlns:a16="http://schemas.microsoft.com/office/drawing/2014/main" id="{FD1EB547-2B54-4ED1-BB69-7D918C35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304" y="5000625"/>
            <a:ext cx="3882571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3" name="P30_MLCC_MATERIAL_TABLE_TEXT_3_2">
            <a:extLst xmlns:a="http://schemas.openxmlformats.org/drawingml/2006/main">
              <a:ext uri="{FF2B5EF4-FFF2-40B4-BE49-F238E27FC236}">
                <a16:creationId xmlns:a16="http://schemas.microsoft.com/office/drawing/2014/main" id="{2C0D6D91-6D09-44C0-ADE3-1FC79D17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554" y="5029200"/>
            <a:ext cx="369207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已进入三星供应链</a:t>
            </a:r>
          </a:p>
        </p:txBody>
      </p:sp>
      <p:sp>
        <p:nvSpPr>
          <p:cNvPr id="34" name="P30_FOOTER_BADGE">
            <a:extLst xmlns:a="http://schemas.openxmlformats.org/drawingml/2006/main">
              <a:ext uri="{FF2B5EF4-FFF2-40B4-BE49-F238E27FC236}">
                <a16:creationId xmlns:a16="http://schemas.microsoft.com/office/drawing/2014/main" id="{44D6FB4B-62A5-4C52-90E2-6EBF314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35" name="P30_FOOTER_LABEL">
            <a:extLst xmlns:a="http://schemas.openxmlformats.org/drawingml/2006/main">
              <a:ext uri="{FF2B5EF4-FFF2-40B4-BE49-F238E27FC236}">
                <a16:creationId xmlns:a16="http://schemas.microsoft.com/office/drawing/2014/main" id="{424EA55E-7418-423D-A371-A84F63EC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6" name="P30_FOOTER_TEXT">
            <a:extLst xmlns:a="http://schemas.openxmlformats.org/drawingml/2006/main">
              <a:ext uri="{FF2B5EF4-FFF2-40B4-BE49-F238E27FC236}">
                <a16:creationId xmlns:a16="http://schemas.microsoft.com/office/drawing/2014/main" id="{561513AB-29D5-4106-AD7E-E51D4087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三样料都卡，但国产都已点火</a:t>
            </a:r>
          </a:p>
        </p:txBody>
      </p:sp>
      <p:sp>
        <p:nvSpPr>
          <p:cNvPr id="37" name="P30_FOOTER_LINE">
            <a:extLst xmlns:a="http://schemas.openxmlformats.org/drawingml/2006/main">
              <a:ext uri="{FF2B5EF4-FFF2-40B4-BE49-F238E27FC236}">
                <a16:creationId xmlns:a16="http://schemas.microsoft.com/office/drawing/2014/main" id="{975A0B38-F733-4025-8161-DAA3D47D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07031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31_DOT">
            <a:extLst xmlns:a="http://schemas.openxmlformats.org/drawingml/2006/main">
              <a:ext uri="{FF2B5EF4-FFF2-40B4-BE49-F238E27FC236}">
                <a16:creationId xmlns:a16="http://schemas.microsoft.com/office/drawing/2014/main" id="{707A20C9-30ED-4436-BD26-3382EEE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31_EYEBROW">
            <a:extLst xmlns:a="http://schemas.openxmlformats.org/drawingml/2006/main">
              <a:ext uri="{FF2B5EF4-FFF2-40B4-BE49-F238E27FC236}">
                <a16:creationId xmlns:a16="http://schemas.microsoft.com/office/drawing/2014/main" id="{1104543C-0A7D-4FE1-A611-A2B0D18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散热陶瓷粉 · 越细越值钱</a:t>
            </a:r>
          </a:p>
        </p:txBody>
      </p:sp>
      <p:sp>
        <p:nvSpPr>
          <p:cNvPr id="3" name="P31_TITLE">
            <a:extLst xmlns:a="http://schemas.openxmlformats.org/drawingml/2006/main">
              <a:ext uri="{FF2B5EF4-FFF2-40B4-BE49-F238E27FC236}">
                <a16:creationId xmlns:a16="http://schemas.microsoft.com/office/drawing/2014/main" id="{F60D1A09-81BF-432A-9CEC-C868243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微米陶瓷粉，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机会全在纳米高端</a:t>
            </a:r>
          </a:p>
        </p:txBody>
      </p:sp>
      <p:sp>
        <p:nvSpPr>
          <p:cNvPr id="4" name="P31_BULLET_MARK_1">
            <a:extLst xmlns:a="http://schemas.openxmlformats.org/drawingml/2006/main">
              <a:ext uri="{FF2B5EF4-FFF2-40B4-BE49-F238E27FC236}">
                <a16:creationId xmlns:a16="http://schemas.microsoft.com/office/drawing/2014/main" id="{FFACD215-2FB8-4A8E-87A7-79CD242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31_BULLET_1">
            <a:extLst xmlns:a="http://schemas.openxmlformats.org/drawingml/2006/main">
              <a:ext uri="{FF2B5EF4-FFF2-40B4-BE49-F238E27FC236}">
                <a16:creationId xmlns:a16="http://schemas.microsoft.com/office/drawing/2014/main" id="{F048D6DA-5A0F-470A-80D1-6029E4E7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HBM和功率芯片都怕热，散热依赖高导热陶瓷粉与封装填料</a:t>
            </a:r>
          </a:p>
        </p:txBody>
      </p:sp>
      <p:sp>
        <p:nvSpPr>
          <p:cNvPr id="6" name="P31_BULLET_MARK_2">
            <a:extLst xmlns:a="http://schemas.openxmlformats.org/drawingml/2006/main">
              <a:ext uri="{FF2B5EF4-FFF2-40B4-BE49-F238E27FC236}">
                <a16:creationId xmlns:a16="http://schemas.microsoft.com/office/drawing/2014/main" id="{5600E540-720A-4866-8A13-67DCD074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31_BULLET_2">
            <a:extLst xmlns:a="http://schemas.openxmlformats.org/drawingml/2006/main">
              <a:ext uri="{FF2B5EF4-FFF2-40B4-BE49-F238E27FC236}">
                <a16:creationId xmlns:a16="http://schemas.microsoft.com/office/drawing/2014/main" id="{8CE19DC5-B74D-4C50-BD31-1D2478B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高端氮化铝粉、亚微米与纳米球硅由日企把控粒径和纯度</a:t>
            </a:r>
          </a:p>
        </p:txBody>
      </p:sp>
      <p:sp>
        <p:nvSpPr>
          <p:cNvPr id="8" name="P31_BULLET_MARK_3">
            <a:extLst xmlns:a="http://schemas.openxmlformats.org/drawingml/2006/main">
              <a:ext uri="{FF2B5EF4-FFF2-40B4-BE49-F238E27FC236}">
                <a16:creationId xmlns:a16="http://schemas.microsoft.com/office/drawing/2014/main" id="{5CA42F3C-2E07-4FE9-9B11-8E9997A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31_BULLET_3">
            <a:extLst xmlns:a="http://schemas.openxmlformats.org/drawingml/2006/main">
              <a:ext uri="{FF2B5EF4-FFF2-40B4-BE49-F238E27FC236}">
                <a16:creationId xmlns:a16="http://schemas.microsoft.com/office/drawing/2014/main" id="{46CDFF1A-BEE0-487C-8F73-E90E66A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日企减产释放部分份额，国产补位机会集中在中高端和纳米级</a:t>
            </a:r>
          </a:p>
        </p:txBody>
      </p:sp>
      <p:sp>
        <p:nvSpPr>
          <p:cNvPr id="10" name="P31_CERAMIC_1">
            <a:extLst xmlns:a="http://schemas.openxmlformats.org/drawingml/2006/main">
              <a:ext uri="{FF2B5EF4-FFF2-40B4-BE49-F238E27FC236}">
                <a16:creationId xmlns:a16="http://schemas.microsoft.com/office/drawing/2014/main" id="{BE4DA5CC-E053-4247-931C-23324D46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905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4288">
            <a:solidFill>
              <a:srgbClr val="7E9066"/>
            </a:solidFill>
            <a:prstDash val="solid"/>
          </a:ln>
        </p:spPr>
      </p:sp>
      <p:sp>
        <p:nvSpPr>
          <p:cNvPr id="11" name="P31_CERAMIC_TITLE_1">
            <a:extLst xmlns:a="http://schemas.openxmlformats.org/drawingml/2006/main">
              <a:ext uri="{FF2B5EF4-FFF2-40B4-BE49-F238E27FC236}">
                <a16:creationId xmlns:a16="http://schemas.microsoft.com/office/drawing/2014/main" id="{B2825BA9-17BE-405A-B6C9-32A9134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96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微米球硅</a:t>
            </a:r>
          </a:p>
        </p:txBody>
      </p:sp>
      <p:sp>
        <p:nvSpPr>
          <p:cNvPr id="12" name="P31_CERAMIC_BODY_1">
            <a:extLst xmlns:a="http://schemas.openxmlformats.org/drawingml/2006/main">
              <a:ext uri="{FF2B5EF4-FFF2-40B4-BE49-F238E27FC236}">
                <a16:creationId xmlns:a16="http://schemas.microsoft.com/office/drawing/2014/main" id="{90B804E1-9F84-4B2A-A0D7-13300E55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国产已过剩</a:t>
            </a:r>
          </a:p>
        </p:txBody>
      </p:sp>
      <p:sp>
        <p:nvSpPr>
          <p:cNvPr id="13" name="P31_CERAMIC_2">
            <a:extLst xmlns:a="http://schemas.openxmlformats.org/drawingml/2006/main">
              <a:ext uri="{FF2B5EF4-FFF2-40B4-BE49-F238E27FC236}">
                <a16:creationId xmlns:a16="http://schemas.microsoft.com/office/drawing/2014/main" id="{3497F2C6-26C3-4BB5-B115-1012221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4288">
            <a:solidFill>
              <a:srgbClr val="86A9C1"/>
            </a:solidFill>
            <a:prstDash val="solid"/>
          </a:ln>
        </p:spPr>
      </p:sp>
      <p:sp>
        <p:nvSpPr>
          <p:cNvPr id="14" name="P31_CERAMIC_TITLE_2">
            <a:extLst xmlns:a="http://schemas.openxmlformats.org/drawingml/2006/main">
              <a:ext uri="{FF2B5EF4-FFF2-40B4-BE49-F238E27FC236}">
                <a16:creationId xmlns:a16="http://schemas.microsoft.com/office/drawing/2014/main" id="{7D1D3EA5-4028-4DA4-8A76-AA38072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亚微米</a:t>
            </a:r>
          </a:p>
        </p:txBody>
      </p:sp>
      <p:sp>
        <p:nvSpPr>
          <p:cNvPr id="15" name="P31_CERAMIC_BODY_2">
            <a:extLst xmlns:a="http://schemas.openxmlformats.org/drawingml/2006/main">
              <a:ext uri="{FF2B5EF4-FFF2-40B4-BE49-F238E27FC236}">
                <a16:creationId xmlns:a16="http://schemas.microsoft.com/office/drawing/2014/main" id="{A1F42E4F-EF29-4F26-B50A-55F41D7E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43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日企卡粒径</a:t>
            </a:r>
          </a:p>
        </p:txBody>
      </p:sp>
      <p:sp>
        <p:nvSpPr>
          <p:cNvPr id="16" name="P31_CERAMIC_3">
            <a:extLst xmlns:a="http://schemas.openxmlformats.org/drawingml/2006/main">
              <a:ext uri="{FF2B5EF4-FFF2-40B4-BE49-F238E27FC236}">
                <a16:creationId xmlns:a16="http://schemas.microsoft.com/office/drawing/2014/main" id="{AFD31FFE-857F-4AED-BC77-19A3DC5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190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DF5"/>
          </a:solidFill>
          <a:ln xmlns:a="http://schemas.openxmlformats.org/drawingml/2006/main" w="14288">
            <a:solidFill>
              <a:srgbClr val="8F89AF"/>
            </a:solidFill>
            <a:prstDash val="solid"/>
          </a:ln>
        </p:spPr>
      </p:sp>
      <p:sp>
        <p:nvSpPr>
          <p:cNvPr id="17" name="P31_CERAMIC_TITLE_3">
            <a:extLst xmlns:a="http://schemas.openxmlformats.org/drawingml/2006/main">
              <a:ext uri="{FF2B5EF4-FFF2-40B4-BE49-F238E27FC236}">
                <a16:creationId xmlns:a16="http://schemas.microsoft.com/office/drawing/2014/main" id="{338C2B2E-DADA-4233-ABD4-74240419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纳米球硅</a:t>
            </a:r>
          </a:p>
        </p:txBody>
      </p:sp>
      <p:sp>
        <p:nvSpPr>
          <p:cNvPr id="18" name="P31_CERAMIC_BODY_3">
            <a:extLst xmlns:a="http://schemas.openxmlformats.org/drawingml/2006/main">
              <a:ext uri="{FF2B5EF4-FFF2-40B4-BE49-F238E27FC236}">
                <a16:creationId xmlns:a16="http://schemas.microsoft.com/office/drawing/2014/main" id="{98B1209D-BE36-4055-9C0E-D07F981D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纯度门槛高</a:t>
            </a:r>
          </a:p>
        </p:txBody>
      </p:sp>
      <p:sp>
        <p:nvSpPr>
          <p:cNvPr id="19" name="P31_CERAMIC_4">
            <a:extLst xmlns:a="http://schemas.openxmlformats.org/drawingml/2006/main">
              <a:ext uri="{FF2B5EF4-FFF2-40B4-BE49-F238E27FC236}">
                <a16:creationId xmlns:a16="http://schemas.microsoft.com/office/drawing/2014/main" id="{8849D5CA-2A1A-4947-94C8-98B8BB7D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1905000" cy="21431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4288">
            <a:solidFill>
              <a:srgbClr val="D86E49"/>
            </a:solidFill>
            <a:prstDash val="solid"/>
          </a:ln>
        </p:spPr>
      </p:sp>
      <p:sp>
        <p:nvSpPr>
          <p:cNvPr id="20" name="P31_CERAMIC_TITLE_4">
            <a:extLst xmlns:a="http://schemas.openxmlformats.org/drawingml/2006/main">
              <a:ext uri="{FF2B5EF4-FFF2-40B4-BE49-F238E27FC236}">
                <a16:creationId xmlns:a16="http://schemas.microsoft.com/office/drawing/2014/main" id="{2A1F7F51-F635-4165-BD32-10A75514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3852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高端AlN粉</a:t>
            </a:r>
          </a:p>
        </p:txBody>
      </p:sp>
      <p:sp>
        <p:nvSpPr>
          <p:cNvPr id="21" name="P31_CERAMIC_BODY_4">
            <a:extLst xmlns:a="http://schemas.openxmlformats.org/drawingml/2006/main">
              <a:ext uri="{FF2B5EF4-FFF2-40B4-BE49-F238E27FC236}">
                <a16:creationId xmlns:a16="http://schemas.microsoft.com/office/drawing/2014/main" id="{F8D44F1A-996D-4323-83AA-C163715F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国产对标中</a:t>
            </a:r>
          </a:p>
        </p:txBody>
      </p:sp>
      <p:sp>
        <p:nvSpPr>
          <p:cNvPr id="22" name="P31_FOOTER_BADGE">
            <a:extLst xmlns:a="http://schemas.openxmlformats.org/drawingml/2006/main">
              <a:ext uri="{FF2B5EF4-FFF2-40B4-BE49-F238E27FC236}">
                <a16:creationId xmlns:a16="http://schemas.microsoft.com/office/drawing/2014/main" id="{3A92F9DF-072A-4E39-84EB-8DBDBCD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3" name="P31_FOOTER_LABEL">
            <a:extLst xmlns:a="http://schemas.openxmlformats.org/drawingml/2006/main">
              <a:ext uri="{FF2B5EF4-FFF2-40B4-BE49-F238E27FC236}">
                <a16:creationId xmlns:a16="http://schemas.microsoft.com/office/drawing/2014/main" id="{5A85152C-5922-4617-A913-0DB9523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P31_FOOTER_TEXT">
            <a:extLst xmlns:a="http://schemas.openxmlformats.org/drawingml/2006/main">
              <a:ext uri="{FF2B5EF4-FFF2-40B4-BE49-F238E27FC236}">
                <a16:creationId xmlns:a16="http://schemas.microsoft.com/office/drawing/2014/main" id="{1DC04E1D-E4D3-4F24-843D-59499690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真正的机会在纳米高端</a:t>
            </a:r>
          </a:p>
        </p:txBody>
      </p:sp>
      <p:sp>
        <p:nvSpPr>
          <p:cNvPr id="25" name="P31_FOOTER_LINE">
            <a:extLst xmlns:a="http://schemas.openxmlformats.org/drawingml/2006/main">
              <a:ext uri="{FF2B5EF4-FFF2-40B4-BE49-F238E27FC236}">
                <a16:creationId xmlns:a16="http://schemas.microsoft.com/office/drawing/2014/main" id="{DEE5D987-5435-4FDD-A6BF-470F873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944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32_DOT">
            <a:extLst xmlns:a="http://schemas.openxmlformats.org/drawingml/2006/main">
              <a:ext uri="{FF2B5EF4-FFF2-40B4-BE49-F238E27FC236}">
                <a16:creationId xmlns:a16="http://schemas.microsoft.com/office/drawing/2014/main" id="{6386C53B-C288-434E-9524-B6DAAF0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32_EYEBROW">
            <a:extLst xmlns:a="http://schemas.openxmlformats.org/drawingml/2006/main">
              <a:ext uri="{FF2B5EF4-FFF2-40B4-BE49-F238E27FC236}">
                <a16:creationId xmlns:a16="http://schemas.microsoft.com/office/drawing/2014/main" id="{C459DDED-8A5D-4D4D-B42F-C793AD5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光模块 · 三件套</a:t>
            </a:r>
          </a:p>
        </p:txBody>
      </p:sp>
      <p:sp>
        <p:nvSpPr>
          <p:cNvPr id="3" name="P32_TITLE">
            <a:extLst xmlns:a="http://schemas.openxmlformats.org/drawingml/2006/main">
              <a:ext uri="{FF2B5EF4-FFF2-40B4-BE49-F238E27FC236}">
                <a16:creationId xmlns:a16="http://schemas.microsoft.com/office/drawing/2014/main" id="{D8C7BF9A-A2A5-4CAE-A394-14109B0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一个光模块里，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好几颗小器件来自日本</a:t>
            </a:r>
          </a:p>
        </p:txBody>
      </p:sp>
      <p:sp>
        <p:nvSpPr>
          <p:cNvPr id="4" name="P32_BULLET_MARK_1">
            <a:extLst xmlns:a="http://schemas.openxmlformats.org/drawingml/2006/main">
              <a:ext uri="{FF2B5EF4-FFF2-40B4-BE49-F238E27FC236}">
                <a16:creationId xmlns:a16="http://schemas.microsoft.com/office/drawing/2014/main" id="{3B36EFE3-926F-4606-9BCE-76EAEF4D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32_BULLET_1">
            <a:extLst xmlns:a="http://schemas.openxmlformats.org/drawingml/2006/main">
              <a:ext uri="{FF2B5EF4-FFF2-40B4-BE49-F238E27FC236}">
                <a16:creationId xmlns:a16="http://schemas.microsoft.com/office/drawing/2014/main" id="{364FCF3F-9AB1-4F36-AE07-C31CC66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拆开光模块，会看到磁光晶体、TEC制冷片和高端晶振等关键小器件</a:t>
            </a:r>
          </a:p>
        </p:txBody>
      </p:sp>
      <p:sp>
        <p:nvSpPr>
          <p:cNvPr id="6" name="P32_BULLET_MARK_2">
            <a:extLst xmlns:a="http://schemas.openxmlformats.org/drawingml/2006/main">
              <a:ext uri="{FF2B5EF4-FFF2-40B4-BE49-F238E27FC236}">
                <a16:creationId xmlns:a16="http://schemas.microsoft.com/office/drawing/2014/main" id="{F53F4A98-A522-40F6-9E9B-76F9D67C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32_BULLET_2">
            <a:extLst xmlns:a="http://schemas.openxmlformats.org/drawingml/2006/main">
              <a:ext uri="{FF2B5EF4-FFF2-40B4-BE49-F238E27FC236}">
                <a16:creationId xmlns:a16="http://schemas.microsoft.com/office/drawing/2014/main" id="{89FF8547-F169-40E8-9F18-379EE5B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磁光晶体日系约九成，TEC日系约七成，高端晶振由NDK和爱普生主导</a:t>
            </a:r>
          </a:p>
        </p:txBody>
      </p:sp>
      <p:sp>
        <p:nvSpPr>
          <p:cNvPr id="8" name="P32_BULLET_MARK_3">
            <a:extLst xmlns:a="http://schemas.openxmlformats.org/drawingml/2006/main">
              <a:ext uri="{FF2B5EF4-FFF2-40B4-BE49-F238E27FC236}">
                <a16:creationId xmlns:a16="http://schemas.microsoft.com/office/drawing/2014/main" id="{0CB4400B-50D7-4733-9395-CA405579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32_BULLET_3">
            <a:extLst xmlns:a="http://schemas.openxmlformats.org/drawingml/2006/main">
              <a:ext uri="{FF2B5EF4-FFF2-40B4-BE49-F238E27FC236}">
                <a16:creationId xmlns:a16="http://schemas.microsoft.com/office/drawing/2014/main" id="{5E37D8F8-FDFD-4197-A96B-FCD3296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国产份额仍低，但三类器件都已经有企业开始切入</a:t>
            </a:r>
          </a:p>
        </p:txBody>
      </p:sp>
      <p:sp>
        <p:nvSpPr>
          <p:cNvPr id="10" name="P32_OPTICAL_TABLE_CELL_0_0">
            <a:extLst xmlns:a="http://schemas.openxmlformats.org/drawingml/2006/main">
              <a:ext uri="{FF2B5EF4-FFF2-40B4-BE49-F238E27FC236}">
                <a16:creationId xmlns:a16="http://schemas.microsoft.com/office/drawing/2014/main" id="{E39EB0C5-F744-41FC-95EE-E5E8C616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223380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1" name="P32_OPTICAL_TABLE_TEXT_0_0">
            <a:extLst xmlns:a="http://schemas.openxmlformats.org/drawingml/2006/main">
              <a:ext uri="{FF2B5EF4-FFF2-40B4-BE49-F238E27FC236}">
                <a16:creationId xmlns:a16="http://schemas.microsoft.com/office/drawing/2014/main" id="{BA02AF82-ED86-4972-9104-C5F6BB6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62325"/>
            <a:ext cx="204330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小器件</a:t>
            </a:r>
          </a:p>
        </p:txBody>
      </p:sp>
      <p:sp>
        <p:nvSpPr>
          <p:cNvPr id="12" name="P32_OPTICAL_TABLE_CELL_0_1">
            <a:extLst xmlns:a="http://schemas.openxmlformats.org/drawingml/2006/main">
              <a:ext uri="{FF2B5EF4-FFF2-40B4-BE49-F238E27FC236}">
                <a16:creationId xmlns:a16="http://schemas.microsoft.com/office/drawing/2014/main" id="{98BC3D69-3E7C-42DA-B26F-647B753D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933" y="3333750"/>
            <a:ext cx="321109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3" name="P32_OPTICAL_TABLE_TEXT_0_1">
            <a:extLst xmlns:a="http://schemas.openxmlformats.org/drawingml/2006/main">
              <a:ext uri="{FF2B5EF4-FFF2-40B4-BE49-F238E27FC236}">
                <a16:creationId xmlns:a16="http://schemas.microsoft.com/office/drawing/2014/main" id="{6ED8A833-B63C-45F1-899C-FB2E78D0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183" y="3362325"/>
            <a:ext cx="302059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14" name="P32_OPTICAL_TABLE_CELL_0_2">
            <a:extLst xmlns:a="http://schemas.openxmlformats.org/drawingml/2006/main">
              <a:ext uri="{FF2B5EF4-FFF2-40B4-BE49-F238E27FC236}">
                <a16:creationId xmlns:a16="http://schemas.microsoft.com/office/drawing/2014/main" id="{211A4922-EC85-4CC2-B6F0-8D3228BA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033" y="3333750"/>
            <a:ext cx="474684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5" name="P32_OPTICAL_TABLE_TEXT_0_2">
            <a:extLst xmlns:a="http://schemas.openxmlformats.org/drawingml/2006/main">
              <a:ext uri="{FF2B5EF4-FFF2-40B4-BE49-F238E27FC236}">
                <a16:creationId xmlns:a16="http://schemas.microsoft.com/office/drawing/2014/main" id="{6B49D754-209D-46B4-B427-EC0EEE5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283" y="3362325"/>
            <a:ext cx="455634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海外格局 / 国产进度</a:t>
            </a:r>
          </a:p>
        </p:txBody>
      </p:sp>
      <p:sp>
        <p:nvSpPr>
          <p:cNvPr id="16" name="P32_OPTICAL_TABLE_CELL_1_0">
            <a:extLst xmlns:a="http://schemas.openxmlformats.org/drawingml/2006/main">
              <a:ext uri="{FF2B5EF4-FFF2-40B4-BE49-F238E27FC236}">
                <a16:creationId xmlns:a16="http://schemas.microsoft.com/office/drawing/2014/main" id="{CAE80ABD-6101-41A1-BD0D-CBBDDF9A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23380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7" name="P32_OPTICAL_TABLE_TEXT_1_0">
            <a:extLst xmlns:a="http://schemas.openxmlformats.org/drawingml/2006/main">
              <a:ext uri="{FF2B5EF4-FFF2-40B4-BE49-F238E27FC236}">
                <a16:creationId xmlns:a16="http://schemas.microsoft.com/office/drawing/2014/main" id="{E6A6E285-6F88-40DA-8956-1945721D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33825"/>
            <a:ext cx="204330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磁光晶体</a:t>
            </a:r>
          </a:p>
        </p:txBody>
      </p:sp>
      <p:sp>
        <p:nvSpPr>
          <p:cNvPr id="18" name="P32_OPTICAL_TABLE_CELL_1_1">
            <a:extLst xmlns:a="http://schemas.openxmlformats.org/drawingml/2006/main">
              <a:ext uri="{FF2B5EF4-FFF2-40B4-BE49-F238E27FC236}">
                <a16:creationId xmlns:a16="http://schemas.microsoft.com/office/drawing/2014/main" id="{E9A0ED33-7EC2-45B5-86AC-FBECABCD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933" y="3905250"/>
            <a:ext cx="321109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19" name="P32_OPTICAL_TABLE_TEXT_1_1">
            <a:extLst xmlns:a="http://schemas.openxmlformats.org/drawingml/2006/main">
              <a:ext uri="{FF2B5EF4-FFF2-40B4-BE49-F238E27FC236}">
                <a16:creationId xmlns:a16="http://schemas.microsoft.com/office/drawing/2014/main" id="{A281AEAC-D01A-4B76-98C3-5289F9B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183" y="3933825"/>
            <a:ext cx="302059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光隔离器阻挡反射光</a:t>
            </a:r>
          </a:p>
        </p:txBody>
      </p:sp>
      <p:sp>
        <p:nvSpPr>
          <p:cNvPr id="20" name="P32_OPTICAL_TABLE_CELL_1_2">
            <a:extLst xmlns:a="http://schemas.openxmlformats.org/drawingml/2006/main">
              <a:ext uri="{FF2B5EF4-FFF2-40B4-BE49-F238E27FC236}">
                <a16:creationId xmlns:a16="http://schemas.microsoft.com/office/drawing/2014/main" id="{CB04FDAC-8B45-4430-BC34-A744AEA3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033" y="3905250"/>
            <a:ext cx="474684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1" name="P32_OPTICAL_TABLE_TEXT_1_2">
            <a:extLst xmlns:a="http://schemas.openxmlformats.org/drawingml/2006/main">
              <a:ext uri="{FF2B5EF4-FFF2-40B4-BE49-F238E27FC236}">
                <a16:creationId xmlns:a16="http://schemas.microsoft.com/office/drawing/2014/main" id="{A518ABCE-397F-49E2-B5C3-F95879C8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283" y="3933825"/>
            <a:ext cx="455634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日系约90% / 国产起步</a:t>
            </a:r>
          </a:p>
        </p:txBody>
      </p:sp>
      <p:sp>
        <p:nvSpPr>
          <p:cNvPr id="22" name="P32_OPTICAL_TABLE_CELL_2_0">
            <a:extLst xmlns:a="http://schemas.openxmlformats.org/drawingml/2006/main">
              <a:ext uri="{FF2B5EF4-FFF2-40B4-BE49-F238E27FC236}">
                <a16:creationId xmlns:a16="http://schemas.microsoft.com/office/drawing/2014/main" id="{781B2CF3-C27A-48E8-A8FC-151F77A3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223380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3" name="P32_OPTICAL_TABLE_TEXT_2_0">
            <a:extLst xmlns:a="http://schemas.openxmlformats.org/drawingml/2006/main">
              <a:ext uri="{FF2B5EF4-FFF2-40B4-BE49-F238E27FC236}">
                <a16:creationId xmlns:a16="http://schemas.microsoft.com/office/drawing/2014/main" id="{A4C1C286-776A-4E73-9146-A6400981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204330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TEC制冷片</a:t>
            </a:r>
          </a:p>
        </p:txBody>
      </p:sp>
      <p:sp>
        <p:nvSpPr>
          <p:cNvPr id="24" name="P32_OPTICAL_TABLE_CELL_2_1">
            <a:extLst xmlns:a="http://schemas.openxmlformats.org/drawingml/2006/main">
              <a:ext uri="{FF2B5EF4-FFF2-40B4-BE49-F238E27FC236}">
                <a16:creationId xmlns:a16="http://schemas.microsoft.com/office/drawing/2014/main" id="{EE9DEF3C-7C57-4199-B830-93703DF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933" y="4476750"/>
            <a:ext cx="321109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5" name="P32_OPTICAL_TABLE_TEXT_2_1">
            <a:extLst xmlns:a="http://schemas.openxmlformats.org/drawingml/2006/main">
              <a:ext uri="{FF2B5EF4-FFF2-40B4-BE49-F238E27FC236}">
                <a16:creationId xmlns:a16="http://schemas.microsoft.com/office/drawing/2014/main" id="{D56DA06B-CBFD-458C-82BB-AC0FEE1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183" y="4505325"/>
            <a:ext cx="302059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给激光器控温</a:t>
            </a:r>
          </a:p>
        </p:txBody>
      </p:sp>
      <p:sp>
        <p:nvSpPr>
          <p:cNvPr id="26" name="P32_OPTICAL_TABLE_CELL_2_2">
            <a:extLst xmlns:a="http://schemas.openxmlformats.org/drawingml/2006/main">
              <a:ext uri="{FF2B5EF4-FFF2-40B4-BE49-F238E27FC236}">
                <a16:creationId xmlns:a16="http://schemas.microsoft.com/office/drawing/2014/main" id="{20ABD6CF-B2FA-495F-A92C-B4D219CE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033" y="4476750"/>
            <a:ext cx="474684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8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7" name="P32_OPTICAL_TABLE_TEXT_2_2">
            <a:extLst xmlns:a="http://schemas.openxmlformats.org/drawingml/2006/main">
              <a:ext uri="{FF2B5EF4-FFF2-40B4-BE49-F238E27FC236}">
                <a16:creationId xmlns:a16="http://schemas.microsoft.com/office/drawing/2014/main" id="{8B06ED4B-B013-4BBC-B7EB-2E913B71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283" y="4505325"/>
            <a:ext cx="455634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日系约70% / 国产切入</a:t>
            </a:r>
          </a:p>
        </p:txBody>
      </p:sp>
      <p:sp>
        <p:nvSpPr>
          <p:cNvPr id="28" name="P32_OPTICAL_TABLE_CELL_3_0">
            <a:extLst xmlns:a="http://schemas.openxmlformats.org/drawingml/2006/main">
              <a:ext uri="{FF2B5EF4-FFF2-40B4-BE49-F238E27FC236}">
                <a16:creationId xmlns:a16="http://schemas.microsoft.com/office/drawing/2014/main" id="{7374849D-12E5-4DA0-A959-9135130F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223380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29" name="P32_OPTICAL_TABLE_TEXT_3_0">
            <a:extLst xmlns:a="http://schemas.openxmlformats.org/drawingml/2006/main">
              <a:ext uri="{FF2B5EF4-FFF2-40B4-BE49-F238E27FC236}">
                <a16:creationId xmlns:a16="http://schemas.microsoft.com/office/drawing/2014/main" id="{6DB8F9DD-B29E-4488-AF34-10EAA0AC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76825"/>
            <a:ext cx="204330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高端晶振OCXO</a:t>
            </a:r>
          </a:p>
        </p:txBody>
      </p:sp>
      <p:sp>
        <p:nvSpPr>
          <p:cNvPr id="30" name="P32_OPTICAL_TABLE_CELL_3_1">
            <a:extLst xmlns:a="http://schemas.openxmlformats.org/drawingml/2006/main">
              <a:ext uri="{FF2B5EF4-FFF2-40B4-BE49-F238E27FC236}">
                <a16:creationId xmlns:a16="http://schemas.microsoft.com/office/drawing/2014/main" id="{892F2C01-A958-44CB-8584-7BD2F85A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933" y="5048250"/>
            <a:ext cx="321109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1" name="P32_OPTICAL_TABLE_TEXT_3_1">
            <a:extLst xmlns:a="http://schemas.openxmlformats.org/drawingml/2006/main">
              <a:ext uri="{FF2B5EF4-FFF2-40B4-BE49-F238E27FC236}">
                <a16:creationId xmlns:a16="http://schemas.microsoft.com/office/drawing/2014/main" id="{1970B612-DE1A-458E-90E2-F16C4E8C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183" y="5076825"/>
            <a:ext cx="302059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服务器系统心跳</a:t>
            </a:r>
          </a:p>
        </p:txBody>
      </p:sp>
      <p:sp>
        <p:nvSpPr>
          <p:cNvPr id="32" name="P32_OPTICAL_TABLE_CELL_3_2">
            <a:extLst xmlns:a="http://schemas.openxmlformats.org/drawingml/2006/main">
              <a:ext uri="{FF2B5EF4-FFF2-40B4-BE49-F238E27FC236}">
                <a16:creationId xmlns:a16="http://schemas.microsoft.com/office/drawing/2014/main" id="{CD6F7E2D-9EDC-4C47-BB6B-62B8404A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033" y="5048250"/>
            <a:ext cx="474684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F4F3EC"/>
            </a:solidFill>
            <a:prstDash val="solid"/>
          </a:ln>
        </p:spPr>
      </p:sp>
      <p:sp>
        <p:nvSpPr>
          <p:cNvPr id="33" name="P32_OPTICAL_TABLE_TEXT_3_2">
            <a:extLst xmlns:a="http://schemas.openxmlformats.org/drawingml/2006/main">
              <a:ext uri="{FF2B5EF4-FFF2-40B4-BE49-F238E27FC236}">
                <a16:creationId xmlns:a16="http://schemas.microsoft.com/office/drawing/2014/main" id="{FC056EBD-9C94-4CF9-9F5E-1AFB0777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283" y="5076825"/>
            <a:ext cx="455634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NDK、爱普生主导 / 国产补中高端</a:t>
            </a:r>
          </a:p>
        </p:txBody>
      </p:sp>
      <p:sp>
        <p:nvSpPr>
          <p:cNvPr id="34" name="P32_FOOTER_BADGE">
            <a:extLst xmlns:a="http://schemas.openxmlformats.org/drawingml/2006/main">
              <a:ext uri="{FF2B5EF4-FFF2-40B4-BE49-F238E27FC236}">
                <a16:creationId xmlns:a16="http://schemas.microsoft.com/office/drawing/2014/main" id="{90A58FB3-823D-4067-A4D6-23C8B878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35" name="P32_FOOTER_LABEL">
            <a:extLst xmlns:a="http://schemas.openxmlformats.org/drawingml/2006/main">
              <a:ext uri="{FF2B5EF4-FFF2-40B4-BE49-F238E27FC236}">
                <a16:creationId xmlns:a16="http://schemas.microsoft.com/office/drawing/2014/main" id="{048DBEDA-2C72-4981-BA60-DBF10453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6" name="P32_FOOTER_TEXT">
            <a:extLst xmlns:a="http://schemas.openxmlformats.org/drawingml/2006/main">
              <a:ext uri="{FF2B5EF4-FFF2-40B4-BE49-F238E27FC236}">
                <a16:creationId xmlns:a16="http://schemas.microsoft.com/office/drawing/2014/main" id="{91D20494-A760-41F3-BC00-984704B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份额还低，但都有国产在做</a:t>
            </a:r>
          </a:p>
        </p:txBody>
      </p:sp>
      <p:sp>
        <p:nvSpPr>
          <p:cNvPr id="37" name="P32_FOOTER_LINE">
            <a:extLst xmlns:a="http://schemas.openxmlformats.org/drawingml/2006/main">
              <a:ext uri="{FF2B5EF4-FFF2-40B4-BE49-F238E27FC236}">
                <a16:creationId xmlns:a16="http://schemas.microsoft.com/office/drawing/2014/main" id="{E3896A1B-DE17-4468-A875-E5FCFB8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97846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33_DOT">
            <a:extLst xmlns:a="http://schemas.openxmlformats.org/drawingml/2006/main">
              <a:ext uri="{FF2B5EF4-FFF2-40B4-BE49-F238E27FC236}">
                <a16:creationId xmlns:a16="http://schemas.microsoft.com/office/drawing/2014/main" id="{20BE1173-D6A5-4D2D-B0F4-68368AC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33_EYEBROW">
            <a:extLst xmlns:a="http://schemas.openxmlformats.org/drawingml/2006/main">
              <a:ext uri="{FF2B5EF4-FFF2-40B4-BE49-F238E27FC236}">
                <a16:creationId xmlns:a16="http://schemas.microsoft.com/office/drawing/2014/main" id="{BC3D1FAB-D554-405C-94AE-B05E1E70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算力主线周边 · 冷门垄断</a:t>
            </a:r>
          </a:p>
        </p:txBody>
      </p:sp>
      <p:sp>
        <p:nvSpPr>
          <p:cNvPr id="3" name="P33_TITLE">
            <a:extLst xmlns:a="http://schemas.openxmlformats.org/drawingml/2006/main">
              <a:ext uri="{FF2B5EF4-FFF2-40B4-BE49-F238E27FC236}">
                <a16:creationId xmlns:a16="http://schemas.microsoft.com/office/drawing/2014/main" id="{507EF264-AC12-4E03-96A6-0C76E344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算力主线的周边，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日本还垄断，国产刚起步</a:t>
            </a:r>
          </a:p>
        </p:txBody>
      </p:sp>
      <p:sp>
        <p:nvSpPr>
          <p:cNvPr id="4" name="P33_BULLET_MARK_1">
            <a:extLst xmlns:a="http://schemas.openxmlformats.org/drawingml/2006/main">
              <a:ext uri="{FF2B5EF4-FFF2-40B4-BE49-F238E27FC236}">
                <a16:creationId xmlns:a16="http://schemas.microsoft.com/office/drawing/2014/main" id="{4CBD62BF-42E0-40A3-8678-BCFF14A5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33_BULLET_1">
            <a:extLst xmlns:a="http://schemas.openxmlformats.org/drawingml/2006/main">
              <a:ext uri="{FF2B5EF4-FFF2-40B4-BE49-F238E27FC236}">
                <a16:creationId xmlns:a16="http://schemas.microsoft.com/office/drawing/2014/main" id="{FD83AEBF-CDA5-42FE-8E09-FDC6E879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越偏离主线、越冷门的材料和部件，国产替代动力往往越弱</a:t>
            </a:r>
          </a:p>
        </p:txBody>
      </p:sp>
      <p:sp>
        <p:nvSpPr>
          <p:cNvPr id="6" name="P33_BULLET_MARK_2">
            <a:extLst xmlns:a="http://schemas.openxmlformats.org/drawingml/2006/main">
              <a:ext uri="{FF2B5EF4-FFF2-40B4-BE49-F238E27FC236}">
                <a16:creationId xmlns:a16="http://schemas.microsoft.com/office/drawing/2014/main" id="{F9457712-6F1D-4B95-B0B8-023E186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33_BULLET_2">
            <a:extLst xmlns:a="http://schemas.openxmlformats.org/drawingml/2006/main">
              <a:ext uri="{FF2B5EF4-FFF2-40B4-BE49-F238E27FC236}">
                <a16:creationId xmlns:a16="http://schemas.microsoft.com/office/drawing/2014/main" id="{86463DBD-7B84-4FD7-96FE-1243AF7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TAC偏光膜、HDD玻璃盘、LTO磁带和CMOS传感器仍有较高日系份额</a:t>
            </a:r>
          </a:p>
        </p:txBody>
      </p:sp>
      <p:sp>
        <p:nvSpPr>
          <p:cNvPr id="8" name="P33_BULLET_MARK_3">
            <a:extLst xmlns:a="http://schemas.openxmlformats.org/drawingml/2006/main">
              <a:ext uri="{FF2B5EF4-FFF2-40B4-BE49-F238E27FC236}">
                <a16:creationId xmlns:a16="http://schemas.microsoft.com/office/drawing/2014/main" id="{4EF976C4-44CD-40E1-BBBA-E72A07B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33_BULLET_3">
            <a:extLst xmlns:a="http://schemas.openxmlformats.org/drawingml/2006/main">
              <a:ext uri="{FF2B5EF4-FFF2-40B4-BE49-F238E27FC236}">
                <a16:creationId xmlns:a16="http://schemas.microsoft.com/office/drawing/2014/main" id="{93609A5C-59AC-41E3-88B9-77580631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这些市场规模不一定最大，却可能成为系统可靠性的隐性单点</a:t>
            </a:r>
          </a:p>
        </p:txBody>
      </p:sp>
      <p:sp>
        <p:nvSpPr>
          <p:cNvPr id="10" name="P33_SHARE_RING_1">
            <a:extLst xmlns:a="http://schemas.openxmlformats.org/drawingml/2006/main">
              <a:ext uri="{FF2B5EF4-FFF2-40B4-BE49-F238E27FC236}">
                <a16:creationId xmlns:a16="http://schemas.microsoft.com/office/drawing/2014/main" id="{EEF13E57-4BE4-4B00-9167-FAEB0EE3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133350">
            <a:solidFill>
              <a:srgbClr val="D8D8CE"/>
            </a:solidFill>
            <a:prstDash val="solid"/>
          </a:ln>
        </p:spPr>
      </p:sp>
      <p:sp>
        <p:nvSpPr>
          <p:cNvPr id="11" name="P33_SHARE_VALUE_1">
            <a:extLst xmlns:a="http://schemas.openxmlformats.org/drawingml/2006/main">
              <a:ext uri="{FF2B5EF4-FFF2-40B4-BE49-F238E27FC236}">
                <a16:creationId xmlns:a16="http://schemas.microsoft.com/office/drawing/2014/main" id="{5013364A-8D5B-4D30-B453-D4240EF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385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12" name="P33_SHARE_LABEL_1">
            <a:extLst xmlns:a="http://schemas.openxmlformats.org/drawingml/2006/main">
              <a:ext uri="{FF2B5EF4-FFF2-40B4-BE49-F238E27FC236}">
                <a16:creationId xmlns:a16="http://schemas.microsoft.com/office/drawing/2014/main" id="{CE7BE908-A631-4E0C-93E3-6E92AC6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TAC偏光膜</a:t>
            </a:r>
          </a:p>
        </p:txBody>
      </p:sp>
      <p:sp>
        <p:nvSpPr>
          <p:cNvPr id="13" name="P33_SHARE_RING_2">
            <a:extLst xmlns:a="http://schemas.openxmlformats.org/drawingml/2006/main">
              <a:ext uri="{FF2B5EF4-FFF2-40B4-BE49-F238E27FC236}">
                <a16:creationId xmlns:a16="http://schemas.microsoft.com/office/drawing/2014/main" id="{92A9AA7F-FB95-4991-BABA-3B9F535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133350">
            <a:solidFill>
              <a:srgbClr val="D8D8CE"/>
            </a:solidFill>
            <a:prstDash val="solid"/>
          </a:ln>
        </p:spPr>
      </p:sp>
      <p:sp>
        <p:nvSpPr>
          <p:cNvPr id="14" name="P33_SHARE_VALUE_2">
            <a:extLst xmlns:a="http://schemas.openxmlformats.org/drawingml/2006/main">
              <a:ext uri="{FF2B5EF4-FFF2-40B4-BE49-F238E27FC236}">
                <a16:creationId xmlns:a16="http://schemas.microsoft.com/office/drawing/2014/main" id="{E761212A-80D1-4715-8F0B-CFB3A41A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385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5" name="P33_SHARE_LABEL_2">
            <a:extLst xmlns:a="http://schemas.openxmlformats.org/drawingml/2006/main">
              <a:ext uri="{FF2B5EF4-FFF2-40B4-BE49-F238E27FC236}">
                <a16:creationId xmlns:a16="http://schemas.microsoft.com/office/drawing/2014/main" id="{F671D20E-7E82-4FC7-8170-83A49A0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HDD玻璃盘</a:t>
            </a:r>
          </a:p>
        </p:txBody>
      </p:sp>
      <p:sp>
        <p:nvSpPr>
          <p:cNvPr id="16" name="P33_SHARE_RING_3">
            <a:extLst xmlns:a="http://schemas.openxmlformats.org/drawingml/2006/main">
              <a:ext uri="{FF2B5EF4-FFF2-40B4-BE49-F238E27FC236}">
                <a16:creationId xmlns:a16="http://schemas.microsoft.com/office/drawing/2014/main" id="{3AB1A2CA-3367-42CE-B9ED-5B47DA1D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133350">
            <a:solidFill>
              <a:srgbClr val="D8D8CE"/>
            </a:solidFill>
            <a:prstDash val="solid"/>
          </a:ln>
        </p:spPr>
      </p:sp>
      <p:sp>
        <p:nvSpPr>
          <p:cNvPr id="17" name="P33_SHARE_VALUE_3">
            <a:extLst xmlns:a="http://schemas.openxmlformats.org/drawingml/2006/main">
              <a:ext uri="{FF2B5EF4-FFF2-40B4-BE49-F238E27FC236}">
                <a16:creationId xmlns:a16="http://schemas.microsoft.com/office/drawing/2014/main" id="{1F0A0159-2A42-453B-B440-2385B82D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8" name="P33_SHARE_LABEL_3">
            <a:extLst xmlns:a="http://schemas.openxmlformats.org/drawingml/2006/main">
              <a:ext uri="{FF2B5EF4-FFF2-40B4-BE49-F238E27FC236}">
                <a16:creationId xmlns:a16="http://schemas.microsoft.com/office/drawing/2014/main" id="{728780E1-83AE-4D1A-969D-27B513EC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LTO磁带</a:t>
            </a:r>
          </a:p>
        </p:txBody>
      </p:sp>
      <p:sp>
        <p:nvSpPr>
          <p:cNvPr id="19" name="P33_SHARE_RING_4">
            <a:extLst xmlns:a="http://schemas.openxmlformats.org/drawingml/2006/main">
              <a:ext uri="{FF2B5EF4-FFF2-40B4-BE49-F238E27FC236}">
                <a16:creationId xmlns:a16="http://schemas.microsoft.com/office/drawing/2014/main" id="{EF2E78B1-50BC-4E8A-A545-4574D56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133350">
            <a:solidFill>
              <a:srgbClr val="D8D8CE"/>
            </a:solidFill>
            <a:prstDash val="solid"/>
          </a:ln>
        </p:spPr>
      </p:sp>
      <p:sp>
        <p:nvSpPr>
          <p:cNvPr id="20" name="P33_SHARE_VALUE_4">
            <a:extLst xmlns:a="http://schemas.openxmlformats.org/drawingml/2006/main">
              <a:ext uri="{FF2B5EF4-FFF2-40B4-BE49-F238E27FC236}">
                <a16:creationId xmlns:a16="http://schemas.microsoft.com/office/drawing/2014/main" id="{25E2712B-9BB9-450D-9C39-13F6991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385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89A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21" name="P33_SHARE_LABEL_4">
            <a:extLst xmlns:a="http://schemas.openxmlformats.org/drawingml/2006/main">
              <a:ext uri="{FF2B5EF4-FFF2-40B4-BE49-F238E27FC236}">
                <a16:creationId xmlns:a16="http://schemas.microsoft.com/office/drawing/2014/main" id="{E6459D93-8D80-4D0A-952F-21E8A78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CMOS传感器</a:t>
            </a:r>
          </a:p>
        </p:txBody>
      </p:sp>
      <p:sp>
        <p:nvSpPr>
          <p:cNvPr id="22" name="P33_FOOTER_BADGE">
            <a:extLst xmlns:a="http://schemas.openxmlformats.org/drawingml/2006/main">
              <a:ext uri="{FF2B5EF4-FFF2-40B4-BE49-F238E27FC236}">
                <a16:creationId xmlns:a16="http://schemas.microsoft.com/office/drawing/2014/main" id="{F10C07EA-953A-4886-904B-CF868FC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3" name="P33_FOOTER_LABEL">
            <a:extLst xmlns:a="http://schemas.openxmlformats.org/drawingml/2006/main">
              <a:ext uri="{FF2B5EF4-FFF2-40B4-BE49-F238E27FC236}">
                <a16:creationId xmlns:a16="http://schemas.microsoft.com/office/drawing/2014/main" id="{DBEC2732-F22A-4A53-AC4F-0CF91911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P33_FOOTER_TEXT">
            <a:extLst xmlns:a="http://schemas.openxmlformats.org/drawingml/2006/main">
              <a:ext uri="{FF2B5EF4-FFF2-40B4-BE49-F238E27FC236}">
                <a16:creationId xmlns:a16="http://schemas.microsoft.com/office/drawing/2014/main" id="{8388A575-F803-4725-A9A0-8FD37B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越冷门的周边，反而越没人替</a:t>
            </a:r>
          </a:p>
        </p:txBody>
      </p:sp>
      <p:sp>
        <p:nvSpPr>
          <p:cNvPr id="25" name="P33_FOOTER_LINE">
            <a:extLst xmlns:a="http://schemas.openxmlformats.org/drawingml/2006/main">
              <a:ext uri="{FF2B5EF4-FFF2-40B4-BE49-F238E27FC236}">
                <a16:creationId xmlns:a16="http://schemas.microsoft.com/office/drawing/2014/main" id="{3518B907-6B96-4DC0-9A03-9B40B6E4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73087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34_DOT">
            <a:extLst xmlns:a="http://schemas.openxmlformats.org/drawingml/2006/main">
              <a:ext uri="{FF2B5EF4-FFF2-40B4-BE49-F238E27FC236}">
                <a16:creationId xmlns:a16="http://schemas.microsoft.com/office/drawing/2014/main" id="{606DEB4F-C535-4158-BCF6-2BBEB5E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" name="P34_EYEBROW">
            <a:extLst xmlns:a="http://schemas.openxmlformats.org/drawingml/2006/main">
              <a:ext uri="{FF2B5EF4-FFF2-40B4-BE49-F238E27FC236}">
                <a16:creationId xmlns:a16="http://schemas.microsoft.com/office/drawing/2014/main" id="{5815678D-21DA-4A24-BAAC-3049A384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3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一条规律 · 解释全集</a:t>
            </a:r>
          </a:p>
        </p:txBody>
      </p:sp>
      <p:sp>
        <p:nvSpPr>
          <p:cNvPr id="3" name="P34_TITLE">
            <a:extLst xmlns:a="http://schemas.openxmlformats.org/drawingml/2006/main">
              <a:ext uri="{FF2B5EF4-FFF2-40B4-BE49-F238E27FC236}">
                <a16:creationId xmlns:a16="http://schemas.microsoft.com/office/drawing/2014/main" id="{42DD9E10-F5BF-44C0-AC97-4615D858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/>
            </a:pPr>
            <a:r>
              <a:rPr sz="3450" b="1">
                <a:solidFill>
                  <a:srgbClr val="171813"/>
                </a:solidFill>
                <a:latin typeface="SimSun"/>
                <a:ea typeface="SimSun"/>
                <a:cs typeface="SimSun"/>
              </a:rPr>
              <a:t>中国擅长追工艺，</a:t>
            </a:r>
            <a:r>
              <a:rPr sz="3450" b="1">
                <a:solidFill>
                  <a:srgbClr val="D86E49"/>
                </a:solidFill>
                <a:latin typeface="SimSun"/>
                <a:ea typeface="SimSun"/>
                <a:cs typeface="SimSun"/>
              </a:rPr>
              <a:t>难追材料的配方和纯度</a:t>
            </a:r>
          </a:p>
        </p:txBody>
      </p:sp>
      <p:sp>
        <p:nvSpPr>
          <p:cNvPr id="4" name="P34_BULLET_MARK_1">
            <a:extLst xmlns:a="http://schemas.openxmlformats.org/drawingml/2006/main">
              <a:ext uri="{FF2B5EF4-FFF2-40B4-BE49-F238E27FC236}">
                <a16:creationId xmlns:a16="http://schemas.microsoft.com/office/drawing/2014/main" id="{A372A245-6A8F-482E-8B80-E8C1CF08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5" name="P34_BULLET_1">
            <a:extLst xmlns:a="http://schemas.openxmlformats.org/drawingml/2006/main">
              <a:ext uri="{FF2B5EF4-FFF2-40B4-BE49-F238E27FC236}">
                <a16:creationId xmlns:a16="http://schemas.microsoft.com/office/drawing/2014/main" id="{7AD7FF0A-C06C-419F-BED5-3972356C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239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把下游案例排在一起，会看到一条能解释全集分布的规律</a:t>
            </a:r>
          </a:p>
        </p:txBody>
      </p:sp>
      <p:sp>
        <p:nvSpPr>
          <p:cNvPr id="6" name="P34_BULLET_MARK_2">
            <a:extLst xmlns:a="http://schemas.openxmlformats.org/drawingml/2006/main">
              <a:ext uri="{FF2B5EF4-FFF2-40B4-BE49-F238E27FC236}">
                <a16:creationId xmlns:a16="http://schemas.microsoft.com/office/drawing/2014/main" id="{DC495838-20A7-413D-9AB9-66A31E0C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7" name="P34_BULLET_2">
            <a:extLst xmlns:a="http://schemas.openxmlformats.org/drawingml/2006/main">
              <a:ext uri="{FF2B5EF4-FFF2-40B4-BE49-F238E27FC236}">
                <a16:creationId xmlns:a16="http://schemas.microsoft.com/office/drawing/2014/main" id="{5316B1C4-E534-499A-9183-88D2DDB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工艺靠设备、经验和迭代速度，是中国制造的长项，追得更快</a:t>
            </a:r>
          </a:p>
        </p:txBody>
      </p:sp>
      <p:sp>
        <p:nvSpPr>
          <p:cNvPr id="8" name="P34_BULLET_MARK_3">
            <a:extLst xmlns:a="http://schemas.openxmlformats.org/drawingml/2006/main">
              <a:ext uri="{FF2B5EF4-FFF2-40B4-BE49-F238E27FC236}">
                <a16:creationId xmlns:a16="http://schemas.microsoft.com/office/drawing/2014/main" id="{37F428D1-1A7B-4788-8D79-53E1FE6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9" name="P34_BULLET_3">
            <a:extLst xmlns:a="http://schemas.openxmlformats.org/drawingml/2006/main">
              <a:ext uri="{FF2B5EF4-FFF2-40B4-BE49-F238E27FC236}">
                <a16:creationId xmlns:a16="http://schemas.microsoft.com/office/drawing/2014/main" id="{A12A80C5-23BD-4BE3-81DE-87C02293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955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材料配方和纯度需要几十年数据沉淀，难以绕过，因此追得更慢</a:t>
            </a:r>
          </a:p>
        </p:txBody>
      </p:sp>
      <p:sp>
        <p:nvSpPr>
          <p:cNvPr id="10" name="P34_FINAL_LEFT">
            <a:extLst xmlns:a="http://schemas.openxmlformats.org/drawingml/2006/main">
              <a:ext uri="{FF2B5EF4-FFF2-40B4-BE49-F238E27FC236}">
                <a16:creationId xmlns:a16="http://schemas.microsoft.com/office/drawing/2014/main" id="{F62A8833-0B62-49DD-8236-E4DF53A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762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2E8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1" name="P34_FINAL_LEFT_TITLE">
            <a:extLst xmlns:a="http://schemas.openxmlformats.org/drawingml/2006/main">
              <a:ext uri="{FF2B5EF4-FFF2-40B4-BE49-F238E27FC236}">
                <a16:creationId xmlns:a16="http://schemas.microsoft.com/office/drawing/2014/main" id="{23B9BC52-4FC0-49FD-A7B8-20395E0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工艺环节</a:t>
            </a:r>
          </a:p>
        </p:txBody>
      </p:sp>
      <p:sp>
        <p:nvSpPr>
          <p:cNvPr id="12" name="P34_FINAL_LEFT_BODY">
            <a:extLst xmlns:a="http://schemas.openxmlformats.org/drawingml/2006/main">
              <a:ext uri="{FF2B5EF4-FFF2-40B4-BE49-F238E27FC236}">
                <a16:creationId xmlns:a16="http://schemas.microsoft.com/office/drawing/2014/main" id="{A141DEAA-8619-459F-94FD-094ABF6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4419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靠设备 · 经验 · 迭代速度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中国制造长项 → 追得快</a:t>
            </a:r>
          </a:p>
        </p:txBody>
      </p:sp>
      <p:sp>
        <p:nvSpPr>
          <p:cNvPr id="13" name="P34_FINAL_VS">
            <a:extLst xmlns:a="http://schemas.openxmlformats.org/drawingml/2006/main">
              <a:ext uri="{FF2B5EF4-FFF2-40B4-BE49-F238E27FC236}">
                <a16:creationId xmlns:a16="http://schemas.microsoft.com/office/drawing/2014/main" id="{3EA52E14-E216-4F46-87F3-81ABFE0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00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4" name="P34_FINAL_RIGHT">
            <a:extLst xmlns:a="http://schemas.openxmlformats.org/drawingml/2006/main">
              <a:ext uri="{FF2B5EF4-FFF2-40B4-BE49-F238E27FC236}">
                <a16:creationId xmlns:a16="http://schemas.microsoft.com/office/drawing/2014/main" id="{0C954036-88D0-4DE1-AE43-65ECE52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762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15" name="P34_FINAL_RIGHT_TITLE">
            <a:extLst xmlns:a="http://schemas.openxmlformats.org/drawingml/2006/main">
              <a:ext uri="{FF2B5EF4-FFF2-40B4-BE49-F238E27FC236}">
                <a16:creationId xmlns:a16="http://schemas.microsoft.com/office/drawing/2014/main" id="{C5B49E5F-439C-46BD-8AD9-81CF05C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470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材料的配方和纯度</a:t>
            </a:r>
          </a:p>
        </p:txBody>
      </p:sp>
      <p:sp>
        <p:nvSpPr>
          <p:cNvPr id="16" name="P34_FINAL_RIGHT_BODY">
            <a:extLst xmlns:a="http://schemas.openxmlformats.org/drawingml/2006/main">
              <a:ext uri="{FF2B5EF4-FFF2-40B4-BE49-F238E27FC236}">
                <a16:creationId xmlns:a16="http://schemas.microsoft.com/office/drawing/2014/main" id="{CF53D4DB-D574-4606-8F56-E9C9047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48075"/>
            <a:ext cx="4419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需要几十年数据沉淀</a:t>
            </a:r>
          </a:p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难以绕过 → 追得慢</a:t>
            </a:r>
          </a:p>
        </p:txBody>
      </p:sp>
      <p:sp>
        <p:nvSpPr>
          <p:cNvPr id="17" name="P34_INFER_1">
            <a:extLst xmlns:a="http://schemas.openxmlformats.org/drawingml/2006/main">
              <a:ext uri="{FF2B5EF4-FFF2-40B4-BE49-F238E27FC236}">
                <a16:creationId xmlns:a16="http://schemas.microsoft.com/office/drawing/2014/main" id="{0FE78958-0E58-415F-8F26-7BC0FBDB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95825"/>
            <a:ext cx="3190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7E9066"/>
            </a:solidFill>
            <a:prstDash val="solid"/>
          </a:ln>
        </p:spPr>
      </p:sp>
      <p:sp>
        <p:nvSpPr>
          <p:cNvPr id="18" name="P34_INFER_1_TITLE">
            <a:extLst xmlns:a="http://schemas.openxmlformats.org/drawingml/2006/main">
              <a:ext uri="{FF2B5EF4-FFF2-40B4-BE49-F238E27FC236}">
                <a16:creationId xmlns:a16="http://schemas.microsoft.com/office/drawing/2014/main" id="{7567B642-0E19-4FF6-B37F-3D2576D8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012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E9066"/>
                </a:solidFill>
                <a:latin typeface="Microsoft YaHei"/>
                <a:ea typeface="Microsoft YaHei"/>
                <a:cs typeface="Microsoft YaHei"/>
              </a:rPr>
              <a:t>推论一</a:t>
            </a:r>
          </a:p>
        </p:txBody>
      </p:sp>
      <p:sp>
        <p:nvSpPr>
          <p:cNvPr id="19" name="P34_INFER_1_BODY">
            <a:extLst xmlns:a="http://schemas.openxmlformats.org/drawingml/2006/main">
              <a:ext uri="{FF2B5EF4-FFF2-40B4-BE49-F238E27FC236}">
                <a16:creationId xmlns:a16="http://schemas.microsoft.com/office/drawing/2014/main" id="{EC21F6AE-83EE-4D3E-BA53-4C6B10C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越靠下游工艺，追得越快</a:t>
            </a:r>
          </a:p>
        </p:txBody>
      </p:sp>
      <p:sp>
        <p:nvSpPr>
          <p:cNvPr id="20" name="P34_INFER_2">
            <a:extLst xmlns:a="http://schemas.openxmlformats.org/drawingml/2006/main">
              <a:ext uri="{FF2B5EF4-FFF2-40B4-BE49-F238E27FC236}">
                <a16:creationId xmlns:a16="http://schemas.microsoft.com/office/drawing/2014/main" id="{CBF0012B-6140-4A72-936A-D241696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3190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86A9C1"/>
            </a:solidFill>
            <a:prstDash val="solid"/>
          </a:ln>
        </p:spPr>
      </p:sp>
      <p:sp>
        <p:nvSpPr>
          <p:cNvPr id="21" name="P34_INFER_2_TITLE">
            <a:extLst xmlns:a="http://schemas.openxmlformats.org/drawingml/2006/main">
              <a:ext uri="{FF2B5EF4-FFF2-40B4-BE49-F238E27FC236}">
                <a16:creationId xmlns:a16="http://schemas.microsoft.com/office/drawing/2014/main" id="{D82CA0E2-6066-4CD0-BE3A-3FA93B1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1012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A9C1"/>
                </a:solidFill>
                <a:latin typeface="Microsoft YaHei"/>
                <a:ea typeface="Microsoft YaHei"/>
                <a:cs typeface="Microsoft YaHei"/>
              </a:rPr>
              <a:t>推论二</a:t>
            </a:r>
          </a:p>
        </p:txBody>
      </p:sp>
      <p:sp>
        <p:nvSpPr>
          <p:cNvPr id="22" name="P34_INFER_2_BODY">
            <a:extLst xmlns:a="http://schemas.openxmlformats.org/drawingml/2006/main">
              <a:ext uri="{FF2B5EF4-FFF2-40B4-BE49-F238E27FC236}">
                <a16:creationId xmlns:a16="http://schemas.microsoft.com/office/drawing/2014/main" id="{FA3BF5D7-D29B-4CFE-B80F-5E8244A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435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越靠上游材料，替代越慢</a:t>
            </a:r>
          </a:p>
        </p:txBody>
      </p:sp>
      <p:sp>
        <p:nvSpPr>
          <p:cNvPr id="23" name="P34_INFER_3">
            <a:extLst xmlns:a="http://schemas.openxmlformats.org/drawingml/2006/main">
              <a:ext uri="{FF2B5EF4-FFF2-40B4-BE49-F238E27FC236}">
                <a16:creationId xmlns:a16="http://schemas.microsoft.com/office/drawing/2014/main" id="{2AD16485-1361-4DC0-A55C-6AF971E0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95825"/>
            <a:ext cx="3190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15240">
            <a:solidFill>
              <a:srgbClr val="D86E49"/>
            </a:solidFill>
            <a:prstDash val="solid"/>
          </a:ln>
        </p:spPr>
      </p:sp>
      <p:sp>
        <p:nvSpPr>
          <p:cNvPr id="24" name="P34_INFER_3_TITLE">
            <a:extLst xmlns:a="http://schemas.openxmlformats.org/drawingml/2006/main">
              <a:ext uri="{FF2B5EF4-FFF2-40B4-BE49-F238E27FC236}">
                <a16:creationId xmlns:a16="http://schemas.microsoft.com/office/drawing/2014/main" id="{335B6A58-64AA-43F2-90F8-3CD569DB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012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86E49"/>
                </a:solidFill>
                <a:latin typeface="Microsoft YaHei"/>
                <a:ea typeface="Microsoft YaHei"/>
                <a:cs typeface="Microsoft YaHei"/>
              </a:rPr>
              <a:t>推论三</a:t>
            </a:r>
          </a:p>
        </p:txBody>
      </p:sp>
      <p:sp>
        <p:nvSpPr>
          <p:cNvPr id="25" name="P34_INFER_3_BODY">
            <a:extLst xmlns:a="http://schemas.openxmlformats.org/drawingml/2006/main">
              <a:ext uri="{FF2B5EF4-FFF2-40B4-BE49-F238E27FC236}">
                <a16:creationId xmlns:a16="http://schemas.microsoft.com/office/drawing/2014/main" id="{3E967E39-10F7-49A8-8BB7-FA265234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76A61"/>
                </a:solidFill>
                <a:latin typeface="Microsoft YaHei"/>
                <a:ea typeface="Microsoft YaHei"/>
                <a:cs typeface="Microsoft YaHei"/>
              </a:rPr>
              <a:t>下游能赢，越往上越难</a:t>
            </a:r>
          </a:p>
        </p:txBody>
      </p:sp>
      <p:sp>
        <p:nvSpPr>
          <p:cNvPr id="26" name="P34_FOOTER_BADGE">
            <a:extLst xmlns:a="http://schemas.openxmlformats.org/drawingml/2006/main">
              <a:ext uri="{FF2B5EF4-FFF2-40B4-BE49-F238E27FC236}">
                <a16:creationId xmlns:a16="http://schemas.microsoft.com/office/drawing/2014/main" id="{C1C8F0D3-5CFE-4371-80B7-24BBAA9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6E49"/>
          </a:solidFill>
          <a:ln xmlns:a="http://schemas.openxmlformats.org/drawingml/2006/main" w="0">
            <a:solidFill>
              <a:srgbClr val="D86E49"/>
            </a:solidFill>
            <a:prstDash val="solid"/>
          </a:ln>
        </p:spPr>
      </p:sp>
      <p:sp>
        <p:nvSpPr>
          <p:cNvPr id="27" name="P34_FOOTER_LABEL">
            <a:extLst xmlns:a="http://schemas.openxmlformats.org/drawingml/2006/main">
              <a:ext uri="{FF2B5EF4-FFF2-40B4-BE49-F238E27FC236}">
                <a16:creationId xmlns:a16="http://schemas.microsoft.com/office/drawing/2014/main" id="{386F373F-D8C6-4A34-ACEB-4F4B01AC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45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8" name="P34_FOOTER_TEXT">
            <a:extLst xmlns:a="http://schemas.openxmlformats.org/drawingml/2006/main">
              <a:ext uri="{FF2B5EF4-FFF2-40B4-BE49-F238E27FC236}">
                <a16:creationId xmlns:a16="http://schemas.microsoft.com/office/drawing/2014/main" id="{79270BCF-2092-4621-AA19-66DCBC78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57900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1813"/>
                </a:solidFill>
                <a:latin typeface="Microsoft YaHei"/>
                <a:ea typeface="Microsoft YaHei"/>
                <a:cs typeface="Microsoft YaHei"/>
              </a:rPr>
              <a:t>下游能赢，越往上越难</a:t>
            </a:r>
          </a:p>
        </p:txBody>
      </p:sp>
      <p:sp>
        <p:nvSpPr>
          <p:cNvPr id="29" name="P34_FOOTER_LINE">
            <a:extLst xmlns:a="http://schemas.openxmlformats.org/drawingml/2006/main">
              <a:ext uri="{FF2B5EF4-FFF2-40B4-BE49-F238E27FC236}">
                <a16:creationId xmlns:a16="http://schemas.microsoft.com/office/drawing/2014/main" id="{F9E2B657-9FA7-4DAD-B235-64B1A92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987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2173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2026-08-30T08:30:31.7490000Z</dcterms:created>
  <dcterms:modified xsi:type="dcterms:W3CDTF">2026-08-30T08:30:31.7490000Z</dcterms:modified>
</coreProperties>
</file>